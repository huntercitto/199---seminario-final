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33"/>
  </p:notesMasterIdLst>
  <p:sldIdLst>
    <p:sldId id="256" r:id="rId2"/>
    <p:sldId id="257" r:id="rId3"/>
    <p:sldId id="258" r:id="rId4"/>
    <p:sldId id="263" r:id="rId5"/>
    <p:sldId id="259" r:id="rId6"/>
    <p:sldId id="260" r:id="rId7"/>
    <p:sldId id="261" r:id="rId8"/>
    <p:sldId id="265" r:id="rId9"/>
    <p:sldId id="264" r:id="rId10"/>
    <p:sldId id="262"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2" r:id="rId26"/>
    <p:sldId id="283" r:id="rId27"/>
    <p:sldId id="284" r:id="rId28"/>
    <p:sldId id="285" r:id="rId29"/>
    <p:sldId id="288" r:id="rId30"/>
    <p:sldId id="286" r:id="rId31"/>
    <p:sldId id="287" r:id="rId3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87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16E74B-C055-4010-834E-8241D3B4B3B4}" type="datetimeFigureOut">
              <a:rPr lang="es-AR" smtClean="0"/>
              <a:t>30/10/2025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8BD3CD-1211-4D73-8435-E387E60ABEAC}" type="slidenum">
              <a:rPr lang="es-AR" smtClean="0"/>
              <a:t>‹Nº›</a:t>
            </a:fld>
            <a:endParaRPr lang="es-AR"/>
          </a:p>
        </p:txBody>
      </p:sp>
    </p:spTree>
    <p:extLst>
      <p:ext uri="{BB962C8B-B14F-4D97-AF65-F5344CB8AC3E}">
        <p14:creationId xmlns:p14="http://schemas.microsoft.com/office/powerpoint/2010/main" val="346461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p:nvSpPr>
        <p:spPr>
          <a:xfrm>
            <a:off x="-1" y="0"/>
            <a:ext cx="1219200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1F71E75-F7A2-7C1F-EF86-C5186E904883}"/>
              </a:ext>
            </a:extLst>
          </p:cNvPr>
          <p:cNvSpPr/>
          <p:nvPr/>
        </p:nvSpPr>
        <p:spPr>
          <a:xfrm>
            <a:off x="-4262" y="0"/>
            <a:ext cx="7547339" cy="6858002"/>
          </a:xfrm>
          <a:prstGeom prst="rect">
            <a:avLst/>
          </a:prstGeom>
          <a:gradFill>
            <a:gsLst>
              <a:gs pos="6000">
                <a:schemeClr val="accent5"/>
              </a:gs>
              <a:gs pos="100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AB4E0A7-C9D3-8408-2EE0-E46AF38E815F}"/>
              </a:ext>
            </a:extLst>
          </p:cNvPr>
          <p:cNvSpPr/>
          <p:nvPr/>
        </p:nvSpPr>
        <p:spPr>
          <a:xfrm rot="10800000">
            <a:off x="-4285" y="-3"/>
            <a:ext cx="7547361" cy="6857999"/>
          </a:xfrm>
          <a:prstGeom prst="rect">
            <a:avLst/>
          </a:prstGeom>
          <a:gradFill>
            <a:gsLst>
              <a:gs pos="43000">
                <a:schemeClr val="accent2">
                  <a:alpha val="0"/>
                </a:schemeClr>
              </a:gs>
              <a:gs pos="100000">
                <a:schemeClr val="accent2">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373CB42-010B-9ABE-75EF-F502B4A9F42C}"/>
              </a:ext>
            </a:extLst>
          </p:cNvPr>
          <p:cNvSpPr/>
          <p:nvPr/>
        </p:nvSpPr>
        <p:spPr>
          <a:xfrm rot="16200000">
            <a:off x="1156173" y="-1160457"/>
            <a:ext cx="5226425" cy="7547338"/>
          </a:xfrm>
          <a:prstGeom prst="rect">
            <a:avLst/>
          </a:prstGeom>
          <a:gradFill>
            <a:gsLst>
              <a:gs pos="50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solidFill>
                  <a:schemeClr val="bg1"/>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lvl1pPr>
              <a:defRPr>
                <a:solidFill>
                  <a:schemeClr val="bg1"/>
                </a:solidFill>
              </a:defRPr>
            </a:lvl1pPr>
          </a:lstStyle>
          <a:p>
            <a:fld id="{D29CF56E-D922-4450-9794-8B0E1451F6EB}" type="datetime1">
              <a:rPr lang="en-US" smtClean="0"/>
              <a:t>10/30/2025</a:t>
            </a:fld>
            <a:endParaRPr lang="en-US" dirty="0"/>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lvl1pPr>
              <a:defRPr>
                <a:solidFill>
                  <a:schemeClr val="bg1"/>
                </a:solidFill>
              </a:defRPr>
            </a:lvl1pPr>
          </a:lstStyle>
          <a:p>
            <a:fld id="{CC057153-B650-4DEB-B370-79DDCFDCE934}" type="slidenum">
              <a:rPr lang="en-US" smtClean="0"/>
              <a:pPr/>
              <a:t>‹Nº›</a:t>
            </a:fld>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4296" cy="6858000"/>
          </a:xfrm>
          <a:blipFill dpi="0" rotWithShape="1">
            <a:blip r:embed="rId2">
              <a:alphaModFix amt="70000"/>
            </a:blip>
            <a:srcRect/>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166157353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95528"/>
          </a:xfrm>
        </p:spPr>
        <p:txBody>
          <a:bodyPr/>
          <a:lstStyle>
            <a:lvl1pPr>
              <a:defRPr>
                <a:gradFill>
                  <a:gsLst>
                    <a:gs pos="0">
                      <a:schemeClr val="accent5"/>
                    </a:gs>
                    <a:gs pos="100000">
                      <a:schemeClr val="accent2"/>
                    </a:gs>
                  </a:gsLst>
                  <a:lin ang="13800000" scaled="0"/>
                </a:gra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pPr algn="l"/>
            <a:r>
              <a:rPr lang="en-US"/>
              <a:t>Sample Footer Text</a:t>
            </a:r>
            <a:endParaRPr lang="en-US" dirty="0"/>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CBE1C96F-46D7-47BB-8945-9667BCB4F5BB}" type="datetime1">
              <a:rPr lang="en-US" smtClean="0"/>
              <a:t>10/30/2025</a:t>
            </a:fld>
            <a:endParaRPr lang="en-US" dirty="0"/>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192767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A6379DD5-AE65-4D02-9BCE-257CC17A63B7}" type="datetime1">
              <a:rPr lang="en-US" smtClean="0"/>
              <a:t>10/30/2025</a:t>
            </a:fld>
            <a:endParaRPr lang="en-US" dirty="0"/>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31213775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9DFFF819-4E26-4576-8A6D-DA055CFF682A}" type="datetime1">
              <a:rPr lang="en-US" smtClean="0"/>
              <a:t>10/30/2025</a:t>
            </a:fld>
            <a:endParaRPr lang="en-US" dirty="0"/>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‹Nº›</a:t>
            </a:fld>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4296"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85848284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2602ACF4-9E47-4D03-8EA6-1CE7E20F9165}" type="datetime1">
              <a:rPr lang="en-US" smtClean="0"/>
              <a:t>10/30/2025</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9529127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FABB9A-1B5B-9306-B7B9-58E4E5E4EE0D}"/>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F155489-796B-CDF9-06C2-583941E589F7}"/>
              </a:ext>
            </a:extLst>
          </p:cNvPr>
          <p:cNvGrpSpPr/>
          <p:nvPr/>
        </p:nvGrpSpPr>
        <p:grpSpPr>
          <a:xfrm>
            <a:off x="0" y="0"/>
            <a:ext cx="12192000" cy="6867144"/>
            <a:chOff x="0" y="-7622"/>
            <a:chExt cx="12192000" cy="6894986"/>
          </a:xfrm>
        </p:grpSpPr>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6FE184C5-789F-C980-F425-AF26045C8F03}"/>
                </a:ext>
                <a:ext uri="{C183D7F6-B498-43B3-948B-1728B52AA6E4}">
                  <adec:decorative xmlns:adec="http://schemas.microsoft.com/office/drawing/2017/decorative" val="1"/>
                </a:ext>
              </a:extLst>
            </p:cNvPr>
            <p:cNvSpPr/>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rot="10800000">
              <a:off x="9127281" y="7060"/>
              <a:ext cx="3064320" cy="6872683"/>
            </a:xfrm>
            <a:prstGeom prst="rect">
              <a:avLst/>
            </a:prstGeom>
            <a:gradFill flip="none" rotWithShape="1">
              <a:gsLst>
                <a:gs pos="0">
                  <a:schemeClr val="accent2">
                    <a:alpha val="88000"/>
                  </a:schemeClr>
                </a:gs>
                <a:gs pos="56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86584" y="1371600"/>
            <a:ext cx="7498080" cy="2386584"/>
          </a:xfrm>
        </p:spPr>
        <p:txBody>
          <a:bodyPr anchor="b" anchorCtr="0">
            <a:normAutofit/>
          </a:bodyPr>
          <a:lstStyle>
            <a:lvl1pPr algn="ctr">
              <a:defRPr sz="4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86584" y="3877056"/>
            <a:ext cx="7498080" cy="1655064"/>
          </a:xfrm>
        </p:spPr>
        <p:txBody>
          <a:bodyPr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p:txBody>
          <a:bodyPr/>
          <a:lstStyle>
            <a:lvl1pPr>
              <a:defRPr>
                <a:solidFill>
                  <a:schemeClr val="bg1"/>
                </a:solidFill>
              </a:defRPr>
            </a:lvl1pPr>
          </a:lstStyle>
          <a:p>
            <a:fld id="{3A82B809-8BB3-463C-8B5E-28962B4654D8}" type="datetime1">
              <a:rPr lang="en-US" smtClean="0"/>
              <a:t>10/30/2025</a:t>
            </a:fld>
            <a:endParaRPr lang="en-US" dirty="0"/>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07005441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2DB8F537-5E0E-4697-8198-FDF0E53F372F}" type="datetime1">
              <a:rPr lang="en-US" smtClean="0"/>
              <a:t>10/30/2025</a:t>
            </a:fld>
            <a:endParaRPr lang="en-US" dirty="0"/>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46119004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6999" y="-2667000"/>
            <a:ext cx="6857999"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bg1"/>
                </a:solidFill>
              </a:defRPr>
            </a:lvl1pPr>
          </a:lstStyle>
          <a:p>
            <a:pPr lvl="0"/>
            <a:r>
              <a:rPr lang="en-US" dirty="0"/>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bg1"/>
                </a:solidFill>
              </a:defRPr>
            </a:lvl1pPr>
          </a:lstStyle>
          <a:p>
            <a:fld id="{1D4E7D34-A495-4E23-B1D1-F5D651D22AFE}" type="datetime1">
              <a:rPr lang="en-US" smtClean="0"/>
              <a:t>10/30/2025</a:t>
            </a:fld>
            <a:endParaRPr lang="en-US" dirty="0"/>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17826052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7" y="2093976"/>
            <a:ext cx="7271895"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dirty="0"/>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pPr algn="l"/>
            <a:r>
              <a:rPr lang="en-US" dirty="0"/>
              <a:t>Sample Footer Text</a:t>
            </a:r>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85976A96-D1F6-4A74-B023-FDE16753EDD7}" type="datetime1">
              <a:rPr lang="en-US" smtClean="0"/>
              <a:t>10/30/2025</a:t>
            </a:fld>
            <a:endParaRPr lang="en-US" dirty="0"/>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2577075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62822" y="-2671180"/>
            <a:ext cx="6866356"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5"/>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vert="horz" lIns="91440" tIns="45720" rIns="91440" bIns="45720" rtlCol="0" anchor="b">
            <a:normAutofit/>
          </a:bodyPr>
          <a:lstStyle>
            <a:lvl1pPr>
              <a:defRPr lang="en-US" sz="6600" dirty="0">
                <a:solidFill>
                  <a:schemeClr val="bg1"/>
                </a:solidFill>
              </a:defRPr>
            </a:lvl1pPr>
          </a:lstStyle>
          <a:p>
            <a:pPr lvl="0"/>
            <a:r>
              <a:rPr lang="en-US" dirty="0"/>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bg1"/>
                </a:solidFill>
              </a:defRPr>
            </a:lvl1pPr>
          </a:lstStyle>
          <a:p>
            <a:fld id="{9C5C1F80-0989-4135-BEC0-53996BCA1D73}" type="datetime1">
              <a:rPr lang="en-US" smtClean="0"/>
              <a:t>10/30/2025</a:t>
            </a:fld>
            <a:endParaRPr lang="en-US" dirty="0"/>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2064214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pPr algn="l"/>
            <a:r>
              <a:rPr lang="en-US" dirty="0"/>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2B346B3B-D23C-46FC-82B4-EC936862EBB6}" type="datetime1">
              <a:rPr lang="en-US" smtClean="0"/>
              <a:t>10/30/2025</a:t>
            </a:fld>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9283117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dirty="0"/>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pPr algn="l"/>
            <a:r>
              <a:rPr lang="en-US" dirty="0"/>
              <a:t>Sample Footer Text</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11039C6F-01AE-405F-93D2-431591D79461}" type="datetime1">
              <a:rPr lang="en-US" smtClean="0"/>
              <a:t>10/30/2025</a:t>
            </a:fld>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43866053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pPr algn="l"/>
            <a:r>
              <a:rPr lang="en-US" dirty="0"/>
              <a:t>Sample Footer Text</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6AE82713-2685-4CB9-BD26-DD329F3C67A6}" type="datetime1">
              <a:rPr lang="en-US" smtClean="0"/>
              <a:t>10/30/2025</a:t>
            </a:fld>
            <a:endParaRPr lang="en-US" dirty="0"/>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86791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957926B3-CA5D-44FB-BC2D-6B05FBB97B04}" type="datetime1">
              <a:rPr lang="en-US" smtClean="0"/>
              <a:t>10/30/2025</a:t>
            </a:fld>
            <a:endParaRPr lang="en-US" dirty="0"/>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690590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pPr algn="l"/>
            <a:r>
              <a:rPr lang="en-US" dirty="0"/>
              <a:t>Sample Footer Text</a:t>
            </a:r>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7E009212-C305-41EC-8687-C39B36C09AF0}" type="datetime1">
              <a:rPr lang="en-US" smtClean="0"/>
              <a:t>10/30/2025</a:t>
            </a:fld>
            <a:endParaRPr lang="en-US" dirty="0"/>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3777344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7CD886C8-FB0E-44DB-9413-26C9933623BA}" type="datetime1">
              <a:rPr lang="en-US" smtClean="0"/>
              <a:t>10/30/2025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78834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78A6864-E7E2-494F-A90A-ECC53613C6EC}" type="datetime1">
              <a:rPr lang="en-US" smtClean="0"/>
              <a:t>10/30/2025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493384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F4ED686-7864-484B-8047-F06E855FD995}" type="datetime1">
              <a:rPr lang="en-US" smtClean="0"/>
              <a:t>10/30/2025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0715037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B8F8C76-8E31-4D47-BC79-85F35E81929B}" type="datetime1">
              <a:rPr lang="en-US" smtClean="0"/>
              <a:t>10/30/2025</a:t>
            </a:fld>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855394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r>
              <a:rPr lang="en-US"/>
              <a:t>Sample Footer Text</a:t>
            </a:r>
            <a:endParaRPr lang="en-US" dirty="0"/>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85640267-1344-46BE-B105-162E68855468}" type="datetime1">
              <a:rPr lang="en-US" smtClean="0"/>
              <a:t>10/30/2025</a:t>
            </a:fld>
            <a:endParaRPr lang="en-US" dirty="0"/>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7912844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dirty="0"/>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1C45E567-307A-4358-87B7-AFD16C4C07D5}" type="datetime1">
              <a:rPr lang="en-US" smtClean="0"/>
              <a:t>10/30/2025</a:t>
            </a:fld>
            <a:endParaRPr lang="en-US" dirty="0"/>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18848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E016730A-3443-4D7F-BC47-3A3CDB3837FC}" type="datetime1">
              <a:rPr lang="en-US" smtClean="0"/>
              <a:t>10/30/2025</a:t>
            </a:fld>
            <a:endParaRPr lang="en-US" dirty="0"/>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CC057153-B650-4DEB-B370-79DDCFDCE934}" type="slidenum">
              <a:rPr lang="en-US" smtClean="0"/>
              <a:pPr/>
              <a:t>‹Nº›</a:t>
            </a:fld>
            <a:endParaRPr lang="en-US" dirty="0"/>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a:blip r:embed="rId2">
              <a:alphaModFix amt="60000"/>
            </a:blip>
            <a:stretch>
              <a:fillRect/>
            </a:stretch>
          </a:blipFill>
        </p:spPr>
        <p:txBody>
          <a:bodyPr/>
          <a:lstStyle>
            <a:lvl1pPr marL="0" indent="0">
              <a:buNone/>
              <a:defRPr/>
            </a:lvl1pPr>
          </a:lstStyle>
          <a:p>
            <a:r>
              <a:rPr lang="en-US" dirty="0"/>
              <a:t>.</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661088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D9193AC5-F257-4C01-8A7B-A4CD87F22F04}" type="datetime1">
              <a:rPr lang="en-US" smtClean="0"/>
              <a:t>10/30/2025</a:t>
            </a:fld>
            <a:endParaRPr lang="en-US" dirty="0"/>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722204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A64EBB10-E93E-4729-97C4-FAB8DF4548E2}" type="datetime1">
              <a:rPr lang="en-US" smtClean="0"/>
              <a:t>10/30/2025</a:t>
            </a:fld>
            <a:endParaRPr lang="en-US" dirty="0"/>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CC057153-B650-4DEB-B370-79DDCFDCE934}" type="slidenum">
              <a:rPr lang="en-US" smtClean="0"/>
              <a:pPr/>
              <a:t>‹Nº›</a:t>
            </a:fld>
            <a:endParaRPr lang="en-US" dirty="0"/>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7281391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7040DD2C-7FC6-41A9-87A2-29E4EDD4A815}" type="datetime1">
              <a:rPr lang="en-US" smtClean="0"/>
              <a:t>10/30/2025</a:t>
            </a:fld>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CC057153-B650-4DEB-B370-79DDCFDCE934}" type="slidenum">
              <a:rPr lang="en-US" smtClean="0"/>
              <a:pPr/>
              <a:t>‹Nº›</a:t>
            </a:fld>
            <a:endParaRPr lang="en-US" dirty="0"/>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52095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dirty="0"/>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r>
              <a:rPr lang="en-US" dirty="0"/>
              <a:t>Sample Footer Text</a:t>
            </a:r>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C8E3A8ED-7C53-48B7-8E07-F767A8357B67}" type="datetime1">
              <a:rPr lang="en-US" smtClean="0"/>
              <a:t>10/30/2025</a:t>
            </a:fld>
            <a:endParaRPr lang="en-US" dirty="0"/>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865314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dirty="0"/>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81AC3B39-0D1D-4C0E-BE8E-C570B18D6B3B}" type="datetime1">
              <a:rPr lang="en-US" smtClean="0"/>
              <a:t>10/30/2025</a:t>
            </a:fld>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629278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0780F3AB-C899-4854-A4A4-B2E20F203358}" type="datetime1">
              <a:rPr lang="en-US" smtClean="0"/>
              <a:t>10/30/2025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CC057153-B650-4DEB-B370-79DDCFDCE934}" type="slidenum">
              <a:rPr lang="en-US" smtClean="0"/>
              <a:t>‹Nº›</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014231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1095A040-388D-41D5-A09F-3EC1A1D097A8}" type="datetime1">
              <a:rPr lang="en-US" smtClean="0"/>
              <a:t>10/30/2025</a:t>
            </a:fld>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7963226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anchor="t">
            <a:normAutofit/>
          </a:bodyPr>
          <a:lstStyle>
            <a:lvl1pPr>
              <a:defRPr sz="3200"/>
            </a:lvl1pPr>
          </a:lstStyle>
          <a:p>
            <a:r>
              <a:rPr lang="en-US" dirty="0"/>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60000"/>
            </a:blip>
            <a:srcRect/>
            <a:stretch>
              <a:fillRect/>
            </a:stretch>
          </a:blipFill>
        </p:spPr>
        <p:txBody>
          <a:bodyPr/>
          <a:lstStyle>
            <a:lvl1pPr marL="0" indent="0">
              <a:buNone/>
              <a:defRPr/>
            </a:lvl1pPr>
          </a:lstStyle>
          <a:p>
            <a:r>
              <a:rPr lang="en-US" dirty="0"/>
              <a:t>.</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CB542C-378A-4AAF-83EE-A3767FF83605}" type="datetime1">
              <a:rPr lang="en-US" smtClean="0"/>
              <a:t>10/30/2025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229581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r>
              <a:rPr lang="en-US"/>
              <a:t>Sample Footer Text</a:t>
            </a:r>
            <a:endParaRPr lang="en-US" dirty="0"/>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16C6F251-EB74-4ADA-AD63-D85EC3A9D616}" type="datetime1">
              <a:rPr lang="en-US" smtClean="0"/>
              <a:t>10/30/2025</a:t>
            </a:fld>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5613068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7015248" cy="4489704"/>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8252735" y="1801367"/>
            <a:ext cx="3314425" cy="448970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7305F46D-792E-48B7-9047-8A1672515077}" type="datetime1">
              <a:rPr lang="en-US" smtClean="0"/>
              <a:t>10/30/2025</a:t>
            </a:fld>
            <a:endParaRPr lang="en-US" dirty="0"/>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6568244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r>
              <a:rPr lang="en-US"/>
              <a:t>Sample Footer Text</a:t>
            </a:r>
            <a:endParaRPr lang="en-US" dirty="0"/>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8B53D3FE-D727-4B50-874D-41D5E635B20A}" type="datetime1">
              <a:rPr lang="en-US" smtClean="0"/>
              <a:t>10/30/2025</a:t>
            </a:fld>
            <a:endParaRPr lang="en-US" dirty="0"/>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9079590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FE942071-3A2D-4B86-82F9-428DB212BAF8}" type="datetime1">
              <a:rPr lang="en-US" smtClean="0"/>
              <a:t>10/30/2025</a:t>
            </a:fld>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5369898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bg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bg1"/>
                </a:solidFill>
              </a:defRPr>
            </a:lvl1pPr>
          </a:lstStyle>
          <a:p>
            <a:fld id="{040D1012-6B36-4753-8153-E5F982239567}" type="datetime1">
              <a:rPr lang="en-US" smtClean="0"/>
              <a:t>10/30/2025</a:t>
            </a:fld>
            <a:endParaRPr lang="en-US" dirty="0"/>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3248938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02E2BBBB-FE25-456C-89E4-A0303F0273E5}" type="datetime1">
              <a:rPr lang="en-US" smtClean="0"/>
              <a:t>10/30/2025</a:t>
            </a:fld>
            <a:endParaRPr lang="en-US" dirty="0"/>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r>
              <a:rPr lang="en-US"/>
              <a:t>Sample Footer Text</a:t>
            </a:r>
            <a:endParaRPr lang="en-US" dirty="0"/>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265039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1315EE4B-219D-4799-AB8D-57B100451C5D}" type="datetime1">
              <a:rPr lang="en-US" smtClean="0"/>
              <a:t>10/30/2025</a:t>
            </a:fld>
            <a:endParaRPr lang="en-US" dirty="0"/>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r>
              <a:rPr lang="en-US"/>
              <a:t>Sample Footer Text</a:t>
            </a:r>
            <a:endParaRPr lang="en-US" dirty="0"/>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945135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endParaRPr lang="en-US" dirty="0"/>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6499AFF4-C109-45E7-87CB-3A41EC6C3342}" type="datetime1">
              <a:rPr lang="en-US" smtClean="0"/>
              <a:t>10/30/2025</a:t>
            </a:fld>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4363180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bg1"/>
                </a:solidFill>
              </a:defRPr>
            </a:lvl1pPr>
            <a:lvl2pPr marL="228600" indent="0">
              <a:lnSpc>
                <a:spcPct val="100000"/>
              </a:lnSpc>
              <a:buNone/>
              <a:defRPr sz="5600" b="1">
                <a:solidFill>
                  <a:schemeClr val="bg1"/>
                </a:solidFill>
              </a:defRPr>
            </a:lvl2pPr>
            <a:lvl3pPr marL="457200" indent="0">
              <a:lnSpc>
                <a:spcPct val="100000"/>
              </a:lnSpc>
              <a:buNone/>
              <a:defRPr sz="5600" b="1">
                <a:solidFill>
                  <a:schemeClr val="bg1"/>
                </a:solidFill>
              </a:defRPr>
            </a:lvl3pPr>
            <a:lvl4pPr marL="685800" indent="0">
              <a:lnSpc>
                <a:spcPct val="100000"/>
              </a:lnSpc>
              <a:buNone/>
              <a:defRPr sz="5600" b="1">
                <a:solidFill>
                  <a:schemeClr val="bg1"/>
                </a:solidFill>
              </a:defRPr>
            </a:lvl4pPr>
            <a:lvl5pPr marL="914400" indent="0">
              <a:lnSpc>
                <a:spcPct val="100000"/>
              </a:lnSpc>
              <a:buNone/>
              <a:defRPr sz="5600" b="1">
                <a:solidFill>
                  <a:schemeClr val="bg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bg1"/>
                </a:solidFill>
              </a:defRPr>
            </a:lvl1pPr>
          </a:lstStyle>
          <a:p>
            <a:fld id="{50AFEFF9-BDF1-4CFA-B535-0413D62BE29A}" type="datetime1">
              <a:rPr lang="en-US" smtClean="0"/>
              <a:t>10/30/2025</a:t>
            </a:fld>
            <a:endParaRPr lang="en-US" dirty="0"/>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300013651"/>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r>
              <a:rPr lang="en-US" dirty="0"/>
              <a:t>Sample Footer Text</a:t>
            </a:r>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6E761A50-B070-4EAD-9EB9-92E4929324E7}" type="datetime1">
              <a:rPr lang="en-US" smtClean="0"/>
              <a:t>10/30/2025</a:t>
            </a:fld>
            <a:endParaRPr lang="en-US" dirty="0"/>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618411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9A1CBA35-F376-4C5F-B8C5-4C103617FD91}" type="datetime1">
              <a:rPr lang="en-US" smtClean="0"/>
              <a:t>10/30/2025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4427898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bg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bg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BA89D600-DCDC-4EC3-BDD3-052C2836DAF2}" type="datetime1">
              <a:rPr lang="en-US" smtClean="0"/>
              <a:t>10/30/2025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7688227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DB2DB3-0A08-4E5B-8BB6-A488CF1C042F}" type="datetime1">
              <a:rPr lang="en-US" smtClean="0"/>
              <a:t>10/30/2025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1442782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133600"/>
            <a:ext cx="5166360" cy="4184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128115"/>
            <a:ext cx="5166360" cy="41903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A329DD1-6F17-4170-B2B1-1A76C32D62A1}" type="datetime1">
              <a:rPr lang="en-US" smtClean="0"/>
              <a:t>10/30/2025</a:t>
            </a:fld>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6886262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28111"/>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2810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40003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pPr algn="l"/>
            <a:r>
              <a:rPr lang="en-US"/>
              <a:t>Sample Footer Text</a:t>
            </a:r>
            <a:endParaRPr lang="en-US" dirty="0"/>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BA7E6053-DA33-4DC9-86BB-0E52E5EB5B56}" type="datetime1">
              <a:rPr lang="en-US" smtClean="0"/>
              <a:t>10/30/2025</a:t>
            </a:fld>
            <a:endParaRPr lang="en-US" dirty="0"/>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16287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C72CE4D-D83F-44D4-ACB0-A88A6B9DB4F7}" type="datetime1">
              <a:rPr lang="en-US" smtClean="0"/>
              <a:t>10/30/2025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70032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62F981-1EE1-49F5-B605-4EA23F0307AC}" type="datetime1">
              <a:rPr lang="en-US" smtClean="0"/>
              <a:t>10/30/2025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430589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0B6493B-A447-4205-AC2D-AE2DEDAE4E3B}" type="datetime1">
              <a:rPr lang="en-US" smtClean="0"/>
              <a:t>10/30/2025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981509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r>
              <a:rPr lang="en-US"/>
              <a:t>Sample Footer Text</a:t>
            </a:r>
            <a:endParaRPr lang="en-US" dirty="0"/>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a:blip r:embed="rId2">
              <a:alphaModFix amt="60000"/>
            </a:blip>
            <a:stretch>
              <a:fillRect/>
            </a:stretch>
          </a:blipFill>
        </p:spPr>
        <p:txBody>
          <a:bodyPr/>
          <a:lstStyle>
            <a:lvl1pPr marL="0" indent="0">
              <a:buNone/>
              <a:defRPr/>
            </a:lvl1pPr>
          </a:lstStyle>
          <a:p>
            <a:r>
              <a:rPr lang="en-US" dirty="0"/>
              <a:t>.</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1F9A354F-9C13-4261-9BA4-DD76051C2429}" type="datetime1">
              <a:rPr lang="en-US" smtClean="0"/>
              <a:t>10/30/2025</a:t>
            </a:fld>
            <a:endParaRPr lang="en-US" dirty="0"/>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610190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D3A9CD26-23FE-488A-AF3B-5DDE99301C10}" type="datetime1">
              <a:rPr lang="en-US" smtClean="0"/>
              <a:t>10/30/2025</a:t>
            </a:fld>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47321651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CC67263D-2536-4E2E-A4D6-BA89E45F00B0}" type="datetime1">
              <a:rPr lang="en-US" smtClean="0"/>
              <a:t>10/30/2025</a:t>
            </a:fld>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415811137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FD1C4689-B28D-4D3C-8B05-9ABB967E2A3E}" type="datetime1">
              <a:rPr lang="en-US" smtClean="0"/>
              <a:t>10/30/2025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75816283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 id="2147483827" r:id="rId23"/>
    <p:sldLayoutId id="2147483828" r:id="rId24"/>
    <p:sldLayoutId id="2147483829" r:id="rId25"/>
    <p:sldLayoutId id="2147483830" r:id="rId26"/>
    <p:sldLayoutId id="2147483831" r:id="rId27"/>
    <p:sldLayoutId id="2147483832" r:id="rId28"/>
    <p:sldLayoutId id="2147483833" r:id="rId29"/>
    <p:sldLayoutId id="2147483834" r:id="rId30"/>
    <p:sldLayoutId id="2147483835" r:id="rId31"/>
    <p:sldLayoutId id="2147483836" r:id="rId32"/>
    <p:sldLayoutId id="2147483837" r:id="rId33"/>
    <p:sldLayoutId id="2147483838" r:id="rId34"/>
    <p:sldLayoutId id="2147483839" r:id="rId35"/>
    <p:sldLayoutId id="2147483840" r:id="rId36"/>
    <p:sldLayoutId id="2147483841" r:id="rId37"/>
    <p:sldLayoutId id="2147483842" r:id="rId38"/>
    <p:sldLayoutId id="2147483843" r:id="rId39"/>
    <p:sldLayoutId id="2147483844" r:id="rId40"/>
    <p:sldLayoutId id="2147483845" r:id="rId41"/>
    <p:sldLayoutId id="2147483846" r:id="rId42"/>
    <p:sldLayoutId id="2147483847" r:id="rId43"/>
    <p:sldLayoutId id="2147483848" r:id="rId44"/>
    <p:sldLayoutId id="2147483849" r:id="rId45"/>
    <p:sldLayoutId id="2147483850" r:id="rId46"/>
    <p:sldLayoutId id="2147483851" r:id="rId47"/>
    <p:sldLayoutId id="2147483852" r:id="rId48"/>
    <p:sldLayoutId id="2147483853" r:id="rId49"/>
    <p:sldLayoutId id="2147483854" r:id="rId50"/>
    <p:sldLayoutId id="2147483855" r:id="rId51"/>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hyperlink" Target="https://www.greenpeace.org/static/planet4-argentina-stateless/2024/05/28537bfa-incendios-forestales-en-los-bosques-andino-patagonicos-2023-2024.pdf" TargetMode="External"/><Relationship Id="rId2" Type="http://schemas.openxmlformats.org/officeDocument/2006/relationships/image" Target="../media/image12.png"/><Relationship Id="rId1" Type="http://schemas.openxmlformats.org/officeDocument/2006/relationships/slideLayout" Target="../slideLayouts/slideLayout16.xml"/><Relationship Id="rId4" Type="http://schemas.openxmlformats.org/officeDocument/2006/relationships/hyperlink" Target="https://www.greenpeace.org/static/planet4-argentina-stateless/2025/05/d5b627cc-reporteincendios-gp2025final.pdf"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8FBC49-9D93-6D6D-3174-7C77309CFDF0}"/>
              </a:ext>
            </a:extLst>
          </p:cNvPr>
          <p:cNvSpPr>
            <a:spLocks noGrp="1"/>
          </p:cNvSpPr>
          <p:nvPr>
            <p:ph type="ctrTitle"/>
          </p:nvPr>
        </p:nvSpPr>
        <p:spPr>
          <a:xfrm>
            <a:off x="612648" y="502920"/>
            <a:ext cx="5852160" cy="2953512"/>
          </a:xfrm>
        </p:spPr>
        <p:txBody>
          <a:bodyPr anchor="t">
            <a:normAutofit/>
          </a:bodyPr>
          <a:lstStyle/>
          <a:p>
            <a:r>
              <a:rPr lang="es-AR" b="1" noProof="0" dirty="0"/>
              <a:t>Incendios forestales de la Patagonia Andina</a:t>
            </a:r>
            <a:endParaRPr lang="es-AR" noProof="0" dirty="0"/>
          </a:p>
        </p:txBody>
      </p:sp>
      <p:sp>
        <p:nvSpPr>
          <p:cNvPr id="3" name="Subtítulo 2">
            <a:extLst>
              <a:ext uri="{FF2B5EF4-FFF2-40B4-BE49-F238E27FC236}">
                <a16:creationId xmlns:a16="http://schemas.microsoft.com/office/drawing/2014/main" id="{2ABC29BA-AD2E-5BC5-1C6A-2B1A95CF6A4F}"/>
              </a:ext>
            </a:extLst>
          </p:cNvPr>
          <p:cNvSpPr>
            <a:spLocks noGrp="1"/>
          </p:cNvSpPr>
          <p:nvPr>
            <p:ph type="subTitle" idx="1"/>
          </p:nvPr>
        </p:nvSpPr>
        <p:spPr>
          <a:xfrm>
            <a:off x="612648" y="4544568"/>
            <a:ext cx="4681728" cy="1591056"/>
          </a:xfrm>
        </p:spPr>
        <p:txBody>
          <a:bodyPr anchor="ctr">
            <a:normAutofit/>
          </a:bodyPr>
          <a:lstStyle/>
          <a:p>
            <a:r>
              <a:rPr lang="es-AR" b="1" noProof="0" dirty="0"/>
              <a:t>Una aproximación con modelos de aprendizaje automático.</a:t>
            </a:r>
            <a:endParaRPr lang="es-AR" noProof="0" dirty="0"/>
          </a:p>
        </p:txBody>
      </p:sp>
      <p:pic>
        <p:nvPicPr>
          <p:cNvPr id="10" name="Marcador de posición de imagen 9">
            <a:extLst>
              <a:ext uri="{FF2B5EF4-FFF2-40B4-BE49-F238E27FC236}">
                <a16:creationId xmlns:a16="http://schemas.microsoft.com/office/drawing/2014/main" id="{0241CF43-077C-82AA-0468-250129885206}"/>
              </a:ext>
            </a:extLst>
          </p:cNvPr>
          <p:cNvPicPr>
            <a:picLocks noGrp="1" noChangeAspect="1"/>
          </p:cNvPicPr>
          <p:nvPr>
            <p:ph type="pic" sz="quarter" idx="13"/>
          </p:nvPr>
        </p:nvPicPr>
        <p:blipFill>
          <a:blip r:embed="rId2">
            <a:alphaModFix amt="85000"/>
            <a:extLst>
              <a:ext uri="{28A0092B-C50C-407E-A947-70E740481C1C}">
                <a14:useLocalDpi xmlns:a14="http://schemas.microsoft.com/office/drawing/2010/main" val="0"/>
              </a:ext>
            </a:extLst>
          </a:blip>
          <a:srcRect l="29469" r="29469"/>
          <a:stretch/>
        </p:blipFill>
        <p:spPr>
          <a:xfrm>
            <a:off x="7534656" y="222"/>
            <a:ext cx="4654296" cy="6857556"/>
          </a:xfrm>
          <a:noFill/>
        </p:spPr>
      </p:pic>
    </p:spTree>
    <p:extLst>
      <p:ext uri="{BB962C8B-B14F-4D97-AF65-F5344CB8AC3E}">
        <p14:creationId xmlns:p14="http://schemas.microsoft.com/office/powerpoint/2010/main" val="2110683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B60CF-894E-E884-F59B-79EE32AF0AB9}"/>
              </a:ext>
            </a:extLst>
          </p:cNvPr>
          <p:cNvSpPr>
            <a:spLocks noGrp="1"/>
          </p:cNvSpPr>
          <p:nvPr>
            <p:ph type="title"/>
          </p:nvPr>
        </p:nvSpPr>
        <p:spPr>
          <a:xfrm>
            <a:off x="4706516" y="502920"/>
            <a:ext cx="6858000" cy="841248"/>
          </a:xfrm>
        </p:spPr>
        <p:txBody>
          <a:bodyPr anchor="b">
            <a:normAutofit/>
          </a:bodyPr>
          <a:lstStyle/>
          <a:p>
            <a:r>
              <a:rPr lang="es-AR" b="1" noProof="0" dirty="0"/>
              <a:t>Índice</a:t>
            </a:r>
          </a:p>
        </p:txBody>
      </p:sp>
      <p:pic>
        <p:nvPicPr>
          <p:cNvPr id="7" name="Marcador de posición de imagen 6">
            <a:extLst>
              <a:ext uri="{FF2B5EF4-FFF2-40B4-BE49-F238E27FC236}">
                <a16:creationId xmlns:a16="http://schemas.microsoft.com/office/drawing/2014/main" id="{1938CA97-CCBC-FE34-3A6B-EAD133F72246}"/>
              </a:ext>
            </a:extLst>
          </p:cNvPr>
          <p:cNvPicPr>
            <a:picLocks noGrp="1" noChangeAspect="1"/>
          </p:cNvPicPr>
          <p:nvPr>
            <p:ph type="pic" sz="quarter" idx="15"/>
          </p:nvPr>
        </p:nvPicPr>
        <p:blipFill>
          <a:blip r:embed="rId2">
            <a:alphaModFix amt="85000"/>
            <a:extLst>
              <a:ext uri="{28A0092B-C50C-407E-A947-70E740481C1C}">
                <a14:useLocalDpi xmlns:a14="http://schemas.microsoft.com/office/drawing/2010/main" val="0"/>
              </a:ext>
            </a:extLst>
          </a:blip>
          <a:srcRect l="32494" r="32494"/>
          <a:stretch/>
        </p:blipFill>
        <p:spPr>
          <a:xfrm>
            <a:off x="0" y="260"/>
            <a:ext cx="4084363" cy="6857479"/>
          </a:xfrm>
          <a:noFill/>
        </p:spPr>
      </p:pic>
      <p:graphicFrame>
        <p:nvGraphicFramePr>
          <p:cNvPr id="6" name="Marcador de contenido 5">
            <a:extLst>
              <a:ext uri="{FF2B5EF4-FFF2-40B4-BE49-F238E27FC236}">
                <a16:creationId xmlns:a16="http://schemas.microsoft.com/office/drawing/2014/main" id="{3322D8B2-B1F5-5A30-A079-383E5437BFF2}"/>
              </a:ext>
            </a:extLst>
          </p:cNvPr>
          <p:cNvGraphicFramePr>
            <a:graphicFrameLocks noGrp="1"/>
          </p:cNvGraphicFramePr>
          <p:nvPr>
            <p:ph sz="quarter" idx="14"/>
            <p:extLst>
              <p:ext uri="{D42A27DB-BD31-4B8C-83A1-F6EECF244321}">
                <p14:modId xmlns:p14="http://schemas.microsoft.com/office/powerpoint/2010/main" val="2361952893"/>
              </p:ext>
              <p:ext uri="{E7BDC344-281C-4309-B0C6-D0EE65EED2A8}">
                <p202:designPr xmlns:p202="http://schemas.microsoft.com/office/powerpoint/2020/02/main">
                  <p202:designTagLst>
                    <p202:designTag name="ARCH:1:CLS" val="StackedSequentialRowTable"/>
                  </p202:designTagLst>
                </p202:designPr>
              </p:ext>
            </p:extLst>
          </p:nvPr>
        </p:nvGraphicFramePr>
        <p:xfrm>
          <a:off x="5387536" y="1472183"/>
          <a:ext cx="5495960" cy="4782316"/>
        </p:xfrm>
        <a:graphic>
          <a:graphicData uri="http://schemas.openxmlformats.org/drawingml/2006/table">
            <a:tbl>
              <a:tblPr bandRow="1">
                <a:noFill/>
                <a:tableStyleId>{5C22544A-7EE6-4342-B048-85BDC9FD1C3A}</a:tableStyleId>
              </a:tblPr>
              <a:tblGrid>
                <a:gridCol w="1191010">
                  <a:extLst>
                    <a:ext uri="{9D8B030D-6E8A-4147-A177-3AD203B41FA5}">
                      <a16:colId xmlns:a16="http://schemas.microsoft.com/office/drawing/2014/main" val="1868535267"/>
                    </a:ext>
                  </a:extLst>
                </a:gridCol>
                <a:gridCol w="4304950">
                  <a:extLst>
                    <a:ext uri="{9D8B030D-6E8A-4147-A177-3AD203B41FA5}">
                      <a16:colId xmlns:a16="http://schemas.microsoft.com/office/drawing/2014/main" val="654858520"/>
                    </a:ext>
                  </a:extLst>
                </a:gridCol>
              </a:tblGrid>
              <a:tr h="683188">
                <a:tc>
                  <a:txBody>
                    <a:bodyPr/>
                    <a:lstStyle/>
                    <a:p>
                      <a:pPr algn="ctr">
                        <a:buNone/>
                      </a:pPr>
                      <a:r>
                        <a:rPr lang="es-AR" sz="2700" b="1" cap="none" spc="0" noProof="0" dirty="0">
                          <a:solidFill>
                            <a:schemeClr val="bg1"/>
                          </a:solidFill>
                        </a:rPr>
                        <a:t>01</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Introducción</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421214780"/>
                  </a:ext>
                </a:extLst>
              </a:tr>
              <a:tr h="683188">
                <a:tc>
                  <a:txBody>
                    <a:bodyPr/>
                    <a:lstStyle/>
                    <a:p>
                      <a:pPr algn="ctr">
                        <a:buNone/>
                      </a:pPr>
                      <a:r>
                        <a:rPr lang="es-AR" sz="2700" b="1" cap="none" spc="0" noProof="0" dirty="0">
                          <a:solidFill>
                            <a:schemeClr val="bg1"/>
                          </a:solidFill>
                        </a:rPr>
                        <a:t>02</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Antecedentes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3714036038"/>
                  </a:ext>
                </a:extLst>
              </a:tr>
              <a:tr h="683188">
                <a:tc>
                  <a:txBody>
                    <a:bodyPr/>
                    <a:lstStyle/>
                    <a:p>
                      <a:pPr algn="ctr">
                        <a:buNone/>
                      </a:pPr>
                      <a:r>
                        <a:rPr lang="es-AR" sz="2700" b="1" cap="none" spc="0" noProof="0" dirty="0">
                          <a:solidFill>
                            <a:schemeClr val="bg1"/>
                          </a:solidFill>
                        </a:rPr>
                        <a:t>03</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Datos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549927137"/>
                  </a:ext>
                </a:extLst>
              </a:tr>
              <a:tr h="683188">
                <a:tc>
                  <a:txBody>
                    <a:bodyPr/>
                    <a:lstStyle/>
                    <a:p>
                      <a:pPr algn="ctr">
                        <a:buNone/>
                      </a:pPr>
                      <a:r>
                        <a:rPr lang="es-AR" sz="2700" b="1" cap="none" spc="0" noProof="0" dirty="0">
                          <a:solidFill>
                            <a:schemeClr val="bg1"/>
                          </a:solidFill>
                        </a:rPr>
                        <a:t>04</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Adquisición y tratamiento</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42510349"/>
                  </a:ext>
                </a:extLst>
              </a:tr>
              <a:tr h="683188">
                <a:tc>
                  <a:txBody>
                    <a:bodyPr/>
                    <a:lstStyle/>
                    <a:p>
                      <a:pPr algn="ctr">
                        <a:buNone/>
                      </a:pPr>
                      <a:r>
                        <a:rPr lang="es-AR" sz="2700" b="1" cap="none" spc="0" noProof="0" dirty="0">
                          <a:solidFill>
                            <a:schemeClr val="bg1"/>
                          </a:solidFill>
                        </a:rPr>
                        <a:t>05</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Análisis exploratorio</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165124404"/>
                  </a:ext>
                </a:extLst>
              </a:tr>
              <a:tr h="683188">
                <a:tc>
                  <a:txBody>
                    <a:bodyPr/>
                    <a:lstStyle/>
                    <a:p>
                      <a:pPr algn="ctr">
                        <a:buNone/>
                      </a:pPr>
                      <a:r>
                        <a:rPr lang="es-AR" sz="2700" b="1" cap="none" spc="0" noProof="0" dirty="0">
                          <a:solidFill>
                            <a:schemeClr val="bg1"/>
                          </a:solidFill>
                        </a:rPr>
                        <a:t>06</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Aplicación de modelos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819754579"/>
                  </a:ext>
                </a:extLst>
              </a:tr>
              <a:tr h="683188">
                <a:tc>
                  <a:txBody>
                    <a:bodyPr/>
                    <a:lstStyle/>
                    <a:p>
                      <a:pPr algn="ctr">
                        <a:buNone/>
                      </a:pPr>
                      <a:r>
                        <a:rPr lang="es-AR" sz="2700" b="1" cap="none" spc="0" noProof="0" dirty="0">
                          <a:solidFill>
                            <a:schemeClr val="bg1"/>
                          </a:solidFill>
                        </a:rPr>
                        <a:t>07</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s-AR" sz="1700" b="0" cap="none" spc="0" noProof="0" dirty="0">
                          <a:solidFill>
                            <a:schemeClr val="tx1"/>
                          </a:solidFill>
                        </a:rPr>
                        <a:t>Conclusiones</a:t>
                      </a:r>
                    </a:p>
                  </a:txBody>
                  <a:tcPr marL="117341" marR="117341" marT="117341" marB="117341"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373050990"/>
                  </a:ext>
                </a:extLst>
              </a:tr>
            </a:tbl>
          </a:graphicData>
        </a:graphic>
      </p:graphicFrame>
    </p:spTree>
    <p:extLst>
      <p:ext uri="{BB962C8B-B14F-4D97-AF65-F5344CB8AC3E}">
        <p14:creationId xmlns:p14="http://schemas.microsoft.com/office/powerpoint/2010/main" val="3874723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585BEA-FDD9-68AB-BD88-190AE215D070}"/>
              </a:ext>
            </a:extLst>
          </p:cNvPr>
          <p:cNvSpPr>
            <a:spLocks noGrp="1"/>
          </p:cNvSpPr>
          <p:nvPr>
            <p:ph type="title"/>
          </p:nvPr>
        </p:nvSpPr>
        <p:spPr>
          <a:xfrm>
            <a:off x="219358" y="170098"/>
            <a:ext cx="4215384" cy="500462"/>
          </a:xfrm>
        </p:spPr>
        <p:txBody>
          <a:bodyPr anchor="t">
            <a:normAutofit fontScale="90000"/>
          </a:bodyPr>
          <a:lstStyle/>
          <a:p>
            <a:r>
              <a:rPr lang="es-AR" noProof="0" dirty="0"/>
              <a:t>Introducción</a:t>
            </a:r>
          </a:p>
        </p:txBody>
      </p:sp>
      <p:sp>
        <p:nvSpPr>
          <p:cNvPr id="9" name="Content Placeholder 2">
            <a:extLst>
              <a:ext uri="{FF2B5EF4-FFF2-40B4-BE49-F238E27FC236}">
                <a16:creationId xmlns:a16="http://schemas.microsoft.com/office/drawing/2014/main" id="{80B50146-BE55-3008-41D3-BB1489CBE74D}"/>
              </a:ext>
            </a:extLst>
          </p:cNvPr>
          <p:cNvSpPr>
            <a:spLocks noGrp="1"/>
          </p:cNvSpPr>
          <p:nvPr>
            <p:ph sz="quarter" idx="13"/>
          </p:nvPr>
        </p:nvSpPr>
        <p:spPr>
          <a:xfrm>
            <a:off x="219358" y="700056"/>
            <a:ext cx="11753284" cy="1761790"/>
          </a:xfrm>
        </p:spPr>
        <p:txBody>
          <a:bodyPr>
            <a:noAutofit/>
          </a:bodyPr>
          <a:lstStyle/>
          <a:p>
            <a:pPr marL="0" indent="0" algn="ctr">
              <a:lnSpc>
                <a:spcPct val="160000"/>
              </a:lnSpc>
              <a:buNone/>
            </a:pPr>
            <a:r>
              <a:rPr lang="es-AR" sz="1600" b="1" noProof="0" dirty="0"/>
              <a:t>"</a:t>
            </a:r>
            <a:r>
              <a:rPr lang="es-AR" sz="1600" b="1" i="1" noProof="0" dirty="0"/>
              <a:t>Declárase de interés público provincial la prevención, </a:t>
            </a:r>
            <a:r>
              <a:rPr lang="es-AR" sz="1600" b="1" i="1" noProof="0" dirty="0" err="1"/>
              <a:t>presupresión</a:t>
            </a:r>
            <a:r>
              <a:rPr lang="es-AR" sz="1600" b="1" i="1" noProof="0" dirty="0"/>
              <a:t> y combate de los incendios forestales y rurales, como medio tendiente a la protección de la vida y la seguridad de las personas y a la preservación del patrimonio ambiental y económico de la provincia.”</a:t>
            </a:r>
            <a:endParaRPr lang="es-AR" sz="1600" b="1" noProof="0" dirty="0"/>
          </a:p>
          <a:p>
            <a:pPr marL="0" indent="0" algn="ctr">
              <a:lnSpc>
                <a:spcPct val="160000"/>
              </a:lnSpc>
              <a:buNone/>
            </a:pPr>
            <a:r>
              <a:rPr lang="es-AR" sz="1600" noProof="0" dirty="0"/>
              <a:t>Ley </a:t>
            </a:r>
            <a:r>
              <a:rPr lang="es-AR" sz="1600" noProof="0" dirty="0" err="1"/>
              <a:t>N.°</a:t>
            </a:r>
            <a:r>
              <a:rPr lang="es-AR" sz="1600" noProof="0" dirty="0"/>
              <a:t> 5243 de la Provincia de Río Negro</a:t>
            </a:r>
          </a:p>
        </p:txBody>
      </p:sp>
      <p:sp>
        <p:nvSpPr>
          <p:cNvPr id="5" name="CuadroTexto 4">
            <a:extLst>
              <a:ext uri="{FF2B5EF4-FFF2-40B4-BE49-F238E27FC236}">
                <a16:creationId xmlns:a16="http://schemas.microsoft.com/office/drawing/2014/main" id="{CB769201-F403-398A-5ED1-0484C85D0B1B}"/>
              </a:ext>
            </a:extLst>
          </p:cNvPr>
          <p:cNvSpPr txBox="1"/>
          <p:nvPr/>
        </p:nvSpPr>
        <p:spPr>
          <a:xfrm>
            <a:off x="219358" y="2752492"/>
            <a:ext cx="11753284" cy="301153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s-AR" sz="1600" noProof="0" dirty="0"/>
              <a:t>Hacia el año 1916 ha sido registrada la perdida de más de </a:t>
            </a:r>
            <a:r>
              <a:rPr lang="es-AR" sz="1600" b="1" noProof="0" dirty="0"/>
              <a:t>692,000has</a:t>
            </a:r>
            <a:r>
              <a:rPr lang="es-AR" sz="1600" noProof="0" dirty="0"/>
              <a:t> por incendios relacionados a las campañas contra los pueblos originarios y la posterior colonización agrícola-ganadera.</a:t>
            </a:r>
          </a:p>
          <a:p>
            <a:pPr marL="285750" indent="-285750" algn="just">
              <a:lnSpc>
                <a:spcPct val="150000"/>
              </a:lnSpc>
              <a:buFont typeface="Arial" panose="020B0604020202020204" pitchFamily="34" charset="0"/>
              <a:buChar char="•"/>
            </a:pPr>
            <a:r>
              <a:rPr lang="es-AR" sz="1600" noProof="0" dirty="0"/>
              <a:t>El cambio en el régimen de fuegos durante los últimos 100 años reúne factores como:</a:t>
            </a:r>
          </a:p>
          <a:p>
            <a:pPr marL="742950" lvl="1" indent="-285750" algn="just">
              <a:lnSpc>
                <a:spcPct val="150000"/>
              </a:lnSpc>
              <a:buFont typeface="Arial" panose="020B0604020202020204" pitchFamily="34" charset="0"/>
              <a:buChar char="•"/>
            </a:pPr>
            <a:r>
              <a:rPr lang="es-AR" sz="1600" noProof="0" dirty="0"/>
              <a:t>Climáticos extremos.</a:t>
            </a:r>
          </a:p>
          <a:p>
            <a:pPr marL="742950" lvl="1" indent="-285750" algn="just">
              <a:lnSpc>
                <a:spcPct val="150000"/>
              </a:lnSpc>
              <a:buFont typeface="Arial" panose="020B0604020202020204" pitchFamily="34" charset="0"/>
              <a:buChar char="•"/>
            </a:pPr>
            <a:r>
              <a:rPr lang="es-AR" sz="1600" noProof="0" dirty="0"/>
              <a:t>Biológicos.</a:t>
            </a:r>
          </a:p>
          <a:p>
            <a:pPr marL="742950" lvl="1" indent="-285750" algn="just">
              <a:lnSpc>
                <a:spcPct val="150000"/>
              </a:lnSpc>
              <a:buFont typeface="Arial" panose="020B0604020202020204" pitchFamily="34" charset="0"/>
              <a:buChar char="•"/>
            </a:pPr>
            <a:r>
              <a:rPr lang="es-AR" sz="1600" noProof="0" dirty="0"/>
              <a:t>Cambio climático.</a:t>
            </a:r>
          </a:p>
          <a:p>
            <a:pPr marL="742950" lvl="1" indent="-285750" algn="just">
              <a:lnSpc>
                <a:spcPct val="150000"/>
              </a:lnSpc>
              <a:buFont typeface="Arial" panose="020B0604020202020204" pitchFamily="34" charset="0"/>
              <a:buChar char="•"/>
            </a:pPr>
            <a:r>
              <a:rPr lang="es-AR" sz="1600" noProof="0" dirty="0"/>
              <a:t>Introducción de especies exóticas.</a:t>
            </a:r>
          </a:p>
          <a:p>
            <a:pPr marL="742950" lvl="1" indent="-285750" algn="just">
              <a:lnSpc>
                <a:spcPct val="150000"/>
              </a:lnSpc>
              <a:buFont typeface="Arial" panose="020B0604020202020204" pitchFamily="34" charset="0"/>
              <a:buChar char="•"/>
            </a:pPr>
            <a:r>
              <a:rPr lang="es-AR" sz="1600" noProof="0" dirty="0"/>
              <a:t>Uso turístico intensivo.</a:t>
            </a:r>
          </a:p>
        </p:txBody>
      </p:sp>
      <p:sp>
        <p:nvSpPr>
          <p:cNvPr id="6" name="CuadroTexto 5">
            <a:extLst>
              <a:ext uri="{FF2B5EF4-FFF2-40B4-BE49-F238E27FC236}">
                <a16:creationId xmlns:a16="http://schemas.microsoft.com/office/drawing/2014/main" id="{58F3C9C5-980F-5B52-4B76-45555E1F9FCE}"/>
              </a:ext>
            </a:extLst>
          </p:cNvPr>
          <p:cNvSpPr txBox="1"/>
          <p:nvPr/>
        </p:nvSpPr>
        <p:spPr>
          <a:xfrm>
            <a:off x="219358" y="6157944"/>
            <a:ext cx="7050328" cy="246221"/>
          </a:xfrm>
          <a:prstGeom prst="rect">
            <a:avLst/>
          </a:prstGeom>
          <a:noFill/>
        </p:spPr>
        <p:txBody>
          <a:bodyPr wrap="none" rtlCol="0">
            <a:spAutoFit/>
          </a:bodyPr>
          <a:lstStyle/>
          <a:p>
            <a:r>
              <a:rPr lang="es-AR" sz="1000" b="1" noProof="0" dirty="0"/>
              <a:t>*</a:t>
            </a:r>
            <a:r>
              <a:rPr lang="es-AR" sz="1000" noProof="0" dirty="0"/>
              <a:t> FUENTE: Javier </a:t>
            </a:r>
            <a:r>
              <a:rPr lang="es-AR" sz="1000" noProof="0" dirty="0" err="1"/>
              <a:t>Grosfeld</a:t>
            </a:r>
            <a:r>
              <a:rPr lang="es-AR" sz="1000" noProof="0" dirty="0"/>
              <a:t>, </a:t>
            </a:r>
            <a:r>
              <a:rPr lang="es-AR" sz="1000" noProof="0" dirty="0" err="1"/>
              <a:t>dr.</a:t>
            </a:r>
            <a:r>
              <a:rPr lang="es-AR" sz="1000" noProof="0" dirty="0"/>
              <a:t> en Ciencias Biológicas (UNCO, CONICET) en charla interna celebrada en INVAP el día 19-09-2025. </a:t>
            </a:r>
          </a:p>
        </p:txBody>
      </p:sp>
    </p:spTree>
    <p:extLst>
      <p:ext uri="{BB962C8B-B14F-4D97-AF65-F5344CB8AC3E}">
        <p14:creationId xmlns:p14="http://schemas.microsoft.com/office/powerpoint/2010/main" val="4282985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E09C5-6633-07D7-BE96-7BB05F0915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436625-D318-59AF-B638-98080BC68D81}"/>
              </a:ext>
            </a:extLst>
          </p:cNvPr>
          <p:cNvSpPr>
            <a:spLocks noGrp="1"/>
          </p:cNvSpPr>
          <p:nvPr>
            <p:ph type="title"/>
          </p:nvPr>
        </p:nvSpPr>
        <p:spPr>
          <a:xfrm>
            <a:off x="219358" y="170098"/>
            <a:ext cx="4215384" cy="500462"/>
          </a:xfrm>
        </p:spPr>
        <p:txBody>
          <a:bodyPr anchor="t">
            <a:normAutofit fontScale="90000"/>
          </a:bodyPr>
          <a:lstStyle/>
          <a:p>
            <a:r>
              <a:rPr lang="es-AR" noProof="0" dirty="0"/>
              <a:t>Introducción</a:t>
            </a:r>
          </a:p>
        </p:txBody>
      </p:sp>
      <p:sp>
        <p:nvSpPr>
          <p:cNvPr id="5" name="Marcador de contenido 4">
            <a:extLst>
              <a:ext uri="{FF2B5EF4-FFF2-40B4-BE49-F238E27FC236}">
                <a16:creationId xmlns:a16="http://schemas.microsoft.com/office/drawing/2014/main" id="{0E671EAB-F101-F412-7316-9D5F7B6ED82F}"/>
              </a:ext>
            </a:extLst>
          </p:cNvPr>
          <p:cNvSpPr>
            <a:spLocks noGrp="1"/>
          </p:cNvSpPr>
          <p:nvPr>
            <p:ph sz="quarter" idx="13"/>
          </p:nvPr>
        </p:nvSpPr>
        <p:spPr>
          <a:xfrm>
            <a:off x="219358" y="640080"/>
            <a:ext cx="7007352" cy="5003636"/>
          </a:xfrm>
        </p:spPr>
        <p:txBody>
          <a:bodyPr/>
          <a:lstStyle/>
          <a:p>
            <a:pPr marL="0" indent="0" algn="just">
              <a:lnSpc>
                <a:spcPct val="150000"/>
              </a:lnSpc>
              <a:buNone/>
            </a:pPr>
            <a:r>
              <a:rPr lang="es-AR" noProof="0" dirty="0"/>
              <a:t>De octubre 2024 a marzo 2025 se cuadriplicó el área afectada por el fuego en la región, la superficie de Bosques Andino Patagónicos afectada por incendios forestales fue de </a:t>
            </a:r>
            <a:r>
              <a:rPr lang="es-AR" b="1" noProof="0" dirty="0"/>
              <a:t>10.218has</a:t>
            </a:r>
            <a:r>
              <a:rPr lang="es-AR" noProof="0" dirty="0"/>
              <a:t>, mientras que durante el mismo periodo 2023-2024 fue de </a:t>
            </a:r>
            <a:r>
              <a:rPr lang="es-AR" b="1" noProof="0" dirty="0"/>
              <a:t>7.747has</a:t>
            </a:r>
            <a:r>
              <a:rPr lang="es-AR" noProof="0" dirty="0"/>
              <a:t>. </a:t>
            </a:r>
          </a:p>
          <a:p>
            <a:pPr marL="0" indent="0" algn="just">
              <a:lnSpc>
                <a:spcPct val="150000"/>
              </a:lnSpc>
              <a:buNone/>
            </a:pPr>
            <a:r>
              <a:rPr lang="es-AR" noProof="0" dirty="0"/>
              <a:t>Por su enorme magnitud e impacto, y sin contar el incendio del periodo 2021-2022, se puede asegurar que se trataron de los peores incendios forestales de las últimas tres décadas en la región.</a:t>
            </a:r>
          </a:p>
        </p:txBody>
      </p:sp>
      <p:pic>
        <p:nvPicPr>
          <p:cNvPr id="8" name="Imagen 7">
            <a:extLst>
              <a:ext uri="{FF2B5EF4-FFF2-40B4-BE49-F238E27FC236}">
                <a16:creationId xmlns:a16="http://schemas.microsoft.com/office/drawing/2014/main" id="{BD88CEEE-E646-8BE9-7EE5-68476F5C852D}"/>
              </a:ext>
            </a:extLst>
          </p:cNvPr>
          <p:cNvPicPr>
            <a:picLocks noChangeAspect="1"/>
          </p:cNvPicPr>
          <p:nvPr/>
        </p:nvPicPr>
        <p:blipFill>
          <a:blip r:embed="rId2"/>
          <a:stretch>
            <a:fillRect/>
          </a:stretch>
        </p:blipFill>
        <p:spPr>
          <a:xfrm>
            <a:off x="7374195" y="160019"/>
            <a:ext cx="4598448" cy="6427721"/>
          </a:xfrm>
          <a:prstGeom prst="rect">
            <a:avLst/>
          </a:prstGeom>
        </p:spPr>
      </p:pic>
      <p:sp>
        <p:nvSpPr>
          <p:cNvPr id="10" name="CuadroTexto 9">
            <a:extLst>
              <a:ext uri="{FF2B5EF4-FFF2-40B4-BE49-F238E27FC236}">
                <a16:creationId xmlns:a16="http://schemas.microsoft.com/office/drawing/2014/main" id="{8662095D-6514-2A96-4834-1E8EFC27E307}"/>
              </a:ext>
            </a:extLst>
          </p:cNvPr>
          <p:cNvSpPr txBox="1"/>
          <p:nvPr/>
        </p:nvSpPr>
        <p:spPr>
          <a:xfrm>
            <a:off x="219357" y="6217920"/>
            <a:ext cx="4862228" cy="369332"/>
          </a:xfrm>
          <a:prstGeom prst="rect">
            <a:avLst/>
          </a:prstGeom>
          <a:noFill/>
        </p:spPr>
        <p:txBody>
          <a:bodyPr wrap="none" rtlCol="0">
            <a:spAutoFit/>
          </a:bodyPr>
          <a:lstStyle/>
          <a:p>
            <a:pPr lvl="0"/>
            <a:r>
              <a:rPr lang="es-AR" sz="900" noProof="0" dirty="0"/>
              <a:t>Greenpeace. (2024, abril). </a:t>
            </a:r>
            <a:r>
              <a:rPr lang="es-AR" sz="900" i="1" noProof="0" dirty="0">
                <a:hlinkClick r:id="rId3"/>
              </a:rPr>
              <a:t>Incendios Forestales en los Bosques Andino Patagónicos de Argentina</a:t>
            </a:r>
            <a:r>
              <a:rPr lang="es-AR" sz="900" noProof="0" dirty="0"/>
              <a:t>.</a:t>
            </a:r>
          </a:p>
          <a:p>
            <a:pPr lvl="0"/>
            <a:r>
              <a:rPr lang="es-AR" sz="900" noProof="0" dirty="0"/>
              <a:t>Greenpeace. (2025, mayo). </a:t>
            </a:r>
            <a:r>
              <a:rPr lang="es-AR" sz="900" i="1" noProof="0" dirty="0">
                <a:hlinkClick r:id="rId4"/>
              </a:rPr>
              <a:t>Incendios Forestales en los Bosques Andino Patagónicos de Argentina</a:t>
            </a:r>
            <a:r>
              <a:rPr lang="es-AR" sz="900" noProof="0" dirty="0"/>
              <a:t>. </a:t>
            </a:r>
          </a:p>
        </p:txBody>
      </p:sp>
    </p:spTree>
    <p:extLst>
      <p:ext uri="{BB962C8B-B14F-4D97-AF65-F5344CB8AC3E}">
        <p14:creationId xmlns:p14="http://schemas.microsoft.com/office/powerpoint/2010/main" val="3167502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558B-9388-C5AF-372E-42F977E23C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FA5D5F-CD81-CDD2-B516-88AC2B700E4A}"/>
              </a:ext>
            </a:extLst>
          </p:cNvPr>
          <p:cNvSpPr>
            <a:spLocks noGrp="1"/>
          </p:cNvSpPr>
          <p:nvPr>
            <p:ph type="title"/>
          </p:nvPr>
        </p:nvSpPr>
        <p:spPr>
          <a:xfrm>
            <a:off x="219358" y="170098"/>
            <a:ext cx="4215384" cy="500462"/>
          </a:xfrm>
        </p:spPr>
        <p:txBody>
          <a:bodyPr anchor="t">
            <a:normAutofit fontScale="90000"/>
          </a:bodyPr>
          <a:lstStyle/>
          <a:p>
            <a:r>
              <a:rPr lang="es-AR" noProof="0" dirty="0"/>
              <a:t>Introducción</a:t>
            </a:r>
          </a:p>
        </p:txBody>
      </p:sp>
      <p:sp>
        <p:nvSpPr>
          <p:cNvPr id="9" name="Content Placeholder 2">
            <a:extLst>
              <a:ext uri="{FF2B5EF4-FFF2-40B4-BE49-F238E27FC236}">
                <a16:creationId xmlns:a16="http://schemas.microsoft.com/office/drawing/2014/main" id="{E2D52BA0-786B-0A60-FBC7-E2A07F9F7DD2}"/>
              </a:ext>
            </a:extLst>
          </p:cNvPr>
          <p:cNvSpPr>
            <a:spLocks noGrp="1"/>
          </p:cNvSpPr>
          <p:nvPr>
            <p:ph sz="quarter" idx="13"/>
          </p:nvPr>
        </p:nvSpPr>
        <p:spPr>
          <a:xfrm>
            <a:off x="219357" y="5305738"/>
            <a:ext cx="11753284" cy="1386911"/>
          </a:xfrm>
        </p:spPr>
        <p:txBody>
          <a:bodyPr>
            <a:normAutofit/>
          </a:bodyPr>
          <a:lstStyle/>
          <a:p>
            <a:pPr marL="0" indent="0" algn="just">
              <a:lnSpc>
                <a:spcPct val="160000"/>
              </a:lnSpc>
              <a:buNone/>
            </a:pPr>
            <a:r>
              <a:rPr lang="es-AR" sz="1600" noProof="0" dirty="0"/>
              <a:t>Frente a este desafío, los avances en ciencia de datos y la creciente disponibilidad de información geoespacial, series temporales climatológicas y registros históricos, entre muchas otras fuentes, ofrecen una oportunidad única para transitar de un enfoque reactivo a uno proactivo.</a:t>
            </a:r>
          </a:p>
        </p:txBody>
      </p:sp>
      <p:pic>
        <p:nvPicPr>
          <p:cNvPr id="4" name="Imagen 3" descr="MODIS">
            <a:extLst>
              <a:ext uri="{FF2B5EF4-FFF2-40B4-BE49-F238E27FC236}">
                <a16:creationId xmlns:a16="http://schemas.microsoft.com/office/drawing/2014/main" id="{46C0CDD4-1021-6AB2-905F-284138C0B52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17826" y="1013633"/>
            <a:ext cx="7254815" cy="3948640"/>
          </a:xfrm>
          <a:prstGeom prst="rect">
            <a:avLst/>
          </a:prstGeom>
        </p:spPr>
      </p:pic>
      <p:sp>
        <p:nvSpPr>
          <p:cNvPr id="7" name="CuadroTexto 6">
            <a:extLst>
              <a:ext uri="{FF2B5EF4-FFF2-40B4-BE49-F238E27FC236}">
                <a16:creationId xmlns:a16="http://schemas.microsoft.com/office/drawing/2014/main" id="{DA178B15-8ABC-4D00-4985-47D403A0F2B2}"/>
              </a:ext>
            </a:extLst>
          </p:cNvPr>
          <p:cNvSpPr txBox="1"/>
          <p:nvPr/>
        </p:nvSpPr>
        <p:spPr>
          <a:xfrm>
            <a:off x="219359" y="670168"/>
            <a:ext cx="4215383" cy="4801314"/>
          </a:xfrm>
          <a:prstGeom prst="rect">
            <a:avLst/>
          </a:prstGeom>
          <a:noFill/>
        </p:spPr>
        <p:txBody>
          <a:bodyPr wrap="square" rtlCol="0">
            <a:spAutoFit/>
          </a:bodyPr>
          <a:lstStyle/>
          <a:p>
            <a:pPr algn="just">
              <a:lnSpc>
                <a:spcPct val="150000"/>
              </a:lnSpc>
            </a:pPr>
            <a:r>
              <a:rPr lang="es-AR" sz="1600" noProof="0" dirty="0"/>
              <a:t>La problemática central radica en el </a:t>
            </a:r>
            <a:r>
              <a:rPr lang="es-AR" sz="1600" b="1" noProof="0" dirty="0"/>
              <a:t>aumento de incendios en áreas protegidas</a:t>
            </a:r>
            <a:r>
              <a:rPr lang="es-AR" sz="1600" noProof="0" dirty="0"/>
              <a:t>, cuya propagación y duración se ven potenciadas por factores ambientales y climatológicos específicos. Estos incendios son identificados como incendios de 5ta y 6ta generación en función de la imposibilidad de combatirlos.</a:t>
            </a:r>
          </a:p>
          <a:p>
            <a:pPr algn="just">
              <a:lnSpc>
                <a:spcPct val="150000"/>
              </a:lnSpc>
            </a:pPr>
            <a:endParaRPr lang="es-AR" sz="1600" noProof="0" dirty="0"/>
          </a:p>
          <a:p>
            <a:pPr algn="just">
              <a:lnSpc>
                <a:spcPct val="150000"/>
              </a:lnSpc>
            </a:pPr>
            <a:r>
              <a:rPr lang="es-AR" sz="1600" noProof="0" dirty="0"/>
              <a:t>Si bien existen análisis descriptivos sobre el impacto de estos incidentes, persiste una brecha en la aplicación de herramientas cuantitativas para la prevención activa.</a:t>
            </a:r>
          </a:p>
          <a:p>
            <a:endParaRPr lang="es-AR" noProof="0" dirty="0"/>
          </a:p>
        </p:txBody>
      </p:sp>
    </p:spTree>
    <p:extLst>
      <p:ext uri="{BB962C8B-B14F-4D97-AF65-F5344CB8AC3E}">
        <p14:creationId xmlns:p14="http://schemas.microsoft.com/office/powerpoint/2010/main" val="368677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568FA-9E75-DB11-AFF2-94DE1F20AE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B7708F-1AE0-99B2-A389-D7F62AD2376D}"/>
              </a:ext>
            </a:extLst>
          </p:cNvPr>
          <p:cNvSpPr>
            <a:spLocks noGrp="1"/>
          </p:cNvSpPr>
          <p:nvPr>
            <p:ph type="title"/>
          </p:nvPr>
        </p:nvSpPr>
        <p:spPr>
          <a:xfrm>
            <a:off x="219358" y="170098"/>
            <a:ext cx="4215384" cy="500462"/>
          </a:xfrm>
        </p:spPr>
        <p:txBody>
          <a:bodyPr anchor="t">
            <a:normAutofit fontScale="90000"/>
          </a:bodyPr>
          <a:lstStyle/>
          <a:p>
            <a:r>
              <a:rPr lang="es-AR" noProof="0" dirty="0"/>
              <a:t>Objetivos</a:t>
            </a:r>
          </a:p>
        </p:txBody>
      </p:sp>
      <p:sp>
        <p:nvSpPr>
          <p:cNvPr id="5" name="Marcador de contenido 4">
            <a:extLst>
              <a:ext uri="{FF2B5EF4-FFF2-40B4-BE49-F238E27FC236}">
                <a16:creationId xmlns:a16="http://schemas.microsoft.com/office/drawing/2014/main" id="{FC270278-268D-2240-0CB2-F71B819C9A3E}"/>
              </a:ext>
            </a:extLst>
          </p:cNvPr>
          <p:cNvSpPr>
            <a:spLocks noGrp="1"/>
          </p:cNvSpPr>
          <p:nvPr>
            <p:ph sz="quarter" idx="13"/>
          </p:nvPr>
        </p:nvSpPr>
        <p:spPr>
          <a:xfrm>
            <a:off x="219358" y="670560"/>
            <a:ext cx="11753284" cy="5917053"/>
          </a:xfrm>
        </p:spPr>
        <p:txBody>
          <a:bodyPr>
            <a:normAutofit fontScale="92500" lnSpcReduction="10000"/>
          </a:bodyPr>
          <a:lstStyle/>
          <a:p>
            <a:pPr marL="0" indent="0" algn="just">
              <a:lnSpc>
                <a:spcPct val="160000"/>
              </a:lnSpc>
              <a:buNone/>
            </a:pPr>
            <a:r>
              <a:rPr lang="es-AR" sz="1700" noProof="0" dirty="0"/>
              <a:t>Por medio de esta investigación se busca abordar el fenómeno de incendios forestales en la Patagonia Andina a partir de un enfoque basado en la recopilación de datos. A continuación, se establecen los objetivos que darán lugar al desarrollo del trabajo, orientados tanto a la comprensión de los factores asociados a la aparición de focos de calor como al diseño de herramientas que permitan su detección y predicción.</a:t>
            </a:r>
          </a:p>
          <a:p>
            <a:pPr marL="342900" indent="-342900" algn="just">
              <a:lnSpc>
                <a:spcPct val="160000"/>
              </a:lnSpc>
              <a:buFont typeface="+mj-lt"/>
              <a:buAutoNum type="arabicPeriod"/>
            </a:pPr>
            <a:r>
              <a:rPr lang="es-AR" sz="1700" noProof="0" dirty="0"/>
              <a:t>Estudiar y comprender los incendios forestales de la Patagonia Andina por medio de datos derivados de instrumentos de teledetección y preprocesados con modelos robustos de consolidación.</a:t>
            </a:r>
          </a:p>
          <a:p>
            <a:pPr marL="342900" indent="-342900" algn="just">
              <a:lnSpc>
                <a:spcPct val="160000"/>
              </a:lnSpc>
              <a:buFont typeface="+mj-lt"/>
              <a:buAutoNum type="arabicPeriod"/>
            </a:pPr>
            <a:r>
              <a:rPr lang="es-AR" sz="1700" noProof="0" dirty="0"/>
              <a:t>Recopilar y sistematizar la información necesaria y disponible para el desarrollo del proyecto, incluyendo datos satelitales, climatológicos y ambientales.</a:t>
            </a:r>
          </a:p>
          <a:p>
            <a:pPr marL="342900" indent="-342900" algn="just">
              <a:lnSpc>
                <a:spcPct val="160000"/>
              </a:lnSpc>
              <a:buFont typeface="+mj-lt"/>
              <a:buAutoNum type="arabicPeriod"/>
            </a:pPr>
            <a:r>
              <a:rPr lang="es-AR" sz="1700" noProof="0" dirty="0"/>
              <a:t>Realizar la limpieza y procesamiento de los datos recopilados para su consolidación.</a:t>
            </a:r>
          </a:p>
          <a:p>
            <a:pPr marL="342900" indent="-342900" algn="just">
              <a:lnSpc>
                <a:spcPct val="160000"/>
              </a:lnSpc>
              <a:buFont typeface="+mj-lt"/>
              <a:buAutoNum type="arabicPeriod"/>
            </a:pPr>
            <a:r>
              <a:rPr lang="es-AR" sz="1700" noProof="0" dirty="0"/>
              <a:t>Realizar un análisis exploratorio para identificar patrones y correlaciones entre las variables estudiadas y la ocurrencia de incendios.</a:t>
            </a:r>
          </a:p>
          <a:p>
            <a:pPr marL="342900" indent="-342900" algn="just">
              <a:lnSpc>
                <a:spcPct val="160000"/>
              </a:lnSpc>
              <a:buFont typeface="+mj-lt"/>
              <a:buAutoNum type="arabicPeriod"/>
            </a:pPr>
            <a:r>
              <a:rPr lang="es-AR" sz="1700" noProof="0" dirty="0"/>
              <a:t>Implementar modelos de Machine </a:t>
            </a:r>
            <a:r>
              <a:rPr lang="es-AR" sz="1700" noProof="0" dirty="0" err="1"/>
              <a:t>Learning</a:t>
            </a:r>
            <a:r>
              <a:rPr lang="es-AR" sz="1700" noProof="0" dirty="0"/>
              <a:t> que permitan predecir la probabilidad de nuevos focos en una región específica.</a:t>
            </a:r>
          </a:p>
          <a:p>
            <a:pPr marL="342900" indent="-342900" algn="just">
              <a:lnSpc>
                <a:spcPct val="160000"/>
              </a:lnSpc>
              <a:buFont typeface="+mj-lt"/>
              <a:buAutoNum type="arabicPeriod"/>
            </a:pPr>
            <a:r>
              <a:rPr lang="es-AR" sz="1700" noProof="0" dirty="0"/>
              <a:t>Evaluar la efectividad de los modelos desarrollados mediante la comparación de sus predicciones con datos históricos de incendios.</a:t>
            </a:r>
          </a:p>
          <a:p>
            <a:pPr marL="342900" indent="-342900" algn="just">
              <a:lnSpc>
                <a:spcPct val="150000"/>
              </a:lnSpc>
              <a:buFont typeface="+mj-lt"/>
              <a:buAutoNum type="arabicPeriod"/>
            </a:pPr>
            <a:endParaRPr lang="es-AR" noProof="0" dirty="0"/>
          </a:p>
          <a:p>
            <a:pPr marL="342900" indent="-342900" algn="just">
              <a:lnSpc>
                <a:spcPct val="150000"/>
              </a:lnSpc>
              <a:buFont typeface="+mj-lt"/>
              <a:buAutoNum type="arabicPeriod"/>
            </a:pPr>
            <a:endParaRPr lang="es-AR" sz="1600" noProof="0" dirty="0"/>
          </a:p>
          <a:p>
            <a:pPr marL="0" indent="0" algn="just">
              <a:lnSpc>
                <a:spcPct val="150000"/>
              </a:lnSpc>
              <a:buNone/>
            </a:pPr>
            <a:endParaRPr lang="es-AR" sz="1600" noProof="0" dirty="0"/>
          </a:p>
          <a:p>
            <a:endParaRPr lang="es-AR" noProof="0" dirty="0"/>
          </a:p>
        </p:txBody>
      </p:sp>
    </p:spTree>
    <p:extLst>
      <p:ext uri="{BB962C8B-B14F-4D97-AF65-F5344CB8AC3E}">
        <p14:creationId xmlns:p14="http://schemas.microsoft.com/office/powerpoint/2010/main" val="1236893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861FF-F7A5-DF4A-123B-5766A45ECE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DAB1E2-4EE5-7C84-25C7-876A9296C8EC}"/>
              </a:ext>
            </a:extLst>
          </p:cNvPr>
          <p:cNvSpPr>
            <a:spLocks noGrp="1"/>
          </p:cNvSpPr>
          <p:nvPr>
            <p:ph type="title"/>
          </p:nvPr>
        </p:nvSpPr>
        <p:spPr>
          <a:xfrm>
            <a:off x="219358" y="170098"/>
            <a:ext cx="4215384" cy="500462"/>
          </a:xfrm>
        </p:spPr>
        <p:txBody>
          <a:bodyPr anchor="t">
            <a:normAutofit fontScale="90000"/>
          </a:bodyPr>
          <a:lstStyle/>
          <a:p>
            <a:r>
              <a:rPr lang="es-AR" noProof="0" dirty="0"/>
              <a:t>Antecedentes</a:t>
            </a:r>
          </a:p>
        </p:txBody>
      </p:sp>
      <p:sp>
        <p:nvSpPr>
          <p:cNvPr id="4" name="Marcador de contenido 3">
            <a:extLst>
              <a:ext uri="{FF2B5EF4-FFF2-40B4-BE49-F238E27FC236}">
                <a16:creationId xmlns:a16="http://schemas.microsoft.com/office/drawing/2014/main" id="{4B7C05F9-27CC-03A8-D5A7-E260399331BA}"/>
              </a:ext>
            </a:extLst>
          </p:cNvPr>
          <p:cNvSpPr>
            <a:spLocks noGrp="1"/>
          </p:cNvSpPr>
          <p:nvPr>
            <p:ph sz="quarter" idx="13"/>
          </p:nvPr>
        </p:nvSpPr>
        <p:spPr>
          <a:xfrm>
            <a:off x="219358" y="640080"/>
            <a:ext cx="11753284" cy="2093288"/>
          </a:xfrm>
        </p:spPr>
        <p:txBody>
          <a:bodyPr>
            <a:normAutofit/>
          </a:bodyPr>
          <a:lstStyle/>
          <a:p>
            <a:pPr marL="0" indent="0" algn="just">
              <a:lnSpc>
                <a:spcPct val="150000"/>
              </a:lnSpc>
              <a:buNone/>
            </a:pPr>
            <a:r>
              <a:rPr lang="es-AR" sz="1600" noProof="0" dirty="0"/>
              <a:t>Un trabajo destacado en la región latinoamericana es el trabajo de </a:t>
            </a:r>
            <a:r>
              <a:rPr lang="es-AR" sz="1600" b="1" noProof="0" dirty="0"/>
              <a:t>Anzola et al. (2024)</a:t>
            </a:r>
            <a:r>
              <a:rPr lang="es-AR" sz="1600" noProof="0" dirty="0"/>
              <a:t>, en el que desarrollaron un modelo de estimación para la prevención de incendios forestales en Colombia. Este estudio empleó una combinación de </a:t>
            </a:r>
            <a:r>
              <a:rPr lang="es-AR" sz="1600" b="1" noProof="0" dirty="0"/>
              <a:t>datos históricos, meteorológicos, topográficos y socioeconómicos como entrada para </a:t>
            </a:r>
            <a:r>
              <a:rPr lang="es-AR" sz="1600" noProof="0" dirty="0"/>
              <a:t>modelos predictivos de Machine </a:t>
            </a:r>
            <a:r>
              <a:rPr lang="es-AR" sz="1600" noProof="0" dirty="0" err="1"/>
              <a:t>Learning</a:t>
            </a:r>
            <a:r>
              <a:rPr lang="es-AR" sz="1600" noProof="0" dirty="0"/>
              <a:t>, específicamente </a:t>
            </a:r>
            <a:r>
              <a:rPr lang="es-AR" sz="1600" b="1" noProof="0" dirty="0" err="1"/>
              <a:t>Random</a:t>
            </a:r>
            <a:r>
              <a:rPr lang="es-AR" sz="1600" b="1" noProof="0" dirty="0"/>
              <a:t> Forest </a:t>
            </a:r>
            <a:r>
              <a:rPr lang="es-AR" sz="1600" noProof="0" dirty="0"/>
              <a:t>y </a:t>
            </a:r>
            <a:r>
              <a:rPr lang="es-AR" sz="1600" b="1" noProof="0" dirty="0"/>
              <a:t>Gaussian </a:t>
            </a:r>
            <a:r>
              <a:rPr lang="es-AR" sz="1600" b="1" noProof="0" dirty="0" err="1"/>
              <a:t>Naive</a:t>
            </a:r>
            <a:r>
              <a:rPr lang="es-AR" sz="1600" b="1" noProof="0" dirty="0"/>
              <a:t> Bayes</a:t>
            </a:r>
            <a:r>
              <a:rPr lang="es-AR" sz="1600" noProof="0" dirty="0"/>
              <a:t>, con el objetivo de evaluar su eficacia y proporcionar un marco valioso para investigaciones futuras.</a:t>
            </a:r>
          </a:p>
        </p:txBody>
      </p:sp>
      <p:sp>
        <p:nvSpPr>
          <p:cNvPr id="6" name="Marcador de contenido 3">
            <a:extLst>
              <a:ext uri="{FF2B5EF4-FFF2-40B4-BE49-F238E27FC236}">
                <a16:creationId xmlns:a16="http://schemas.microsoft.com/office/drawing/2014/main" id="{E743F239-8741-647A-130B-7F427234658F}"/>
              </a:ext>
            </a:extLst>
          </p:cNvPr>
          <p:cNvSpPr txBox="1">
            <a:spLocks/>
          </p:cNvSpPr>
          <p:nvPr/>
        </p:nvSpPr>
        <p:spPr>
          <a:xfrm>
            <a:off x="216163" y="4546436"/>
            <a:ext cx="11753284" cy="167148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lang="en-US" sz="1800" kern="1200" dirty="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lang="en-US" sz="1600" kern="1200" dirty="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lang="en-US" sz="1400" kern="1200" dirty="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lang="en-US" sz="1400" kern="1200" dirty="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lang="en-US"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s-AR" sz="1600" noProof="0" dirty="0"/>
              <a:t>Los </a:t>
            </a:r>
            <a:r>
              <a:rPr lang="es-AR" sz="1600" noProof="0" dirty="0" err="1"/>
              <a:t>articulos</a:t>
            </a:r>
            <a:r>
              <a:rPr lang="es-AR" sz="1600" noProof="0" dirty="0"/>
              <a:t> </a:t>
            </a:r>
            <a:r>
              <a:rPr lang="es-AR" sz="1600" b="1" noProof="0" dirty="0"/>
              <a:t>Jain et al. (2020) y Sengupta y Woodford (2025) </a:t>
            </a:r>
            <a:r>
              <a:rPr lang="es-AR" sz="1600" noProof="0" dirty="0"/>
              <a:t>presentan una revisión de modelos de Machine </a:t>
            </a:r>
            <a:r>
              <a:rPr lang="es-AR" sz="1600" noProof="0" dirty="0" err="1"/>
              <a:t>Learning</a:t>
            </a:r>
            <a:r>
              <a:rPr lang="es-AR" sz="1600" noProof="0" dirty="0"/>
              <a:t> con aplicación en el tema. El primero de ellos hace </a:t>
            </a:r>
            <a:r>
              <a:rPr lang="es-AR" sz="1600" b="1" noProof="0" dirty="0"/>
              <a:t>un análisis comparativo entre diferentes modelos de ML </a:t>
            </a:r>
            <a:r>
              <a:rPr lang="es-AR" sz="1600" noProof="0" dirty="0"/>
              <a:t>y brinda ejemplos de aplicación en distintos objetivos relacionados a la problemática mientras que el segundo brinda otro ejemplo de </a:t>
            </a:r>
            <a:r>
              <a:rPr lang="es-AR" sz="1600" b="1" noProof="0" dirty="0"/>
              <a:t>implementación y rendimiento en modelos de ML</a:t>
            </a:r>
            <a:r>
              <a:rPr lang="es-AR" sz="1600" noProof="0" dirty="0"/>
              <a:t> aplicados.</a:t>
            </a:r>
          </a:p>
        </p:txBody>
      </p:sp>
      <p:sp>
        <p:nvSpPr>
          <p:cNvPr id="7" name="Marcador de contenido 3">
            <a:extLst>
              <a:ext uri="{FF2B5EF4-FFF2-40B4-BE49-F238E27FC236}">
                <a16:creationId xmlns:a16="http://schemas.microsoft.com/office/drawing/2014/main" id="{6D759BD0-B90F-56F8-B1FA-0C3EE9AC0D7D}"/>
              </a:ext>
            </a:extLst>
          </p:cNvPr>
          <p:cNvSpPr txBox="1">
            <a:spLocks/>
          </p:cNvSpPr>
          <p:nvPr/>
        </p:nvSpPr>
        <p:spPr>
          <a:xfrm>
            <a:off x="216163" y="2733368"/>
            <a:ext cx="11753284" cy="167148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lang="en-US" sz="1800" kern="1200" dirty="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lang="en-US" sz="1600" kern="1200" dirty="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lang="en-US" sz="1400" kern="1200" dirty="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lang="en-US" sz="1400" kern="1200" dirty="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lang="en-US"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s-AR" sz="1600" noProof="0" dirty="0"/>
              <a:t>En el ámbito de las arquitecturas de </a:t>
            </a:r>
            <a:r>
              <a:rPr lang="es-AR" sz="1600" noProof="0" dirty="0" err="1"/>
              <a:t>deep</a:t>
            </a:r>
            <a:r>
              <a:rPr lang="es-AR" sz="1600" noProof="0" dirty="0"/>
              <a:t> </a:t>
            </a:r>
            <a:r>
              <a:rPr lang="es-AR" sz="1600" noProof="0" dirty="0" err="1"/>
              <a:t>learning</a:t>
            </a:r>
            <a:r>
              <a:rPr lang="es-AR" sz="1600" noProof="0" dirty="0"/>
              <a:t>, </a:t>
            </a:r>
            <a:r>
              <a:rPr lang="es-AR" sz="1600" b="1" noProof="0" dirty="0" err="1"/>
              <a:t>Liang</a:t>
            </a:r>
            <a:r>
              <a:rPr lang="es-AR" sz="1600" b="1" noProof="0" dirty="0"/>
              <a:t> et al. (2019) </a:t>
            </a:r>
            <a:r>
              <a:rPr lang="es-AR" sz="1600" noProof="0" dirty="0"/>
              <a:t>demostraron la aplicabilidad de las </a:t>
            </a:r>
            <a:r>
              <a:rPr lang="es-AR" sz="1600" b="1" noProof="0" dirty="0"/>
              <a:t>redes neuronales recurrentes (RNN)</a:t>
            </a:r>
            <a:r>
              <a:rPr lang="es-AR" sz="1600" noProof="0" dirty="0"/>
              <a:t> para predecir la escala de los incendios. Utilizando una variante conocida como </a:t>
            </a:r>
            <a:r>
              <a:rPr lang="es-AR" sz="1600" b="1" noProof="0" dirty="0"/>
              <a:t>LSTM (Long Short-</a:t>
            </a:r>
            <a:r>
              <a:rPr lang="es-AR" sz="1600" b="1" noProof="0" dirty="0" err="1"/>
              <a:t>Term</a:t>
            </a:r>
            <a:r>
              <a:rPr lang="es-AR" sz="1600" b="1" noProof="0" dirty="0"/>
              <a:t> </a:t>
            </a:r>
            <a:r>
              <a:rPr lang="es-AR" sz="1600" b="1" noProof="0" dirty="0" err="1"/>
              <a:t>Memory</a:t>
            </a:r>
            <a:r>
              <a:rPr lang="es-AR" sz="1600" b="1" noProof="0" dirty="0"/>
              <a:t>) y alimentándola con registros históricos de incendios </a:t>
            </a:r>
            <a:r>
              <a:rPr lang="es-AR" sz="1600" noProof="0" dirty="0"/>
              <a:t>(similares a los proporcionados por sistemas como FIRMS de la NASA) junto con 11 variables meteorológicas, su modelo validó la factibilidad de esta aproximación.</a:t>
            </a:r>
          </a:p>
        </p:txBody>
      </p:sp>
    </p:spTree>
    <p:extLst>
      <p:ext uri="{BB962C8B-B14F-4D97-AF65-F5344CB8AC3E}">
        <p14:creationId xmlns:p14="http://schemas.microsoft.com/office/powerpoint/2010/main" val="165365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E37CD-9597-122F-36EB-028681E25F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5CB550-5E4E-6013-2229-86BF033170EB}"/>
              </a:ext>
            </a:extLst>
          </p:cNvPr>
          <p:cNvSpPr>
            <a:spLocks noGrp="1"/>
          </p:cNvSpPr>
          <p:nvPr>
            <p:ph type="title"/>
          </p:nvPr>
        </p:nvSpPr>
        <p:spPr>
          <a:xfrm>
            <a:off x="219358" y="170098"/>
            <a:ext cx="4215384" cy="500462"/>
          </a:xfrm>
        </p:spPr>
        <p:txBody>
          <a:bodyPr anchor="t">
            <a:normAutofit fontScale="90000"/>
          </a:bodyPr>
          <a:lstStyle/>
          <a:p>
            <a:r>
              <a:rPr lang="es-AR" noProof="0" dirty="0"/>
              <a:t>Antecedentes</a:t>
            </a:r>
          </a:p>
        </p:txBody>
      </p:sp>
      <p:sp>
        <p:nvSpPr>
          <p:cNvPr id="4" name="Marcador de contenido 3">
            <a:extLst>
              <a:ext uri="{FF2B5EF4-FFF2-40B4-BE49-F238E27FC236}">
                <a16:creationId xmlns:a16="http://schemas.microsoft.com/office/drawing/2014/main" id="{A6745CD6-1BEC-4301-985A-6124D497AFC4}"/>
              </a:ext>
            </a:extLst>
          </p:cNvPr>
          <p:cNvSpPr>
            <a:spLocks noGrp="1"/>
          </p:cNvSpPr>
          <p:nvPr>
            <p:ph sz="quarter" idx="13"/>
          </p:nvPr>
        </p:nvSpPr>
        <p:spPr>
          <a:xfrm>
            <a:off x="219358" y="640080"/>
            <a:ext cx="11753284" cy="2093288"/>
          </a:xfrm>
        </p:spPr>
        <p:txBody>
          <a:bodyPr>
            <a:normAutofit/>
          </a:bodyPr>
          <a:lstStyle/>
          <a:p>
            <a:pPr marL="0" indent="0" algn="just">
              <a:lnSpc>
                <a:spcPct val="150000"/>
              </a:lnSpc>
              <a:buNone/>
            </a:pPr>
            <a:r>
              <a:rPr lang="es-AR" sz="1600" noProof="0" dirty="0"/>
              <a:t>Finalmente, a nivel local, estudios como los de </a:t>
            </a:r>
            <a:r>
              <a:rPr lang="es-AR" sz="1600" b="1" noProof="0" dirty="0"/>
              <a:t>Medel (2014) y Martínez Saucedo e Inchausti (2023) </a:t>
            </a:r>
            <a:r>
              <a:rPr lang="es-AR" sz="1600" noProof="0" dirty="0"/>
              <a:t>ejemplifican el desarrollo de </a:t>
            </a:r>
            <a:r>
              <a:rPr lang="es-AR" sz="1600" b="1" noProof="0" dirty="0"/>
              <a:t>modelos predictivos dentro del territorio nacional argentino, en Córdoba y Pinamar</a:t>
            </a:r>
            <a:r>
              <a:rPr lang="es-AR" sz="1600" noProof="0" dirty="0"/>
              <a:t>, respectivamente. Si bien son trabajos de alcance acotado, comparten el espíritu central de esta investigación: aprovechar el poder del Machine </a:t>
            </a:r>
            <a:r>
              <a:rPr lang="es-AR" sz="1600" noProof="0" dirty="0" err="1"/>
              <a:t>Learning</a:t>
            </a:r>
            <a:r>
              <a:rPr lang="es-AR" sz="1600" noProof="0" dirty="0"/>
              <a:t> para predecir y gestionar el riesgo de incendios forestales.</a:t>
            </a:r>
          </a:p>
        </p:txBody>
      </p:sp>
    </p:spTree>
    <p:extLst>
      <p:ext uri="{BB962C8B-B14F-4D97-AF65-F5344CB8AC3E}">
        <p14:creationId xmlns:p14="http://schemas.microsoft.com/office/powerpoint/2010/main" val="3492318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3094B2-8852-1248-18C6-22DF31E37212}"/>
              </a:ext>
            </a:extLst>
          </p:cNvPr>
          <p:cNvSpPr>
            <a:spLocks noGrp="1"/>
          </p:cNvSpPr>
          <p:nvPr>
            <p:ph type="ctrTitle"/>
          </p:nvPr>
        </p:nvSpPr>
        <p:spPr>
          <a:xfrm>
            <a:off x="612648" y="502920"/>
            <a:ext cx="5852160" cy="2953512"/>
          </a:xfrm>
        </p:spPr>
        <p:txBody>
          <a:bodyPr anchor="t">
            <a:normAutofit/>
          </a:bodyPr>
          <a:lstStyle/>
          <a:p>
            <a:r>
              <a:rPr lang="es-AR" noProof="0" dirty="0"/>
              <a:t>Datos</a:t>
            </a:r>
          </a:p>
        </p:txBody>
      </p:sp>
      <p:sp>
        <p:nvSpPr>
          <p:cNvPr id="14" name="Subtitle 2">
            <a:extLst>
              <a:ext uri="{FF2B5EF4-FFF2-40B4-BE49-F238E27FC236}">
                <a16:creationId xmlns:a16="http://schemas.microsoft.com/office/drawing/2014/main" id="{6722B269-D6E4-0524-BE44-D29C4E10E452}"/>
              </a:ext>
            </a:extLst>
          </p:cNvPr>
          <p:cNvSpPr>
            <a:spLocks noGrp="1"/>
          </p:cNvSpPr>
          <p:nvPr>
            <p:ph type="subTitle" idx="1"/>
          </p:nvPr>
        </p:nvSpPr>
        <p:spPr>
          <a:xfrm>
            <a:off x="612648" y="3456432"/>
            <a:ext cx="4942578" cy="2679192"/>
          </a:xfrm>
        </p:spPr>
        <p:txBody>
          <a:bodyPr>
            <a:normAutofit/>
          </a:bodyPr>
          <a:lstStyle/>
          <a:p>
            <a:r>
              <a:rPr lang="es-AR" sz="2400" b="1" noProof="0" dirty="0" err="1"/>
              <a:t>Area</a:t>
            </a:r>
            <a:r>
              <a:rPr lang="es-AR" sz="2400" b="1" noProof="0" dirty="0"/>
              <a:t> de estudio: </a:t>
            </a:r>
          </a:p>
          <a:p>
            <a:pPr lvl="1"/>
            <a:r>
              <a:rPr lang="es-AR" noProof="0" dirty="0" err="1">
                <a:solidFill>
                  <a:schemeClr val="bg1"/>
                </a:solidFill>
              </a:rPr>
              <a:t>Extención</a:t>
            </a:r>
            <a:r>
              <a:rPr lang="es-AR" noProof="0" dirty="0">
                <a:solidFill>
                  <a:schemeClr val="bg1"/>
                </a:solidFill>
              </a:rPr>
              <a:t> longitudinal: -72,00° a -71,00°</a:t>
            </a:r>
          </a:p>
          <a:p>
            <a:pPr lvl="1"/>
            <a:r>
              <a:rPr lang="es-AR" noProof="0" dirty="0" err="1">
                <a:solidFill>
                  <a:schemeClr val="bg1"/>
                </a:solidFill>
              </a:rPr>
              <a:t>Extención</a:t>
            </a:r>
            <a:r>
              <a:rPr lang="es-AR" noProof="0" dirty="0">
                <a:solidFill>
                  <a:schemeClr val="bg1"/>
                </a:solidFill>
              </a:rPr>
              <a:t> latitudinal: -42,00° a -41,00°</a:t>
            </a:r>
          </a:p>
          <a:p>
            <a:pPr lvl="1"/>
            <a:r>
              <a:rPr lang="es-AR" noProof="0" dirty="0">
                <a:solidFill>
                  <a:schemeClr val="bg1"/>
                </a:solidFill>
              </a:rPr>
              <a:t>Área total: ~ 9200,0 km² (111kms x 83kms)</a:t>
            </a:r>
          </a:p>
        </p:txBody>
      </p:sp>
      <p:pic>
        <p:nvPicPr>
          <p:cNvPr id="5" name="Marcador de posición de imagen 4">
            <a:extLst>
              <a:ext uri="{FF2B5EF4-FFF2-40B4-BE49-F238E27FC236}">
                <a16:creationId xmlns:a16="http://schemas.microsoft.com/office/drawing/2014/main" id="{127C04C9-3BF6-C38E-93F2-3780A0B7180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6632" r="6632"/>
          <a:stretch/>
        </p:blipFill>
        <p:spPr>
          <a:xfrm>
            <a:off x="7534656" y="213"/>
            <a:ext cx="4654296" cy="6857573"/>
          </a:xfrm>
          <a:noFill/>
        </p:spPr>
      </p:pic>
    </p:spTree>
    <p:extLst>
      <p:ext uri="{BB962C8B-B14F-4D97-AF65-F5344CB8AC3E}">
        <p14:creationId xmlns:p14="http://schemas.microsoft.com/office/powerpoint/2010/main" val="3992221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46DE4-AEC5-6649-F9FC-1DDF58812C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3A9C41-2ED4-4FE0-3936-BA2E6B9C74AB}"/>
              </a:ext>
            </a:extLst>
          </p:cNvPr>
          <p:cNvSpPr>
            <a:spLocks noGrp="1"/>
          </p:cNvSpPr>
          <p:nvPr>
            <p:ph type="title"/>
          </p:nvPr>
        </p:nvSpPr>
        <p:spPr>
          <a:xfrm>
            <a:off x="219358" y="170098"/>
            <a:ext cx="4215384" cy="500462"/>
          </a:xfrm>
        </p:spPr>
        <p:txBody>
          <a:bodyPr anchor="t">
            <a:normAutofit fontScale="90000"/>
          </a:bodyPr>
          <a:lstStyle/>
          <a:p>
            <a:r>
              <a:rPr lang="es-AR" noProof="0" dirty="0"/>
              <a:t>Adquisición</a:t>
            </a:r>
          </a:p>
        </p:txBody>
      </p:sp>
      <p:sp>
        <p:nvSpPr>
          <p:cNvPr id="4" name="Marcador de contenido 3">
            <a:extLst>
              <a:ext uri="{FF2B5EF4-FFF2-40B4-BE49-F238E27FC236}">
                <a16:creationId xmlns:a16="http://schemas.microsoft.com/office/drawing/2014/main" id="{F2976714-2DAB-3DAA-4F27-B8DF32BBB7A9}"/>
              </a:ext>
            </a:extLst>
          </p:cNvPr>
          <p:cNvSpPr>
            <a:spLocks noGrp="1"/>
          </p:cNvSpPr>
          <p:nvPr>
            <p:ph sz="quarter" idx="13"/>
          </p:nvPr>
        </p:nvSpPr>
        <p:spPr>
          <a:xfrm>
            <a:off x="219358" y="640080"/>
            <a:ext cx="11753284" cy="2093288"/>
          </a:xfrm>
        </p:spPr>
        <p:txBody>
          <a:bodyPr>
            <a:normAutofit/>
          </a:bodyPr>
          <a:lstStyle/>
          <a:p>
            <a:pPr marL="0" indent="0" algn="just">
              <a:lnSpc>
                <a:spcPct val="150000"/>
              </a:lnSpc>
              <a:buNone/>
            </a:pPr>
            <a:r>
              <a:rPr lang="es-AR" sz="1600" noProof="0" dirty="0"/>
              <a:t>La adquisición de los datos se realiza mediante el uso de las </a:t>
            </a:r>
            <a:r>
              <a:rPr lang="es-AR" sz="1600" b="1" noProof="0" dirty="0"/>
              <a:t>Interfaces de Programación de Aplicaciones (API) </a:t>
            </a:r>
            <a:r>
              <a:rPr lang="es-AR" sz="1600" noProof="0" dirty="0"/>
              <a:t>provistas por los administradores de la información. Estas interfaces funcionan como piezas de código que permiten a dos aplicaciones comunicarse entre sí para compartir información y funcionalidades.</a:t>
            </a:r>
          </a:p>
          <a:p>
            <a:pPr marL="0" indent="0" algn="just">
              <a:lnSpc>
                <a:spcPct val="150000"/>
              </a:lnSpc>
              <a:buNone/>
            </a:pPr>
            <a:r>
              <a:rPr lang="es-AR" sz="1600" noProof="0" dirty="0"/>
              <a:t>La consulta programática a las API representa la capa de ingesta de datos del proyecto, los cuales son posteriormente tratados para su armonización e integración en el conjunto de datos consolidado.</a:t>
            </a:r>
          </a:p>
        </p:txBody>
      </p:sp>
      <p:pic>
        <p:nvPicPr>
          <p:cNvPr id="9" name="Imagen 8">
            <a:extLst>
              <a:ext uri="{FF2B5EF4-FFF2-40B4-BE49-F238E27FC236}">
                <a16:creationId xmlns:a16="http://schemas.microsoft.com/office/drawing/2014/main" id="{E1E3032C-73AD-D5E6-F5F1-9C17DD19C8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8340" y="3203350"/>
            <a:ext cx="3328199" cy="2810950"/>
          </a:xfrm>
          <a:prstGeom prst="rect">
            <a:avLst/>
          </a:prstGeom>
        </p:spPr>
      </p:pic>
      <p:pic>
        <p:nvPicPr>
          <p:cNvPr id="1028" name="Picture 4" descr="Copernicus logo">
            <a:extLst>
              <a:ext uri="{FF2B5EF4-FFF2-40B4-BE49-F238E27FC236}">
                <a16:creationId xmlns:a16="http://schemas.microsoft.com/office/drawing/2014/main" id="{36E74F27-4147-84A7-80C1-8931BF672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667433"/>
            <a:ext cx="4415174" cy="2478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274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DC114-2C50-AD6D-B901-2965C7D0F3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85519F-22BB-BE11-B93A-622C7BBF835E}"/>
              </a:ext>
            </a:extLst>
          </p:cNvPr>
          <p:cNvSpPr>
            <a:spLocks noGrp="1"/>
          </p:cNvSpPr>
          <p:nvPr>
            <p:ph type="title"/>
          </p:nvPr>
        </p:nvSpPr>
        <p:spPr>
          <a:xfrm>
            <a:off x="219358" y="170098"/>
            <a:ext cx="4215384" cy="500462"/>
          </a:xfrm>
        </p:spPr>
        <p:txBody>
          <a:bodyPr anchor="t">
            <a:normAutofit fontScale="90000"/>
          </a:bodyPr>
          <a:lstStyle/>
          <a:p>
            <a:r>
              <a:rPr lang="es-AR" noProof="0" dirty="0"/>
              <a:t>Adquisición</a:t>
            </a:r>
          </a:p>
        </p:txBody>
      </p:sp>
      <p:sp>
        <p:nvSpPr>
          <p:cNvPr id="4" name="Marcador de contenido 3">
            <a:extLst>
              <a:ext uri="{FF2B5EF4-FFF2-40B4-BE49-F238E27FC236}">
                <a16:creationId xmlns:a16="http://schemas.microsoft.com/office/drawing/2014/main" id="{95645B8A-7533-802E-B658-5637AFB4786A}"/>
              </a:ext>
            </a:extLst>
          </p:cNvPr>
          <p:cNvSpPr>
            <a:spLocks noGrp="1"/>
          </p:cNvSpPr>
          <p:nvPr>
            <p:ph sz="quarter" idx="13"/>
          </p:nvPr>
        </p:nvSpPr>
        <p:spPr>
          <a:xfrm>
            <a:off x="219358" y="1530391"/>
            <a:ext cx="6053623" cy="3797218"/>
          </a:xfrm>
        </p:spPr>
        <p:txBody>
          <a:bodyPr>
            <a:normAutofit/>
          </a:bodyPr>
          <a:lstStyle/>
          <a:p>
            <a:pPr marL="0" indent="0" algn="just">
              <a:lnSpc>
                <a:spcPct val="150000"/>
              </a:lnSpc>
              <a:buNone/>
            </a:pPr>
            <a:r>
              <a:rPr lang="es-AR" sz="1600" noProof="0" dirty="0"/>
              <a:t>El </a:t>
            </a:r>
            <a:r>
              <a:rPr lang="es-AR" sz="1600" b="1" noProof="0" dirty="0"/>
              <a:t>Sistema de Información sobre Incendios para la Gestión de Recursos (FIRMS) </a:t>
            </a:r>
            <a:r>
              <a:rPr lang="es-AR" sz="1600" noProof="0" dirty="0"/>
              <a:t>distribuye datos de incendios activos en Casi Tiempo Real (NRT, por sus siglas en inglés) del </a:t>
            </a:r>
            <a:r>
              <a:rPr lang="es-AR" sz="1600" b="1" noProof="0" dirty="0"/>
              <a:t>Espectrómetro de Imágenes de Resolución Moderada (MODIS) </a:t>
            </a:r>
            <a:r>
              <a:rPr lang="es-AR" sz="1600" noProof="0" dirty="0"/>
              <a:t>a bordo de los satélites Aqua y Terra, y del </a:t>
            </a:r>
            <a:r>
              <a:rPr lang="es-AR" sz="1600" b="1" noProof="0" dirty="0"/>
              <a:t>Conjunto de Radiómetros de Imágenes en el Infrarrojo Visible (VIIRS)</a:t>
            </a:r>
            <a:r>
              <a:rPr lang="es-AR" sz="1600" noProof="0" dirty="0"/>
              <a:t> a bordo de S-NPP, NOAA 20 y NOAA 21 (conocidos formalmente como JPSS-1 y JPSS-2). A nivel global, estos datos están disponibles en un plazo de 3 horas desde la observación del satélite, pero para Estados Unidos y Canadá las detecciones de incendios activos están disponibles en tiempo real</a:t>
            </a:r>
          </a:p>
        </p:txBody>
      </p:sp>
      <p:pic>
        <p:nvPicPr>
          <p:cNvPr id="9" name="Imagen 8">
            <a:extLst>
              <a:ext uri="{FF2B5EF4-FFF2-40B4-BE49-F238E27FC236}">
                <a16:creationId xmlns:a16="http://schemas.microsoft.com/office/drawing/2014/main" id="{F2CAC4E8-A1F1-60A5-97C1-2D1F0D96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3334" y="2023525"/>
            <a:ext cx="3328199" cy="2810950"/>
          </a:xfrm>
          <a:prstGeom prst="rect">
            <a:avLst/>
          </a:prstGeom>
        </p:spPr>
      </p:pic>
    </p:spTree>
    <p:extLst>
      <p:ext uri="{BB962C8B-B14F-4D97-AF65-F5344CB8AC3E}">
        <p14:creationId xmlns:p14="http://schemas.microsoft.com/office/powerpoint/2010/main" val="1627180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A1C93-A9E4-76A8-E214-F79F23852B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3194F8-3A04-F249-A464-26FB98CA2603}"/>
              </a:ext>
            </a:extLst>
          </p:cNvPr>
          <p:cNvSpPr>
            <a:spLocks noGrp="1"/>
          </p:cNvSpPr>
          <p:nvPr>
            <p:ph type="title"/>
          </p:nvPr>
        </p:nvSpPr>
        <p:spPr>
          <a:xfrm>
            <a:off x="219358" y="170098"/>
            <a:ext cx="4215384" cy="500462"/>
          </a:xfrm>
        </p:spPr>
        <p:txBody>
          <a:bodyPr anchor="t">
            <a:normAutofit fontScale="90000"/>
          </a:bodyPr>
          <a:lstStyle/>
          <a:p>
            <a:r>
              <a:rPr lang="es-AR" noProof="0" dirty="0"/>
              <a:t>Adquisición</a:t>
            </a:r>
          </a:p>
        </p:txBody>
      </p:sp>
      <p:sp>
        <p:nvSpPr>
          <p:cNvPr id="4" name="Marcador de contenido 3">
            <a:extLst>
              <a:ext uri="{FF2B5EF4-FFF2-40B4-BE49-F238E27FC236}">
                <a16:creationId xmlns:a16="http://schemas.microsoft.com/office/drawing/2014/main" id="{781CF302-9B6D-567E-2324-4CAC2D72FCC5}"/>
              </a:ext>
            </a:extLst>
          </p:cNvPr>
          <p:cNvSpPr>
            <a:spLocks noGrp="1"/>
          </p:cNvSpPr>
          <p:nvPr>
            <p:ph sz="quarter" idx="13"/>
          </p:nvPr>
        </p:nvSpPr>
        <p:spPr>
          <a:xfrm>
            <a:off x="219358" y="897684"/>
            <a:ext cx="5522681" cy="5396927"/>
          </a:xfrm>
        </p:spPr>
        <p:txBody>
          <a:bodyPr>
            <a:normAutofit/>
          </a:bodyPr>
          <a:lstStyle/>
          <a:p>
            <a:pPr marL="0" indent="0" algn="just">
              <a:lnSpc>
                <a:spcPct val="150000"/>
              </a:lnSpc>
              <a:buNone/>
            </a:pPr>
            <a:r>
              <a:rPr lang="es-AR" sz="1600" b="1" noProof="0" dirty="0" err="1"/>
              <a:t>Copernicus</a:t>
            </a:r>
            <a:r>
              <a:rPr lang="es-AR" sz="1600" b="1" noProof="0" dirty="0"/>
              <a:t> es el proyecto de observación de la Tierra del programa espacial de la Unión Europea</a:t>
            </a:r>
            <a:r>
              <a:rPr lang="es-AR" sz="1600" noProof="0" dirty="0"/>
              <a:t>, que estudia nuestro planeta y su medio ambiente para beneficio de todos los ciudadanos. Ofrece servicios de información que se basan en la observación terrestre por satélite y en datos </a:t>
            </a:r>
            <a:r>
              <a:rPr lang="es-AR" sz="1600" noProof="0" dirty="0" err="1"/>
              <a:t>in-situ</a:t>
            </a:r>
            <a:r>
              <a:rPr lang="es-AR" sz="1600" noProof="0" dirty="0"/>
              <a:t> (es decir, datos que no provienen del espacio).</a:t>
            </a:r>
          </a:p>
          <a:p>
            <a:pPr marL="0" indent="0" algn="just">
              <a:lnSpc>
                <a:spcPct val="150000"/>
              </a:lnSpc>
              <a:buNone/>
            </a:pPr>
            <a:r>
              <a:rPr lang="es-AR" sz="1600" noProof="0" dirty="0"/>
              <a:t>La Comisión Europea gestiona el programa, el cual se implementa en </a:t>
            </a:r>
            <a:r>
              <a:rPr lang="es-AR" sz="1600" b="1" noProof="0" dirty="0"/>
              <a:t>colaboración</a:t>
            </a:r>
            <a:r>
              <a:rPr lang="es-AR" sz="1600" noProof="0" dirty="0"/>
              <a:t> con los Estados miembros, la Agencia Espacial Europea (ESA), la Organización Europea para la Explotación de Satélites Meteorológicos (EUMETSAT), el Centro Europeo de Previsiones Meteorológicas a Plazo Medio (ECMWF), Agencias de la UE y Mercator </a:t>
            </a:r>
            <a:r>
              <a:rPr lang="es-AR" sz="1600" noProof="0" dirty="0" err="1"/>
              <a:t>Océan</a:t>
            </a:r>
            <a:r>
              <a:rPr lang="es-AR" sz="1600" noProof="0" dirty="0"/>
              <a:t>, la Agencia Europea de Medio Ambiente (AEMA) y el Centro Común de Investigación (JRC).</a:t>
            </a:r>
          </a:p>
        </p:txBody>
      </p:sp>
      <p:pic>
        <p:nvPicPr>
          <p:cNvPr id="1028" name="Picture 4" descr="Copernicus logo">
            <a:extLst>
              <a:ext uri="{FF2B5EF4-FFF2-40B4-BE49-F238E27FC236}">
                <a16:creationId xmlns:a16="http://schemas.microsoft.com/office/drawing/2014/main" id="{9E6E046B-BBB8-6FD1-2994-FA653DC859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2916" y="2189597"/>
            <a:ext cx="4415174" cy="2478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706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A4C7C-7470-E3B0-509B-2E9E451274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96BCF2-F1D4-2CDD-CEE3-2CFEC31AAC7C}"/>
              </a:ext>
            </a:extLst>
          </p:cNvPr>
          <p:cNvSpPr>
            <a:spLocks noGrp="1"/>
          </p:cNvSpPr>
          <p:nvPr>
            <p:ph type="title"/>
          </p:nvPr>
        </p:nvSpPr>
        <p:spPr>
          <a:xfrm>
            <a:off x="219358" y="170098"/>
            <a:ext cx="4215384" cy="500462"/>
          </a:xfrm>
        </p:spPr>
        <p:txBody>
          <a:bodyPr anchor="t">
            <a:normAutofit fontScale="90000"/>
          </a:bodyPr>
          <a:lstStyle/>
          <a:p>
            <a:r>
              <a:rPr lang="es-AR" noProof="0" dirty="0"/>
              <a:t>Adquisición</a:t>
            </a:r>
          </a:p>
        </p:txBody>
      </p:sp>
      <p:sp>
        <p:nvSpPr>
          <p:cNvPr id="4" name="Marcador de contenido 3">
            <a:extLst>
              <a:ext uri="{FF2B5EF4-FFF2-40B4-BE49-F238E27FC236}">
                <a16:creationId xmlns:a16="http://schemas.microsoft.com/office/drawing/2014/main" id="{93915E70-9AF8-185D-55BC-72FF5A83E52C}"/>
              </a:ext>
            </a:extLst>
          </p:cNvPr>
          <p:cNvSpPr>
            <a:spLocks noGrp="1"/>
          </p:cNvSpPr>
          <p:nvPr>
            <p:ph sz="quarter" idx="13"/>
          </p:nvPr>
        </p:nvSpPr>
        <p:spPr>
          <a:xfrm>
            <a:off x="219358" y="640080"/>
            <a:ext cx="11753284" cy="2171946"/>
          </a:xfrm>
        </p:spPr>
        <p:txBody>
          <a:bodyPr>
            <a:normAutofit/>
          </a:bodyPr>
          <a:lstStyle/>
          <a:p>
            <a:pPr marL="0" indent="0" algn="just">
              <a:lnSpc>
                <a:spcPct val="150000"/>
              </a:lnSpc>
              <a:buNone/>
            </a:pPr>
            <a:r>
              <a:rPr lang="es-AR" sz="1600" noProof="0" dirty="0"/>
              <a:t>Las interfaces desarrolladas para la adquisición de datos de ambas fuentes fueron diseñadas de modo que sean </a:t>
            </a:r>
            <a:r>
              <a:rPr lang="es-AR" sz="1600" noProof="0" dirty="0" err="1"/>
              <a:t>felxibles</a:t>
            </a:r>
            <a:r>
              <a:rPr lang="es-AR" sz="1600" noProof="0" dirty="0"/>
              <a:t>, por medio de la sobrecarga de parámetros en sus funciones permiten obtener la información de las fuentes según:</a:t>
            </a:r>
          </a:p>
          <a:p>
            <a:pPr lvl="1" algn="just">
              <a:lnSpc>
                <a:spcPct val="150000"/>
              </a:lnSpc>
            </a:pPr>
            <a:r>
              <a:rPr lang="es-AR" noProof="0" dirty="0"/>
              <a:t>Área geográfica delimitada por coordenadas (O, S, E, N).</a:t>
            </a:r>
          </a:p>
          <a:p>
            <a:pPr lvl="1" algn="just">
              <a:lnSpc>
                <a:spcPct val="150000"/>
              </a:lnSpc>
            </a:pPr>
            <a:r>
              <a:rPr lang="es-AR" noProof="0" dirty="0"/>
              <a:t>Ventana temporal.</a:t>
            </a:r>
          </a:p>
          <a:p>
            <a:pPr lvl="1" algn="just">
              <a:lnSpc>
                <a:spcPct val="150000"/>
              </a:lnSpc>
            </a:pPr>
            <a:r>
              <a:rPr lang="es-AR" noProof="0" dirty="0"/>
              <a:t>Producto.</a:t>
            </a:r>
          </a:p>
          <a:p>
            <a:pPr marL="228600" lvl="1" indent="0" algn="just">
              <a:lnSpc>
                <a:spcPct val="150000"/>
              </a:lnSpc>
              <a:buNone/>
            </a:pPr>
            <a:endParaRPr lang="es-AR" sz="1400" noProof="0" dirty="0"/>
          </a:p>
        </p:txBody>
      </p:sp>
      <p:sp>
        <p:nvSpPr>
          <p:cNvPr id="3" name="CuadroTexto 2">
            <a:extLst>
              <a:ext uri="{FF2B5EF4-FFF2-40B4-BE49-F238E27FC236}">
                <a16:creationId xmlns:a16="http://schemas.microsoft.com/office/drawing/2014/main" id="{231BDF47-E355-91FE-59DB-A898D2406850}"/>
              </a:ext>
            </a:extLst>
          </p:cNvPr>
          <p:cNvSpPr txBox="1"/>
          <p:nvPr/>
        </p:nvSpPr>
        <p:spPr>
          <a:xfrm>
            <a:off x="219358" y="3282008"/>
            <a:ext cx="11753285" cy="646331"/>
          </a:xfrm>
          <a:prstGeom prst="rect">
            <a:avLst/>
          </a:prstGeom>
          <a:noFill/>
        </p:spPr>
        <p:txBody>
          <a:bodyPr wrap="square" rtlCol="0">
            <a:spAutoFit/>
          </a:bodyPr>
          <a:lstStyle/>
          <a:p>
            <a:r>
              <a:rPr lang="es-AR" noProof="0" dirty="0"/>
              <a:t>A continuación, abordaremos brevemente la descripción y el detalle de las características principales de cada producto seleccionado para la construcción del conjunto de datos de este proyecto.</a:t>
            </a:r>
          </a:p>
        </p:txBody>
      </p:sp>
    </p:spTree>
    <p:extLst>
      <p:ext uri="{BB962C8B-B14F-4D97-AF65-F5344CB8AC3E}">
        <p14:creationId xmlns:p14="http://schemas.microsoft.com/office/powerpoint/2010/main" val="3180861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8E42E-8CDA-7F08-0947-CECC45737AC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BC21F4-83A8-EAD0-947C-6FECBDE541A7}"/>
              </a:ext>
            </a:extLst>
          </p:cNvPr>
          <p:cNvSpPr>
            <a:spLocks noGrp="1"/>
          </p:cNvSpPr>
          <p:nvPr>
            <p:ph type="title"/>
          </p:nvPr>
        </p:nvSpPr>
        <p:spPr>
          <a:xfrm>
            <a:off x="219358" y="170098"/>
            <a:ext cx="4215384" cy="500462"/>
          </a:xfrm>
        </p:spPr>
        <p:txBody>
          <a:bodyPr anchor="t">
            <a:normAutofit fontScale="90000"/>
          </a:bodyPr>
          <a:lstStyle/>
          <a:p>
            <a:r>
              <a:rPr lang="es-AR" noProof="0" dirty="0"/>
              <a:t>ERA5-Land</a:t>
            </a:r>
          </a:p>
        </p:txBody>
      </p:sp>
      <p:sp>
        <p:nvSpPr>
          <p:cNvPr id="4" name="Marcador de contenido 3">
            <a:extLst>
              <a:ext uri="{FF2B5EF4-FFF2-40B4-BE49-F238E27FC236}">
                <a16:creationId xmlns:a16="http://schemas.microsoft.com/office/drawing/2014/main" id="{816CAAFA-AA7A-CEBE-B496-249AF6D30CDF}"/>
              </a:ext>
            </a:extLst>
          </p:cNvPr>
          <p:cNvSpPr>
            <a:spLocks noGrp="1"/>
          </p:cNvSpPr>
          <p:nvPr>
            <p:ph sz="quarter" idx="13"/>
          </p:nvPr>
        </p:nvSpPr>
        <p:spPr>
          <a:xfrm>
            <a:off x="219358" y="640080"/>
            <a:ext cx="11753284" cy="2879868"/>
          </a:xfrm>
        </p:spPr>
        <p:txBody>
          <a:bodyPr>
            <a:normAutofit/>
          </a:bodyPr>
          <a:lstStyle/>
          <a:p>
            <a:pPr marL="0" indent="0" algn="just">
              <a:lnSpc>
                <a:spcPct val="150000"/>
              </a:lnSpc>
              <a:buNone/>
            </a:pPr>
            <a:r>
              <a:rPr lang="es-AR" noProof="0" dirty="0"/>
              <a:t>Es un </a:t>
            </a:r>
            <a:r>
              <a:rPr lang="es-AR" b="1" noProof="0" dirty="0"/>
              <a:t>conjunto de datos de reanálisis</a:t>
            </a:r>
            <a:r>
              <a:rPr lang="es-AR" noProof="0" dirty="0"/>
              <a:t> global que proporciona una reconstrucción detallada y consistente de las variables del sistema terrestre desde 1950 hasta casi en tiempo real. Está específicamente optimizado para representar con gran detalle los procesos que ocurren en la superficie terrestre</a:t>
            </a:r>
            <a:r>
              <a:rPr lang="es-AR" sz="1600" noProof="0" dirty="0"/>
              <a:t>.</a:t>
            </a:r>
          </a:p>
          <a:p>
            <a:pPr marL="0" indent="0" algn="just">
              <a:lnSpc>
                <a:spcPct val="150000"/>
              </a:lnSpc>
              <a:buNone/>
            </a:pPr>
            <a:r>
              <a:rPr lang="es-AR" noProof="0" dirty="0"/>
              <a:t>Un conjunto de reanálisis </a:t>
            </a:r>
            <a:r>
              <a:rPr lang="es-AR" b="1" noProof="0" dirty="0"/>
              <a:t>combina datos de modelos físicos con observaciones históricas de todo el mundo para crear un conjunto de datos globalmente completo y coherente</a:t>
            </a:r>
            <a:r>
              <a:rPr lang="es-AR" noProof="0" dirty="0"/>
              <a:t>. Este proceso, que se apoya en las leyes de la física, genera datos que se remontan varias décadas atrás, proporcionando una descripción precisa del clima del pasado.</a:t>
            </a:r>
            <a:endParaRPr lang="es-AR" sz="1600" noProof="0" dirty="0"/>
          </a:p>
        </p:txBody>
      </p:sp>
      <p:graphicFrame>
        <p:nvGraphicFramePr>
          <p:cNvPr id="5" name="Tabla 4">
            <a:extLst>
              <a:ext uri="{FF2B5EF4-FFF2-40B4-BE49-F238E27FC236}">
                <a16:creationId xmlns:a16="http://schemas.microsoft.com/office/drawing/2014/main" id="{3D4B827F-1E76-A885-870D-F4E0F8F4BE66}"/>
              </a:ext>
            </a:extLst>
          </p:cNvPr>
          <p:cNvGraphicFramePr>
            <a:graphicFrameLocks noGrp="1"/>
          </p:cNvGraphicFramePr>
          <p:nvPr>
            <p:extLst>
              <p:ext uri="{D42A27DB-BD31-4B8C-83A1-F6EECF244321}">
                <p14:modId xmlns:p14="http://schemas.microsoft.com/office/powerpoint/2010/main" val="665872460"/>
              </p:ext>
            </p:extLst>
          </p:nvPr>
        </p:nvGraphicFramePr>
        <p:xfrm>
          <a:off x="2069076" y="3426542"/>
          <a:ext cx="8053848" cy="2971802"/>
        </p:xfrm>
        <a:graphic>
          <a:graphicData uri="http://schemas.openxmlformats.org/drawingml/2006/table">
            <a:tbl>
              <a:tblPr>
                <a:tableStyleId>{8A107856-5554-42FB-B03E-39F5DBC370BA}</a:tableStyleId>
              </a:tblPr>
              <a:tblGrid>
                <a:gridCol w="1607685">
                  <a:extLst>
                    <a:ext uri="{9D8B030D-6E8A-4147-A177-3AD203B41FA5}">
                      <a16:colId xmlns:a16="http://schemas.microsoft.com/office/drawing/2014/main" val="193503172"/>
                    </a:ext>
                  </a:extLst>
                </a:gridCol>
                <a:gridCol w="6446163">
                  <a:extLst>
                    <a:ext uri="{9D8B030D-6E8A-4147-A177-3AD203B41FA5}">
                      <a16:colId xmlns:a16="http://schemas.microsoft.com/office/drawing/2014/main" val="3459921080"/>
                    </a:ext>
                  </a:extLst>
                </a:gridCol>
              </a:tblGrid>
              <a:tr h="328376">
                <a:tc>
                  <a:txBody>
                    <a:bodyPr/>
                    <a:lstStyle/>
                    <a:p>
                      <a:pPr algn="ctr" fontAlgn="b">
                        <a:buNone/>
                      </a:pPr>
                      <a:r>
                        <a:rPr lang="es-AR" sz="1100" b="1" u="none" strike="noStrike" noProof="0" dirty="0">
                          <a:effectLst/>
                        </a:rPr>
                        <a:t>Característica</a:t>
                      </a:r>
                      <a:endParaRPr lang="es-AR" sz="1100" b="1" i="1"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s-AR" sz="1100" b="1" u="none" strike="noStrike" noProof="0" dirty="0">
                          <a:effectLst/>
                        </a:rPr>
                        <a:t>Descripción</a:t>
                      </a:r>
                      <a:endParaRPr lang="es-AR" sz="1100" b="1" i="1"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096137276"/>
                  </a:ext>
                </a:extLst>
              </a:tr>
              <a:tr h="328376">
                <a:tc>
                  <a:txBody>
                    <a:bodyPr/>
                    <a:lstStyle/>
                    <a:p>
                      <a:pPr algn="l" fontAlgn="b">
                        <a:buNone/>
                      </a:pPr>
                      <a:r>
                        <a:rPr lang="es-AR" sz="1100" b="1" u="none" strike="noStrike" noProof="0" dirty="0">
                          <a:effectLst/>
                        </a:rPr>
                        <a:t>Tipo de Producto</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Reanálisis</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123792158"/>
                  </a:ext>
                </a:extLst>
              </a:tr>
              <a:tr h="328376">
                <a:tc>
                  <a:txBody>
                    <a:bodyPr/>
                    <a:lstStyle/>
                    <a:p>
                      <a:pPr algn="l" fontAlgn="b">
                        <a:buNone/>
                      </a:pPr>
                      <a:r>
                        <a:rPr lang="es-AR" sz="1100" b="1" u="none" strike="noStrike" noProof="0" dirty="0">
                          <a:effectLst/>
                        </a:rPr>
                        <a:t>Resolución Espacial</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9 km (0.1° x 0.1°)</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954551688"/>
                  </a:ext>
                </a:extLst>
              </a:tr>
              <a:tr h="328376">
                <a:tc>
                  <a:txBody>
                    <a:bodyPr/>
                    <a:lstStyle/>
                    <a:p>
                      <a:pPr algn="l" fontAlgn="b">
                        <a:buNone/>
                      </a:pPr>
                      <a:r>
                        <a:rPr lang="es-AR" sz="1100" b="1" u="none" strike="noStrike" noProof="0" dirty="0">
                          <a:effectLst/>
                        </a:rPr>
                        <a:t>Resolución Temporal</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Horaria</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467926284"/>
                  </a:ext>
                </a:extLst>
              </a:tr>
              <a:tr h="328376">
                <a:tc>
                  <a:txBody>
                    <a:bodyPr/>
                    <a:lstStyle/>
                    <a:p>
                      <a:pPr algn="l" fontAlgn="b">
                        <a:buNone/>
                      </a:pPr>
                      <a:r>
                        <a:rPr lang="es-AR" sz="1100" b="1" u="none" strike="noStrike" noProof="0" dirty="0">
                          <a:effectLst/>
                        </a:rPr>
                        <a:t>Cobertura Temporal</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1950 - Presente (latencia de 2-5 días)</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723650107"/>
                  </a:ext>
                </a:extLst>
              </a:tr>
              <a:tr h="328376">
                <a:tc>
                  <a:txBody>
                    <a:bodyPr/>
                    <a:lstStyle/>
                    <a:p>
                      <a:pPr algn="l" fontAlgn="b">
                        <a:buNone/>
                      </a:pPr>
                      <a:r>
                        <a:rPr lang="es-AR" sz="1100" b="1" u="none" strike="noStrike" noProof="0" dirty="0">
                          <a:effectLst/>
                        </a:rPr>
                        <a:t>Cobertura Geográfica</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Global</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298397672"/>
                  </a:ext>
                </a:extLst>
              </a:tr>
              <a:tr h="328376">
                <a:tc>
                  <a:txBody>
                    <a:bodyPr/>
                    <a:lstStyle/>
                    <a:p>
                      <a:pPr algn="l" fontAlgn="b">
                        <a:buNone/>
                      </a:pPr>
                      <a:r>
                        <a:rPr lang="es-AR" sz="1100" b="1" u="none" strike="noStrike" noProof="0" dirty="0">
                          <a:effectLst/>
                        </a:rPr>
                        <a:t>Variables Clave</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Temperatura, humedad del suelo, precipitación, nieve, escorrentía, evapotranspiración</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851707427"/>
                  </a:ext>
                </a:extLst>
              </a:tr>
              <a:tr h="328376">
                <a:tc>
                  <a:txBody>
                    <a:bodyPr/>
                    <a:lstStyle/>
                    <a:p>
                      <a:pPr algn="l" fontAlgn="b">
                        <a:buNone/>
                      </a:pPr>
                      <a:r>
                        <a:rPr lang="es-AR" sz="1100" b="1" u="none" strike="noStrike" noProof="0" dirty="0">
                          <a:effectLst/>
                        </a:rPr>
                        <a:t>Aplicaciones</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Hidrología, agricultura, estudios ambientales, monitorización del clima</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801782045"/>
                  </a:ext>
                </a:extLst>
              </a:tr>
              <a:tr h="344794">
                <a:tc>
                  <a:txBody>
                    <a:bodyPr/>
                    <a:lstStyle/>
                    <a:p>
                      <a:pPr algn="l" fontAlgn="b">
                        <a:buNone/>
                      </a:pPr>
                      <a:r>
                        <a:rPr lang="es-AR" sz="1100" b="1" u="none" strike="noStrike" noProof="0" dirty="0">
                          <a:effectLst/>
                        </a:rPr>
                        <a:t>Acceso</a:t>
                      </a:r>
                      <a:endParaRPr lang="es-AR" sz="1100" b="1"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Gratuito</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57561883"/>
                  </a:ext>
                </a:extLst>
              </a:tr>
            </a:tbl>
          </a:graphicData>
        </a:graphic>
      </p:graphicFrame>
    </p:spTree>
    <p:extLst>
      <p:ext uri="{BB962C8B-B14F-4D97-AF65-F5344CB8AC3E}">
        <p14:creationId xmlns:p14="http://schemas.microsoft.com/office/powerpoint/2010/main" val="284162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3BBC-3B9B-AC8C-A498-3C635505E3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C09E0F-BF79-D25E-EBA5-0662155C7098}"/>
              </a:ext>
            </a:extLst>
          </p:cNvPr>
          <p:cNvSpPr>
            <a:spLocks noGrp="1"/>
          </p:cNvSpPr>
          <p:nvPr>
            <p:ph type="title"/>
          </p:nvPr>
        </p:nvSpPr>
        <p:spPr>
          <a:xfrm>
            <a:off x="219358" y="170098"/>
            <a:ext cx="11753284" cy="500462"/>
          </a:xfrm>
        </p:spPr>
        <p:txBody>
          <a:bodyPr anchor="t">
            <a:normAutofit fontScale="90000"/>
          </a:bodyPr>
          <a:lstStyle/>
          <a:p>
            <a:r>
              <a:rPr lang="es-AR" noProof="0" dirty="0"/>
              <a:t>Visible </a:t>
            </a:r>
            <a:r>
              <a:rPr lang="es-AR" noProof="0" dirty="0" err="1"/>
              <a:t>Infrared</a:t>
            </a:r>
            <a:r>
              <a:rPr lang="es-AR" noProof="0" dirty="0"/>
              <a:t> </a:t>
            </a:r>
            <a:r>
              <a:rPr lang="es-AR" noProof="0" dirty="0" err="1"/>
              <a:t>Imaging</a:t>
            </a:r>
            <a:r>
              <a:rPr lang="es-AR" noProof="0" dirty="0"/>
              <a:t> </a:t>
            </a:r>
            <a:r>
              <a:rPr lang="es-AR" noProof="0" dirty="0" err="1"/>
              <a:t>Radiometer</a:t>
            </a:r>
            <a:r>
              <a:rPr lang="es-AR" noProof="0" dirty="0"/>
              <a:t> Suite (VIIRS)</a:t>
            </a:r>
          </a:p>
        </p:txBody>
      </p:sp>
      <p:sp>
        <p:nvSpPr>
          <p:cNvPr id="4" name="Marcador de contenido 3">
            <a:extLst>
              <a:ext uri="{FF2B5EF4-FFF2-40B4-BE49-F238E27FC236}">
                <a16:creationId xmlns:a16="http://schemas.microsoft.com/office/drawing/2014/main" id="{879AAAD1-30B0-5156-687E-56DCF0654C0E}"/>
              </a:ext>
            </a:extLst>
          </p:cNvPr>
          <p:cNvSpPr>
            <a:spLocks noGrp="1"/>
          </p:cNvSpPr>
          <p:nvPr>
            <p:ph sz="quarter" idx="13"/>
          </p:nvPr>
        </p:nvSpPr>
        <p:spPr>
          <a:xfrm>
            <a:off x="219358" y="640079"/>
            <a:ext cx="11753284" cy="2565237"/>
          </a:xfrm>
        </p:spPr>
        <p:txBody>
          <a:bodyPr>
            <a:noAutofit/>
          </a:bodyPr>
          <a:lstStyle/>
          <a:p>
            <a:pPr marL="0" indent="0" algn="just">
              <a:lnSpc>
                <a:spcPct val="150000"/>
              </a:lnSpc>
              <a:buNone/>
            </a:pPr>
            <a:r>
              <a:rPr lang="es-AR" sz="1600" noProof="0" dirty="0"/>
              <a:t>El producto de focos de calor </a:t>
            </a:r>
            <a:r>
              <a:rPr lang="es-AR" sz="1600" b="1" noProof="0" dirty="0"/>
              <a:t>VIIRS del satélite </a:t>
            </a:r>
            <a:r>
              <a:rPr lang="es-AR" sz="1600" b="1" noProof="0" dirty="0" err="1"/>
              <a:t>Suomi</a:t>
            </a:r>
            <a:r>
              <a:rPr lang="es-AR" sz="1600" b="1" noProof="0" dirty="0"/>
              <a:t> NPP (NASA)</a:t>
            </a:r>
            <a:r>
              <a:rPr lang="es-AR" sz="1600" noProof="0" dirty="0"/>
              <a:t>, distribuido por el FIRMS, proporciona datos de localización de anomalías térmicas en “casi tiempo real” (NRT). Estos datos son esenciales para la detección temprana, el monitoreo y la respuesta rápida a incendios forestales y otros eventos de fuego activo en cualquier parte del mundo.</a:t>
            </a:r>
          </a:p>
          <a:p>
            <a:pPr marL="0" indent="0" algn="just">
              <a:lnSpc>
                <a:spcPct val="150000"/>
              </a:lnSpc>
              <a:buNone/>
            </a:pPr>
            <a:r>
              <a:rPr lang="es-AR" sz="1600" noProof="0" dirty="0"/>
              <a:t>La detección se basa en la medición de la </a:t>
            </a:r>
            <a:r>
              <a:rPr lang="es-AR" sz="1600" b="1" noProof="0" dirty="0"/>
              <a:t>energía radiante en las bandas del infrarrojo y térmico</a:t>
            </a:r>
            <a:r>
              <a:rPr lang="es-AR" sz="1600" noProof="0" dirty="0"/>
              <a:t>. El instrumento VIIRS incluye una banda de resolución moderada (M-band) de </a:t>
            </a:r>
            <a:r>
              <a:rPr lang="es-AR" sz="1600" b="1" noProof="0" dirty="0"/>
              <a:t>375 metros</a:t>
            </a:r>
            <a:r>
              <a:rPr lang="es-AR" sz="1600" noProof="0" dirty="0"/>
              <a:t>, lo que permite detectar incendios más pequeños y de menor intensidad que sistemas anteriores (ej.: MODIS).</a:t>
            </a:r>
          </a:p>
        </p:txBody>
      </p:sp>
      <p:graphicFrame>
        <p:nvGraphicFramePr>
          <p:cNvPr id="5" name="Tabla 4">
            <a:extLst>
              <a:ext uri="{FF2B5EF4-FFF2-40B4-BE49-F238E27FC236}">
                <a16:creationId xmlns:a16="http://schemas.microsoft.com/office/drawing/2014/main" id="{38582088-B51B-FA79-48C4-35F940C47D64}"/>
              </a:ext>
            </a:extLst>
          </p:cNvPr>
          <p:cNvGraphicFramePr>
            <a:graphicFrameLocks noGrp="1"/>
          </p:cNvGraphicFramePr>
          <p:nvPr>
            <p:extLst>
              <p:ext uri="{D42A27DB-BD31-4B8C-83A1-F6EECF244321}">
                <p14:modId xmlns:p14="http://schemas.microsoft.com/office/powerpoint/2010/main" val="928096439"/>
              </p:ext>
            </p:extLst>
          </p:nvPr>
        </p:nvGraphicFramePr>
        <p:xfrm>
          <a:off x="1514270" y="3429000"/>
          <a:ext cx="9163460" cy="3012603"/>
        </p:xfrm>
        <a:graphic>
          <a:graphicData uri="http://schemas.openxmlformats.org/drawingml/2006/table">
            <a:tbl>
              <a:tblPr>
                <a:tableStyleId>{69CF1AB2-1976-4502-BF36-3FF5EA218861}</a:tableStyleId>
              </a:tblPr>
              <a:tblGrid>
                <a:gridCol w="1744059">
                  <a:extLst>
                    <a:ext uri="{9D8B030D-6E8A-4147-A177-3AD203B41FA5}">
                      <a16:colId xmlns:a16="http://schemas.microsoft.com/office/drawing/2014/main" val="3626961927"/>
                    </a:ext>
                  </a:extLst>
                </a:gridCol>
                <a:gridCol w="7419401">
                  <a:extLst>
                    <a:ext uri="{9D8B030D-6E8A-4147-A177-3AD203B41FA5}">
                      <a16:colId xmlns:a16="http://schemas.microsoft.com/office/drawing/2014/main" val="3018867652"/>
                    </a:ext>
                  </a:extLst>
                </a:gridCol>
              </a:tblGrid>
              <a:tr h="303384">
                <a:tc>
                  <a:txBody>
                    <a:bodyPr/>
                    <a:lstStyle/>
                    <a:p>
                      <a:pPr algn="ctr" fontAlgn="b">
                        <a:buNone/>
                      </a:pPr>
                      <a:r>
                        <a:rPr lang="es-AR" sz="1100" b="1" u="none" strike="noStrike" noProof="0" dirty="0">
                          <a:effectLst/>
                        </a:rPr>
                        <a:t>Característica</a:t>
                      </a:r>
                      <a:endParaRPr lang="es-AR" sz="1100" b="1" i="1"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ctr" fontAlgn="b">
                        <a:buNone/>
                      </a:pPr>
                      <a:r>
                        <a:rPr lang="es-AR" sz="1100" b="1" u="none" strike="noStrike" noProof="0" dirty="0">
                          <a:effectLst/>
                        </a:rPr>
                        <a:t>Descripción</a:t>
                      </a:r>
                      <a:endParaRPr lang="es-AR" sz="1100" b="1" i="1"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700929632"/>
                  </a:ext>
                </a:extLst>
              </a:tr>
              <a:tr h="303384">
                <a:tc>
                  <a:txBody>
                    <a:bodyPr/>
                    <a:lstStyle/>
                    <a:p>
                      <a:pPr algn="l" fontAlgn="b">
                        <a:buNone/>
                      </a:pPr>
                      <a:r>
                        <a:rPr lang="es-AR" sz="1100" u="none" strike="noStrike" noProof="0" dirty="0">
                          <a:effectLst/>
                        </a:rPr>
                        <a:t>Producto</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Focos de calor</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390225903"/>
                  </a:ext>
                </a:extLst>
              </a:tr>
              <a:tr h="303384">
                <a:tc>
                  <a:txBody>
                    <a:bodyPr/>
                    <a:lstStyle/>
                    <a:p>
                      <a:pPr algn="l" fontAlgn="b">
                        <a:buNone/>
                      </a:pPr>
                      <a:r>
                        <a:rPr lang="es-AR" sz="1100" u="none" strike="noStrike" noProof="0" dirty="0">
                          <a:effectLst/>
                        </a:rPr>
                        <a:t>Fuente</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VIIRS a bordo de </a:t>
                      </a:r>
                      <a:r>
                        <a:rPr lang="es-AR" sz="1100" u="none" strike="noStrike" noProof="0" dirty="0" err="1">
                          <a:effectLst/>
                        </a:rPr>
                        <a:t>Suomi</a:t>
                      </a:r>
                      <a:r>
                        <a:rPr lang="es-AR" sz="1100" u="none" strike="noStrike" noProof="0" dirty="0">
                          <a:effectLst/>
                        </a:rPr>
                        <a:t> NPP</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458055762"/>
                  </a:ext>
                </a:extLst>
              </a:tr>
              <a:tr h="303384">
                <a:tc>
                  <a:txBody>
                    <a:bodyPr/>
                    <a:lstStyle/>
                    <a:p>
                      <a:pPr algn="l" fontAlgn="b">
                        <a:buNone/>
                      </a:pPr>
                      <a:r>
                        <a:rPr lang="es-AR" sz="1100" u="none" strike="noStrike" noProof="0" dirty="0">
                          <a:effectLst/>
                        </a:rPr>
                        <a:t>Resolución Espacial</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375 metros</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776654885"/>
                  </a:ext>
                </a:extLst>
              </a:tr>
              <a:tr h="303384">
                <a:tc>
                  <a:txBody>
                    <a:bodyPr/>
                    <a:lstStyle/>
                    <a:p>
                      <a:pPr algn="l" fontAlgn="b">
                        <a:buNone/>
                      </a:pPr>
                      <a:r>
                        <a:rPr lang="es-AR" sz="1100" u="none" strike="noStrike" noProof="0" dirty="0">
                          <a:effectLst/>
                        </a:rPr>
                        <a:t>Disponibilidad de Datos</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Diaria (Global)</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825444040"/>
                  </a:ext>
                </a:extLst>
              </a:tr>
              <a:tr h="303384">
                <a:tc>
                  <a:txBody>
                    <a:bodyPr/>
                    <a:lstStyle/>
                    <a:p>
                      <a:pPr algn="l" fontAlgn="b">
                        <a:buNone/>
                      </a:pPr>
                      <a:r>
                        <a:rPr lang="es-AR" sz="1100" u="none" strike="noStrike" noProof="0" dirty="0">
                          <a:effectLst/>
                        </a:rPr>
                        <a:t>Cobertura Temporal</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Desde 2012 hasta el presente</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895724154"/>
                  </a:ext>
                </a:extLst>
              </a:tr>
              <a:tr h="303384">
                <a:tc>
                  <a:txBody>
                    <a:bodyPr/>
                    <a:lstStyle/>
                    <a:p>
                      <a:pPr algn="l" fontAlgn="b">
                        <a:buNone/>
                      </a:pPr>
                      <a:r>
                        <a:rPr lang="es-AR" sz="1100" u="none" strike="noStrike" noProof="0" dirty="0">
                          <a:effectLst/>
                        </a:rPr>
                        <a:t>Cobertura Geográfica</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Global</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122930538"/>
                  </a:ext>
                </a:extLst>
              </a:tr>
              <a:tr h="303384">
                <a:tc>
                  <a:txBody>
                    <a:bodyPr/>
                    <a:lstStyle/>
                    <a:p>
                      <a:pPr algn="l" fontAlgn="b">
                        <a:buNone/>
                      </a:pPr>
                      <a:r>
                        <a:rPr lang="es-AR" sz="1100" u="none" strike="noStrike" noProof="0" dirty="0">
                          <a:effectLst/>
                        </a:rPr>
                        <a:t>Qué Detecta</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Localización de incendios, anomalías térmicas.</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348561565"/>
                  </a:ext>
                </a:extLst>
              </a:tr>
              <a:tr h="303384">
                <a:tc>
                  <a:txBody>
                    <a:bodyPr/>
                    <a:lstStyle/>
                    <a:p>
                      <a:pPr algn="l" fontAlgn="b">
                        <a:buNone/>
                      </a:pPr>
                      <a:r>
                        <a:rPr lang="es-AR" sz="1100" u="none" strike="noStrike" noProof="0" dirty="0">
                          <a:effectLst/>
                        </a:rPr>
                        <a:t>Aplicaciones Principales</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Monitoreo de incendios forestales, sistemas de alerta temprana, gestión de recursos, investigación del clima.</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709165958"/>
                  </a:ext>
                </a:extLst>
              </a:tr>
              <a:tr h="282147">
                <a:tc>
                  <a:txBody>
                    <a:bodyPr/>
                    <a:lstStyle/>
                    <a:p>
                      <a:pPr algn="l" fontAlgn="b">
                        <a:buNone/>
                      </a:pPr>
                      <a:r>
                        <a:rPr lang="es-AR" sz="1100" u="none" strike="noStrike" noProof="0" dirty="0">
                          <a:effectLst/>
                        </a:rPr>
                        <a:t>Acceso</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tc>
                  <a:txBody>
                    <a:bodyPr/>
                    <a:lstStyle/>
                    <a:p>
                      <a:pPr algn="l" fontAlgn="b">
                        <a:buNone/>
                      </a:pPr>
                      <a:r>
                        <a:rPr lang="es-AR" sz="1100" u="none" strike="noStrike" noProof="0" dirty="0">
                          <a:effectLst/>
                        </a:rPr>
                        <a:t>Gratuito</a:t>
                      </a:r>
                      <a:endParaRPr lang="es-AR" sz="1100" b="0" i="0" u="none" strike="noStrike" noProof="0"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296206039"/>
                  </a:ext>
                </a:extLst>
              </a:tr>
            </a:tbl>
          </a:graphicData>
        </a:graphic>
      </p:graphicFrame>
    </p:spTree>
    <p:extLst>
      <p:ext uri="{BB962C8B-B14F-4D97-AF65-F5344CB8AC3E}">
        <p14:creationId xmlns:p14="http://schemas.microsoft.com/office/powerpoint/2010/main" val="215861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E61B-FFEC-DA08-8469-9EC217354E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8E57C0-F926-044E-3936-D83B747A35E5}"/>
              </a:ext>
            </a:extLst>
          </p:cNvPr>
          <p:cNvSpPr>
            <a:spLocks noGrp="1"/>
          </p:cNvSpPr>
          <p:nvPr>
            <p:ph type="ctrTitle"/>
          </p:nvPr>
        </p:nvSpPr>
        <p:spPr>
          <a:xfrm>
            <a:off x="612648" y="502920"/>
            <a:ext cx="5852160" cy="2953512"/>
          </a:xfrm>
        </p:spPr>
        <p:txBody>
          <a:bodyPr anchor="t">
            <a:normAutofit/>
          </a:bodyPr>
          <a:lstStyle/>
          <a:p>
            <a:r>
              <a:rPr lang="es-AR" noProof="0" dirty="0"/>
              <a:t>Tratamiento</a:t>
            </a:r>
          </a:p>
        </p:txBody>
      </p:sp>
      <p:pic>
        <p:nvPicPr>
          <p:cNvPr id="5" name="Marcador de posición de imagen 4">
            <a:extLst>
              <a:ext uri="{FF2B5EF4-FFF2-40B4-BE49-F238E27FC236}">
                <a16:creationId xmlns:a16="http://schemas.microsoft.com/office/drawing/2014/main" id="{14DAB408-680B-8FD4-BDC2-320D26C9E52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0204" r="30204"/>
          <a:stretch/>
        </p:blipFill>
        <p:spPr>
          <a:xfrm>
            <a:off x="7534656" y="213"/>
            <a:ext cx="4654296" cy="6857573"/>
          </a:xfrm>
          <a:noFill/>
        </p:spPr>
      </p:pic>
      <p:sp>
        <p:nvSpPr>
          <p:cNvPr id="4" name="Subtítulo 3">
            <a:extLst>
              <a:ext uri="{FF2B5EF4-FFF2-40B4-BE49-F238E27FC236}">
                <a16:creationId xmlns:a16="http://schemas.microsoft.com/office/drawing/2014/main" id="{51D40DF9-57C6-CFDD-1C4B-B3A34A5602F6}"/>
              </a:ext>
            </a:extLst>
          </p:cNvPr>
          <p:cNvSpPr>
            <a:spLocks noGrp="1"/>
          </p:cNvSpPr>
          <p:nvPr>
            <p:ph type="subTitle" idx="1"/>
          </p:nvPr>
        </p:nvSpPr>
        <p:spPr/>
        <p:txBody>
          <a:bodyPr/>
          <a:lstStyle/>
          <a:p>
            <a:r>
              <a:rPr lang="es-AR" noProof="0" dirty="0"/>
              <a:t>Adaptación de datos crudos al propósito del proyecto.</a:t>
            </a:r>
          </a:p>
        </p:txBody>
      </p:sp>
    </p:spTree>
    <p:extLst>
      <p:ext uri="{BB962C8B-B14F-4D97-AF65-F5344CB8AC3E}">
        <p14:creationId xmlns:p14="http://schemas.microsoft.com/office/powerpoint/2010/main" val="34291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178C-86D1-C1EF-1CD0-7D47B6DA43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B34908-1061-D6EC-00C1-5913862528BC}"/>
              </a:ext>
            </a:extLst>
          </p:cNvPr>
          <p:cNvSpPr>
            <a:spLocks noGrp="1"/>
          </p:cNvSpPr>
          <p:nvPr>
            <p:ph type="title"/>
          </p:nvPr>
        </p:nvSpPr>
        <p:spPr>
          <a:xfrm>
            <a:off x="219358" y="170098"/>
            <a:ext cx="11753284" cy="500462"/>
          </a:xfrm>
        </p:spPr>
        <p:txBody>
          <a:bodyPr anchor="t">
            <a:normAutofit fontScale="90000"/>
          </a:bodyPr>
          <a:lstStyle/>
          <a:p>
            <a:r>
              <a:rPr lang="es-AR" noProof="0" dirty="0"/>
              <a:t>Meteorológicos</a:t>
            </a:r>
          </a:p>
        </p:txBody>
      </p:sp>
      <p:sp>
        <p:nvSpPr>
          <p:cNvPr id="4" name="Marcador de contenido 3">
            <a:extLst>
              <a:ext uri="{FF2B5EF4-FFF2-40B4-BE49-F238E27FC236}">
                <a16:creationId xmlns:a16="http://schemas.microsoft.com/office/drawing/2014/main" id="{F1CAEAA6-27EC-AF27-8388-3B9332A89E49}"/>
              </a:ext>
            </a:extLst>
          </p:cNvPr>
          <p:cNvSpPr>
            <a:spLocks noGrp="1"/>
          </p:cNvSpPr>
          <p:nvPr>
            <p:ph sz="quarter" idx="13"/>
          </p:nvPr>
        </p:nvSpPr>
        <p:spPr>
          <a:xfrm>
            <a:off x="219358" y="640080"/>
            <a:ext cx="11753284" cy="1534204"/>
          </a:xfrm>
        </p:spPr>
        <p:txBody>
          <a:bodyPr>
            <a:noAutofit/>
          </a:bodyPr>
          <a:lstStyle/>
          <a:p>
            <a:pPr marL="0" indent="0" algn="just">
              <a:lnSpc>
                <a:spcPct val="150000"/>
              </a:lnSpc>
              <a:buNone/>
            </a:pPr>
            <a:r>
              <a:rPr lang="es-AR" sz="1600" noProof="0" dirty="0"/>
              <a:t>Los datos meteorológicos recibidos de los productos ERA5-Land son un producto de reanálisis, por lo que </a:t>
            </a:r>
            <a:r>
              <a:rPr lang="es-AR" sz="1600" b="1" noProof="0" dirty="0"/>
              <a:t>no requieren limpieza o revisión por valores faltantes</a:t>
            </a:r>
            <a:r>
              <a:rPr lang="es-AR" sz="1600" noProof="0" dirty="0"/>
              <a:t>. El tratamiento en esta etapa consiste, por lo tanto, incorporación de variables calculadas: se utilizan los valores base para calcular el conjunto de variables derivadas que componen el </a:t>
            </a:r>
            <a:r>
              <a:rPr lang="es-AR" sz="1600" b="1" noProof="0" dirty="0" err="1"/>
              <a:t>Fire</a:t>
            </a:r>
            <a:r>
              <a:rPr lang="es-AR" sz="1600" b="1" noProof="0" dirty="0"/>
              <a:t> </a:t>
            </a:r>
            <a:r>
              <a:rPr lang="es-AR" sz="1600" b="1" noProof="0" dirty="0" err="1"/>
              <a:t>Weather</a:t>
            </a:r>
            <a:r>
              <a:rPr lang="es-AR" sz="1600" b="1" noProof="0" dirty="0"/>
              <a:t> </a:t>
            </a:r>
            <a:r>
              <a:rPr lang="es-AR" sz="1600" b="1" noProof="0" dirty="0" err="1"/>
              <a:t>Index</a:t>
            </a:r>
            <a:r>
              <a:rPr lang="es-AR" sz="1600" b="1" noProof="0" dirty="0"/>
              <a:t> (FWI)</a:t>
            </a:r>
            <a:r>
              <a:rPr lang="es-AR" sz="1600" noProof="0" dirty="0"/>
              <a:t>.</a:t>
            </a:r>
          </a:p>
        </p:txBody>
      </p:sp>
      <p:pic>
        <p:nvPicPr>
          <p:cNvPr id="6" name="Imagen 5">
            <a:extLst>
              <a:ext uri="{FF2B5EF4-FFF2-40B4-BE49-F238E27FC236}">
                <a16:creationId xmlns:a16="http://schemas.microsoft.com/office/drawing/2014/main" id="{F052BDC6-BAF0-61A3-C22E-530A95EF03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94968" y="2042179"/>
            <a:ext cx="5477674" cy="4477385"/>
          </a:xfrm>
          <a:prstGeom prst="rect">
            <a:avLst/>
          </a:prstGeom>
          <a:noFill/>
          <a:ln>
            <a:noFill/>
          </a:ln>
        </p:spPr>
      </p:pic>
      <p:sp>
        <p:nvSpPr>
          <p:cNvPr id="7" name="CuadroTexto 6">
            <a:extLst>
              <a:ext uri="{FF2B5EF4-FFF2-40B4-BE49-F238E27FC236}">
                <a16:creationId xmlns:a16="http://schemas.microsoft.com/office/drawing/2014/main" id="{D01D790D-C3D9-7809-F097-1FB8092645E7}"/>
              </a:ext>
            </a:extLst>
          </p:cNvPr>
          <p:cNvSpPr txBox="1"/>
          <p:nvPr/>
        </p:nvSpPr>
        <p:spPr>
          <a:xfrm>
            <a:off x="219358" y="1922697"/>
            <a:ext cx="5689829" cy="4123949"/>
          </a:xfrm>
          <a:prstGeom prst="rect">
            <a:avLst/>
          </a:prstGeom>
          <a:noFill/>
        </p:spPr>
        <p:txBody>
          <a:bodyPr wrap="square" rtlCol="0">
            <a:spAutoFit/>
          </a:bodyPr>
          <a:lstStyle/>
          <a:p>
            <a:pPr algn="just">
              <a:lnSpc>
                <a:spcPct val="150000"/>
              </a:lnSpc>
            </a:pPr>
            <a:r>
              <a:rPr lang="es-AR" sz="1600" noProof="0" dirty="0"/>
              <a:t>El sistema canadiense de índice meteorológico de incendios forestales (FWI) consta de </a:t>
            </a:r>
            <a:r>
              <a:rPr lang="es-AR" sz="1600" b="1" noProof="0" dirty="0"/>
              <a:t>seis componentes que explican los efectos de la humedad del combustible y las condiciones climáticas sobre el comportamiento del fuego:</a:t>
            </a:r>
            <a:endParaRPr lang="es-AR" sz="1600" noProof="0" dirty="0"/>
          </a:p>
          <a:p>
            <a:pPr marL="285750" indent="-285750" algn="just">
              <a:lnSpc>
                <a:spcPct val="150000"/>
              </a:lnSpc>
              <a:buFont typeface="Arial" panose="020B0604020202020204" pitchFamily="34" charset="0"/>
              <a:buChar char="•"/>
            </a:pPr>
            <a:r>
              <a:rPr lang="es-AR" sz="1400" noProof="0" dirty="0"/>
              <a:t>Los primeros tres componentes (FFMC, DMC, DC) son clasificaciones numéricas del contenido de humedad del suelo y otra materia orgánica muerta. Sus valores aumentan a medida que disminuye el contenido de humedad.</a:t>
            </a:r>
          </a:p>
          <a:p>
            <a:pPr marL="285750" indent="-285750" algn="just">
              <a:lnSpc>
                <a:spcPct val="150000"/>
              </a:lnSpc>
              <a:buFont typeface="Arial" panose="020B0604020202020204" pitchFamily="34" charset="0"/>
              <a:buChar char="•"/>
            </a:pPr>
            <a:r>
              <a:rPr lang="es-AR" sz="1400" noProof="0" dirty="0"/>
              <a:t>Los tres componentes restantes (ISI, BUI, FWI) son índices de comportamiento del fuego, que representan la tasa de propagación, el combustible disponible y la intensidad frontal. Estos valores aumentan a medida que aumenta el peligro de incendio.</a:t>
            </a:r>
          </a:p>
        </p:txBody>
      </p:sp>
    </p:spTree>
    <p:extLst>
      <p:ext uri="{BB962C8B-B14F-4D97-AF65-F5344CB8AC3E}">
        <p14:creationId xmlns:p14="http://schemas.microsoft.com/office/powerpoint/2010/main" val="3267219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81B9-526A-B8CB-9881-6E687B5A0C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12F461-346B-EB2A-1BCB-71EE8E048BB2}"/>
              </a:ext>
            </a:extLst>
          </p:cNvPr>
          <p:cNvSpPr>
            <a:spLocks noGrp="1"/>
          </p:cNvSpPr>
          <p:nvPr>
            <p:ph type="title"/>
          </p:nvPr>
        </p:nvSpPr>
        <p:spPr>
          <a:xfrm>
            <a:off x="219358" y="170098"/>
            <a:ext cx="11753284" cy="500462"/>
          </a:xfrm>
        </p:spPr>
        <p:txBody>
          <a:bodyPr anchor="t">
            <a:normAutofit fontScale="90000"/>
          </a:bodyPr>
          <a:lstStyle/>
          <a:p>
            <a:r>
              <a:rPr lang="es-AR" noProof="0" dirty="0"/>
              <a:t>Focos de calor</a:t>
            </a:r>
          </a:p>
        </p:txBody>
      </p:sp>
      <p:sp>
        <p:nvSpPr>
          <p:cNvPr id="4" name="Marcador de contenido 3">
            <a:extLst>
              <a:ext uri="{FF2B5EF4-FFF2-40B4-BE49-F238E27FC236}">
                <a16:creationId xmlns:a16="http://schemas.microsoft.com/office/drawing/2014/main" id="{8BCA0203-F0E8-16B9-0431-B72334A23A3E}"/>
              </a:ext>
            </a:extLst>
          </p:cNvPr>
          <p:cNvSpPr>
            <a:spLocks noGrp="1"/>
          </p:cNvSpPr>
          <p:nvPr>
            <p:ph sz="quarter" idx="13"/>
          </p:nvPr>
        </p:nvSpPr>
        <p:spPr>
          <a:xfrm>
            <a:off x="219358" y="640080"/>
            <a:ext cx="11753284" cy="5849210"/>
          </a:xfrm>
        </p:spPr>
        <p:txBody>
          <a:bodyPr>
            <a:noAutofit/>
          </a:bodyPr>
          <a:lstStyle/>
          <a:p>
            <a:pPr marL="0" indent="0" algn="just">
              <a:lnSpc>
                <a:spcPct val="150000"/>
              </a:lnSpc>
              <a:buNone/>
            </a:pPr>
            <a:r>
              <a:rPr lang="es-AR" sz="1600" noProof="0" dirty="0"/>
              <a:t>El conjunto de datos de focos de calor se filtró y reestructuro por completo:</a:t>
            </a:r>
          </a:p>
          <a:p>
            <a:pPr marL="342900" indent="-342900" algn="just">
              <a:lnSpc>
                <a:spcPct val="150000"/>
              </a:lnSpc>
              <a:buFont typeface="+mj-lt"/>
              <a:buAutoNum type="arabicPeriod"/>
            </a:pPr>
            <a:r>
              <a:rPr lang="es-AR" sz="1600" noProof="0" dirty="0"/>
              <a:t>Se filtraron los registros para </a:t>
            </a:r>
            <a:r>
              <a:rPr lang="es-AR" sz="1600" b="1" noProof="0" dirty="0"/>
              <a:t>excluir aquellos etiquetados con confianza baja </a:t>
            </a:r>
            <a:r>
              <a:rPr lang="es-AR" sz="1600" noProof="0" dirty="0"/>
              <a:t>(</a:t>
            </a:r>
            <a:r>
              <a:rPr lang="es-AR" sz="1600" noProof="0" dirty="0" err="1"/>
              <a:t>confidence</a:t>
            </a:r>
            <a:r>
              <a:rPr lang="es-AR" sz="1600" noProof="0" dirty="0"/>
              <a:t>: 'l'). Esta decisión es una práctica estándar que se fundamenta en la alta probabilidad de falsos positivos en esta categoría.</a:t>
            </a:r>
          </a:p>
          <a:p>
            <a:pPr marL="342900" indent="-342900" algn="just">
              <a:lnSpc>
                <a:spcPct val="150000"/>
              </a:lnSpc>
              <a:buFont typeface="+mj-lt"/>
              <a:buAutoNum type="arabicPeriod"/>
            </a:pPr>
            <a:r>
              <a:rPr lang="es-AR" sz="1600" noProof="0" dirty="0"/>
              <a:t>Se </a:t>
            </a:r>
            <a:r>
              <a:rPr lang="es-AR" sz="1600" b="1" noProof="0" dirty="0"/>
              <a:t>alineo la resolución espacial con la de los datos meteorológicos </a:t>
            </a:r>
            <a:r>
              <a:rPr lang="es-AR" sz="1600" noProof="0" dirty="0"/>
              <a:t>(la grilla de ~10km de ERA5-Land). Este proceso de </a:t>
            </a:r>
            <a:r>
              <a:rPr lang="es-AR" sz="1600" i="1" noProof="0" dirty="0" err="1"/>
              <a:t>gridding</a:t>
            </a:r>
            <a:r>
              <a:rPr lang="es-AR" sz="1600" noProof="0" dirty="0"/>
              <a:t> consistió en asignar cada foco de calor a la celda específica de la grilla de ERA5-Land dentro de la cual se encontraba mediante el redondeo los valores de latitud y longitud a un solo decimal. </a:t>
            </a:r>
          </a:p>
          <a:p>
            <a:pPr marL="342900" indent="-342900" algn="just">
              <a:lnSpc>
                <a:spcPct val="150000"/>
              </a:lnSpc>
              <a:buFont typeface="+mj-lt"/>
              <a:buAutoNum type="arabicPeriod"/>
            </a:pPr>
            <a:r>
              <a:rPr lang="es-AR" sz="1600" noProof="0" dirty="0"/>
              <a:t>Se agrupó la información por celda de grilla (coordenadas) y por fecha para alinear la </a:t>
            </a:r>
            <a:r>
              <a:rPr lang="es-AR" sz="1600" b="1" noProof="0" dirty="0"/>
              <a:t>resolución temporal a 24 horas</a:t>
            </a:r>
            <a:r>
              <a:rPr lang="es-AR" sz="1600" noProof="0" dirty="0"/>
              <a:t>.</a:t>
            </a:r>
          </a:p>
          <a:p>
            <a:pPr marL="342900" indent="-342900" algn="just">
              <a:lnSpc>
                <a:spcPct val="150000"/>
              </a:lnSpc>
              <a:buFont typeface="+mj-lt"/>
              <a:buAutoNum type="arabicPeriod"/>
            </a:pPr>
            <a:r>
              <a:rPr lang="es-AR" sz="1600" noProof="0" dirty="0"/>
              <a:t>Finalmente, para cada grupo (coordenadas-día) se realizó la </a:t>
            </a:r>
            <a:r>
              <a:rPr lang="es-AR" sz="1600" b="1" noProof="0" dirty="0"/>
              <a:t>agregación de dos variables</a:t>
            </a:r>
            <a:r>
              <a:rPr lang="es-AR" sz="1600" noProof="0" dirty="0"/>
              <a:t>: el conteo total de focos de incendio y el promedio de la energía radiactiva del fuego (FRP).</a:t>
            </a:r>
          </a:p>
        </p:txBody>
      </p:sp>
    </p:spTree>
    <p:extLst>
      <p:ext uri="{BB962C8B-B14F-4D97-AF65-F5344CB8AC3E}">
        <p14:creationId xmlns:p14="http://schemas.microsoft.com/office/powerpoint/2010/main" val="3087502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80039-2B43-3806-A172-75F019B567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288EEA-348D-DB23-290E-23D0448E526B}"/>
              </a:ext>
            </a:extLst>
          </p:cNvPr>
          <p:cNvSpPr>
            <a:spLocks noGrp="1"/>
          </p:cNvSpPr>
          <p:nvPr>
            <p:ph type="title"/>
          </p:nvPr>
        </p:nvSpPr>
        <p:spPr>
          <a:xfrm>
            <a:off x="219358" y="170098"/>
            <a:ext cx="11753284" cy="500462"/>
          </a:xfrm>
        </p:spPr>
        <p:txBody>
          <a:bodyPr anchor="t">
            <a:normAutofit fontScale="90000"/>
          </a:bodyPr>
          <a:lstStyle/>
          <a:p>
            <a:r>
              <a:rPr lang="es-AR" noProof="0" dirty="0"/>
              <a:t>Unificación</a:t>
            </a:r>
          </a:p>
        </p:txBody>
      </p:sp>
      <p:sp>
        <p:nvSpPr>
          <p:cNvPr id="4" name="Marcador de contenido 3">
            <a:extLst>
              <a:ext uri="{FF2B5EF4-FFF2-40B4-BE49-F238E27FC236}">
                <a16:creationId xmlns:a16="http://schemas.microsoft.com/office/drawing/2014/main" id="{9AD9D906-E540-D768-DF8E-129059DB93FC}"/>
              </a:ext>
            </a:extLst>
          </p:cNvPr>
          <p:cNvSpPr>
            <a:spLocks noGrp="1"/>
          </p:cNvSpPr>
          <p:nvPr>
            <p:ph sz="quarter" idx="13"/>
          </p:nvPr>
        </p:nvSpPr>
        <p:spPr>
          <a:xfrm>
            <a:off x="219358" y="640079"/>
            <a:ext cx="11753284" cy="3332153"/>
          </a:xfrm>
        </p:spPr>
        <p:txBody>
          <a:bodyPr>
            <a:noAutofit/>
          </a:bodyPr>
          <a:lstStyle/>
          <a:p>
            <a:pPr marL="0" indent="0" algn="just">
              <a:lnSpc>
                <a:spcPct val="150000"/>
              </a:lnSpc>
              <a:buNone/>
            </a:pPr>
            <a:r>
              <a:rPr lang="es-AR" sz="1600" noProof="0" dirty="0"/>
              <a:t>La unificación de conjuntos se realizó utilizando una </a:t>
            </a:r>
            <a:r>
              <a:rPr lang="es-AR" sz="1600" b="1" noProof="0" dirty="0"/>
              <a:t>clave de unión compuesta por las tres variables que definen unívocamente cada observación en la grilla espaciotemporal: fecha, latitud y longitud</a:t>
            </a:r>
            <a:r>
              <a:rPr lang="es-AR" sz="1600" noProof="0" dirty="0"/>
              <a:t>.</a:t>
            </a:r>
          </a:p>
          <a:p>
            <a:pPr marL="0" indent="0" algn="just">
              <a:lnSpc>
                <a:spcPct val="150000"/>
              </a:lnSpc>
              <a:buNone/>
            </a:pPr>
            <a:r>
              <a:rPr lang="es-AR" sz="1600" noProof="0" dirty="0"/>
              <a:t>El resultado es un único conjunto de datos consolidado donde cada fila representa una celda de la grilla (~10km) en un día específico, y contiene tanto las variables meteorológicas con los 6 componentes del FWI como las variables objetivo con el conteo de focos y FRP promedio.</a:t>
            </a:r>
          </a:p>
          <a:p>
            <a:pPr marL="0" indent="0" algn="just">
              <a:lnSpc>
                <a:spcPct val="150000"/>
              </a:lnSpc>
              <a:buNone/>
            </a:pPr>
            <a:r>
              <a:rPr lang="es-AR" sz="1600" noProof="0" dirty="0"/>
              <a:t>Tras la unificación se observó un problema de </a:t>
            </a:r>
            <a:r>
              <a:rPr lang="es-AR" sz="1600" b="1" noProof="0" dirty="0"/>
              <a:t>discontinuidad temporal en las variables de focos de calor </a:t>
            </a:r>
            <a:r>
              <a:rPr lang="es-AR" sz="1600" noProof="0" dirty="0"/>
              <a:t>(</a:t>
            </a:r>
            <a:r>
              <a:rPr lang="es-AR" sz="1600" i="1" noProof="0" dirty="0" err="1"/>
              <a:t>num_focos</a:t>
            </a:r>
            <a:r>
              <a:rPr lang="es-AR" sz="1600" i="1" noProof="0" dirty="0"/>
              <a:t> </a:t>
            </a:r>
            <a:r>
              <a:rPr lang="es-AR" sz="1600" noProof="0" dirty="0"/>
              <a:t>y </a:t>
            </a:r>
            <a:r>
              <a:rPr lang="es-AR" sz="1600" i="1" noProof="0" dirty="0" err="1"/>
              <a:t>frp_mean</a:t>
            </a:r>
            <a:r>
              <a:rPr lang="es-AR" sz="1600" noProof="0" dirty="0"/>
              <a:t>). Para corregir estos registros anómalos y obtener una serie temporal más realista de la actividad del fuego, se implementó un </a:t>
            </a:r>
            <a:r>
              <a:rPr lang="es-AR" sz="1600" b="1" noProof="0" dirty="0"/>
              <a:t>proceso de interpolación y suavizado</a:t>
            </a:r>
            <a:r>
              <a:rPr lang="es-AR" sz="1600" noProof="0" dirty="0"/>
              <a:t>. Este tratamiento se aplicó de forma independiente a cada celda de la grilla (</a:t>
            </a:r>
            <a:r>
              <a:rPr lang="es-AR" sz="1600" i="1" noProof="0" dirty="0" err="1"/>
              <a:t>latitude</a:t>
            </a:r>
            <a:r>
              <a:rPr lang="es-AR" sz="1600" noProof="0" dirty="0"/>
              <a:t>, </a:t>
            </a:r>
            <a:r>
              <a:rPr lang="es-AR" sz="1600" i="1" noProof="0" dirty="0" err="1"/>
              <a:t>longitude</a:t>
            </a:r>
            <a:r>
              <a:rPr lang="es-AR" sz="1600" noProof="0" dirty="0"/>
              <a:t>).</a:t>
            </a:r>
          </a:p>
        </p:txBody>
      </p:sp>
      <p:pic>
        <p:nvPicPr>
          <p:cNvPr id="5" name="Imagen 4">
            <a:extLst>
              <a:ext uri="{FF2B5EF4-FFF2-40B4-BE49-F238E27FC236}">
                <a16:creationId xmlns:a16="http://schemas.microsoft.com/office/drawing/2014/main" id="{A28B7777-DFE9-07AC-B792-2D9EC35AC3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4377" y="4115362"/>
            <a:ext cx="4680000" cy="2506979"/>
          </a:xfrm>
          <a:prstGeom prst="rect">
            <a:avLst/>
          </a:prstGeom>
        </p:spPr>
      </p:pic>
      <p:pic>
        <p:nvPicPr>
          <p:cNvPr id="7" name="Imagen 6">
            <a:extLst>
              <a:ext uri="{FF2B5EF4-FFF2-40B4-BE49-F238E27FC236}">
                <a16:creationId xmlns:a16="http://schemas.microsoft.com/office/drawing/2014/main" id="{DA547AB0-B17C-824F-88A7-2EA2D1267E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27625" y="4115362"/>
            <a:ext cx="4680000" cy="2506979"/>
          </a:xfrm>
          <a:prstGeom prst="rect">
            <a:avLst/>
          </a:prstGeom>
        </p:spPr>
      </p:pic>
    </p:spTree>
    <p:extLst>
      <p:ext uri="{BB962C8B-B14F-4D97-AF65-F5344CB8AC3E}">
        <p14:creationId xmlns:p14="http://schemas.microsoft.com/office/powerpoint/2010/main" val="871580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DF0A-538B-E9D2-A473-E941030F13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E8C7A5-DB71-FA9B-58C7-7B8E4BBD6DB0}"/>
              </a:ext>
            </a:extLst>
          </p:cNvPr>
          <p:cNvSpPr>
            <a:spLocks noGrp="1"/>
          </p:cNvSpPr>
          <p:nvPr>
            <p:ph type="title"/>
          </p:nvPr>
        </p:nvSpPr>
        <p:spPr>
          <a:xfrm>
            <a:off x="219358" y="170098"/>
            <a:ext cx="11753284" cy="500462"/>
          </a:xfrm>
        </p:spPr>
        <p:txBody>
          <a:bodyPr anchor="t">
            <a:normAutofit fontScale="90000"/>
          </a:bodyPr>
          <a:lstStyle/>
          <a:p>
            <a:r>
              <a:rPr lang="es-AR" noProof="0" dirty="0"/>
              <a:t>Unificación</a:t>
            </a:r>
          </a:p>
        </p:txBody>
      </p:sp>
      <p:sp>
        <p:nvSpPr>
          <p:cNvPr id="4" name="Marcador de contenido 3">
            <a:extLst>
              <a:ext uri="{FF2B5EF4-FFF2-40B4-BE49-F238E27FC236}">
                <a16:creationId xmlns:a16="http://schemas.microsoft.com/office/drawing/2014/main" id="{403F1437-AA5A-5380-1455-A861DFCCE3A5}"/>
              </a:ext>
            </a:extLst>
          </p:cNvPr>
          <p:cNvSpPr>
            <a:spLocks noGrp="1"/>
          </p:cNvSpPr>
          <p:nvPr>
            <p:ph sz="quarter" idx="13"/>
          </p:nvPr>
        </p:nvSpPr>
        <p:spPr>
          <a:xfrm>
            <a:off x="219358" y="640079"/>
            <a:ext cx="11753284" cy="1876979"/>
          </a:xfrm>
        </p:spPr>
        <p:txBody>
          <a:bodyPr>
            <a:noAutofit/>
          </a:bodyPr>
          <a:lstStyle/>
          <a:p>
            <a:pPr marL="0" indent="0" algn="just">
              <a:lnSpc>
                <a:spcPct val="150000"/>
              </a:lnSpc>
              <a:buNone/>
            </a:pPr>
            <a:r>
              <a:rPr lang="es-AR" sz="1600" noProof="0" dirty="0"/>
              <a:t>En resumen, el </a:t>
            </a:r>
            <a:r>
              <a:rPr lang="es-AR" sz="1600" noProof="0" dirty="0" err="1"/>
              <a:t>dataset</a:t>
            </a:r>
            <a:r>
              <a:rPr lang="es-AR" sz="1600" noProof="0" dirty="0"/>
              <a:t> consolidado es un panel de datos espaciotemporales: cada fila representa una celda única de la grilla en un día específico. Para cada registro, el conjunto de datos provee: </a:t>
            </a:r>
          </a:p>
          <a:p>
            <a:pPr algn="just">
              <a:lnSpc>
                <a:spcPct val="150000"/>
              </a:lnSpc>
            </a:pPr>
            <a:r>
              <a:rPr lang="es-AR" sz="1600" b="1" noProof="0" dirty="0"/>
              <a:t>Predictores Meteorológicos: </a:t>
            </a:r>
            <a:r>
              <a:rPr lang="es-AR" sz="1600" noProof="0" dirty="0"/>
              <a:t>Información meteorológica más el conjunto de las 6 variables del FWI.</a:t>
            </a:r>
          </a:p>
          <a:p>
            <a:pPr algn="just">
              <a:lnSpc>
                <a:spcPct val="150000"/>
              </a:lnSpc>
            </a:pPr>
            <a:r>
              <a:rPr lang="es-AR" sz="1600" b="1" noProof="0" dirty="0"/>
              <a:t>Variables Objetivo: </a:t>
            </a:r>
            <a:r>
              <a:rPr lang="es-AR" sz="1600" noProof="0" dirty="0"/>
              <a:t>El conteo de focos, el promedio de FRP y la etiqueta binaria, ya filtradas, interpoladas y suavizadas</a:t>
            </a:r>
          </a:p>
        </p:txBody>
      </p:sp>
    </p:spTree>
    <p:extLst>
      <p:ext uri="{BB962C8B-B14F-4D97-AF65-F5344CB8AC3E}">
        <p14:creationId xmlns:p14="http://schemas.microsoft.com/office/powerpoint/2010/main" val="1151792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4E2D-D476-D6D4-921B-983525B4AA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6ABCE6-6CE4-A05E-0DEF-E93A1B6D2284}"/>
              </a:ext>
            </a:extLst>
          </p:cNvPr>
          <p:cNvSpPr>
            <a:spLocks noGrp="1"/>
          </p:cNvSpPr>
          <p:nvPr>
            <p:ph type="ctrTitle"/>
          </p:nvPr>
        </p:nvSpPr>
        <p:spPr>
          <a:xfrm>
            <a:off x="8247888" y="713232"/>
            <a:ext cx="3364992" cy="3227832"/>
          </a:xfrm>
        </p:spPr>
        <p:txBody>
          <a:bodyPr anchor="t">
            <a:normAutofit/>
          </a:bodyPr>
          <a:lstStyle/>
          <a:p>
            <a:r>
              <a:rPr lang="es-AR" noProof="0" dirty="0"/>
              <a:t>Análisis exploratorio de conjunto consolidado</a:t>
            </a:r>
          </a:p>
        </p:txBody>
      </p:sp>
      <p:sp>
        <p:nvSpPr>
          <p:cNvPr id="4" name="Subtítulo 3">
            <a:extLst>
              <a:ext uri="{FF2B5EF4-FFF2-40B4-BE49-F238E27FC236}">
                <a16:creationId xmlns:a16="http://schemas.microsoft.com/office/drawing/2014/main" id="{0C2BF488-1606-C1BC-D200-865AF087EF18}"/>
              </a:ext>
            </a:extLst>
          </p:cNvPr>
          <p:cNvSpPr>
            <a:spLocks noGrp="1"/>
          </p:cNvSpPr>
          <p:nvPr>
            <p:ph type="subTitle" idx="1"/>
          </p:nvPr>
        </p:nvSpPr>
        <p:spPr>
          <a:xfrm>
            <a:off x="8247888" y="5138927"/>
            <a:ext cx="3200400" cy="1197864"/>
          </a:xfrm>
        </p:spPr>
        <p:txBody>
          <a:bodyPr>
            <a:normAutofit/>
          </a:bodyPr>
          <a:lstStyle/>
          <a:p>
            <a:r>
              <a:rPr lang="es-AR" noProof="0" dirty="0"/>
              <a:t>Identificación de correlaciones y patrones en la información.</a:t>
            </a:r>
          </a:p>
        </p:txBody>
      </p:sp>
      <p:pic>
        <p:nvPicPr>
          <p:cNvPr id="5" name="Marcador de posición de imagen 4">
            <a:extLst>
              <a:ext uri="{FF2B5EF4-FFF2-40B4-BE49-F238E27FC236}">
                <a16:creationId xmlns:a16="http://schemas.microsoft.com/office/drawing/2014/main" id="{AF60A015-B7BB-B53B-08BF-06E2A8B2FD1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7194" r="10893"/>
          <a:stretch>
            <a:fillRect/>
          </a:stretch>
        </p:blipFill>
        <p:spPr>
          <a:xfrm>
            <a:off x="20" y="10"/>
            <a:ext cx="7548431" cy="6857990"/>
          </a:xfrm>
          <a:noFill/>
        </p:spPr>
      </p:pic>
    </p:spTree>
    <p:extLst>
      <p:ext uri="{BB962C8B-B14F-4D97-AF65-F5344CB8AC3E}">
        <p14:creationId xmlns:p14="http://schemas.microsoft.com/office/powerpoint/2010/main" val="1283197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05B2-D15A-A0EA-24F9-70E5BFA04F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DCF9CD8-1ADD-8B89-3616-93EAA9F26859}"/>
              </a:ext>
            </a:extLst>
          </p:cNvPr>
          <p:cNvSpPr>
            <a:spLocks noGrp="1"/>
          </p:cNvSpPr>
          <p:nvPr>
            <p:ph type="title"/>
          </p:nvPr>
        </p:nvSpPr>
        <p:spPr>
          <a:xfrm>
            <a:off x="618744" y="296295"/>
            <a:ext cx="10954512" cy="554638"/>
          </a:xfrm>
        </p:spPr>
        <p:txBody>
          <a:bodyPr anchor="b">
            <a:normAutofit/>
          </a:bodyPr>
          <a:lstStyle/>
          <a:p>
            <a:r>
              <a:rPr lang="es-AR" noProof="0" dirty="0"/>
              <a:t>Resolución</a:t>
            </a:r>
          </a:p>
        </p:txBody>
      </p:sp>
      <p:graphicFrame>
        <p:nvGraphicFramePr>
          <p:cNvPr id="6" name="Marcador de contenido 5">
            <a:extLst>
              <a:ext uri="{FF2B5EF4-FFF2-40B4-BE49-F238E27FC236}">
                <a16:creationId xmlns:a16="http://schemas.microsoft.com/office/drawing/2014/main" id="{C563FABA-A857-582C-B7D6-5A442E9B009E}"/>
              </a:ext>
            </a:extLst>
          </p:cNvPr>
          <p:cNvGraphicFramePr>
            <a:graphicFrameLocks noGrp="1"/>
          </p:cNvGraphicFramePr>
          <p:nvPr>
            <p:ph idx="1"/>
            <p:extLst>
              <p:ext uri="{D42A27DB-BD31-4B8C-83A1-F6EECF244321}">
                <p14:modId xmlns:p14="http://schemas.microsoft.com/office/powerpoint/2010/main" val="459922663"/>
              </p:ext>
            </p:extLst>
          </p:nvPr>
        </p:nvGraphicFramePr>
        <p:xfrm>
          <a:off x="612648" y="1396576"/>
          <a:ext cx="10954512" cy="4887810"/>
        </p:xfrm>
        <a:graphic>
          <a:graphicData uri="http://schemas.openxmlformats.org/drawingml/2006/table">
            <a:tbl>
              <a:tblPr firstRow="1" firstCol="1" bandRow="1">
                <a:tableStyleId>{F5AB1C69-6EDB-4FF4-983F-18BD219EF322}</a:tableStyleId>
              </a:tblPr>
              <a:tblGrid>
                <a:gridCol w="4932746">
                  <a:extLst>
                    <a:ext uri="{9D8B030D-6E8A-4147-A177-3AD203B41FA5}">
                      <a16:colId xmlns:a16="http://schemas.microsoft.com/office/drawing/2014/main" val="2735421393"/>
                    </a:ext>
                  </a:extLst>
                </a:gridCol>
                <a:gridCol w="6021766">
                  <a:extLst>
                    <a:ext uri="{9D8B030D-6E8A-4147-A177-3AD203B41FA5}">
                      <a16:colId xmlns:a16="http://schemas.microsoft.com/office/drawing/2014/main" val="293838717"/>
                    </a:ext>
                  </a:extLst>
                </a:gridCol>
              </a:tblGrid>
              <a:tr h="589962">
                <a:tc>
                  <a:txBody>
                    <a:bodyPr/>
                    <a:lstStyle/>
                    <a:p>
                      <a:pPr indent="450215" algn="ctr">
                        <a:lnSpc>
                          <a:spcPct val="150000"/>
                        </a:lnSpc>
                        <a:buNone/>
                      </a:pPr>
                      <a:r>
                        <a:rPr lang="es-AR" sz="2100" b="1" kern="0" cap="none" spc="60" noProof="0" dirty="0">
                          <a:solidFill>
                            <a:schemeClr val="bg1"/>
                          </a:solidFill>
                          <a:effectLst/>
                        </a:rPr>
                        <a:t>Característica</a:t>
                      </a:r>
                      <a:endParaRPr lang="es-AR" sz="2100" b="1" kern="100" cap="none" spc="60" noProof="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ctr"/>
                </a:tc>
                <a:tc>
                  <a:txBody>
                    <a:bodyPr/>
                    <a:lstStyle/>
                    <a:p>
                      <a:pPr indent="450215" algn="ctr">
                        <a:lnSpc>
                          <a:spcPct val="150000"/>
                        </a:lnSpc>
                        <a:buNone/>
                      </a:pPr>
                      <a:r>
                        <a:rPr lang="es-AR" sz="2100" b="1" kern="0" cap="none" spc="60" noProof="0" dirty="0">
                          <a:solidFill>
                            <a:schemeClr val="bg1"/>
                          </a:solidFill>
                          <a:effectLst/>
                        </a:rPr>
                        <a:t>Valor</a:t>
                      </a:r>
                      <a:endParaRPr lang="es-AR" sz="2100" b="1" kern="100" cap="none" spc="60" noProof="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ctr"/>
                </a:tc>
                <a:extLst>
                  <a:ext uri="{0D108BD9-81ED-4DB2-BD59-A6C34878D82A}">
                    <a16:rowId xmlns:a16="http://schemas.microsoft.com/office/drawing/2014/main" val="3552084206"/>
                  </a:ext>
                </a:extLst>
              </a:tr>
              <a:tr h="537231">
                <a:tc>
                  <a:txBody>
                    <a:bodyPr/>
                    <a:lstStyle/>
                    <a:p>
                      <a:pPr indent="450215">
                        <a:lnSpc>
                          <a:spcPct val="150000"/>
                        </a:lnSpc>
                        <a:buNone/>
                      </a:pPr>
                      <a:r>
                        <a:rPr lang="es-AR" sz="1800" b="1" kern="0" cap="none" spc="0" noProof="0" dirty="0">
                          <a:solidFill>
                            <a:schemeClr val="tx1"/>
                          </a:solidFill>
                          <a:effectLst/>
                        </a:rPr>
                        <a:t>Dimensiones (Celdas)</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11 × 11</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992419660"/>
                  </a:ext>
                </a:extLst>
              </a:tr>
              <a:tr h="537231">
                <a:tc>
                  <a:txBody>
                    <a:bodyPr/>
                    <a:lstStyle/>
                    <a:p>
                      <a:pPr indent="450215">
                        <a:lnSpc>
                          <a:spcPct val="150000"/>
                        </a:lnSpc>
                        <a:buNone/>
                      </a:pPr>
                      <a:r>
                        <a:rPr lang="es-AR" sz="1800" b="1" kern="0" cap="none" spc="0" noProof="0" dirty="0">
                          <a:solidFill>
                            <a:schemeClr val="tx1"/>
                          </a:solidFill>
                          <a:effectLst/>
                        </a:rPr>
                        <a:t>Total, celdas</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121</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1703653545"/>
                  </a:ext>
                </a:extLst>
              </a:tr>
              <a:tr h="537231">
                <a:tc>
                  <a:txBody>
                    <a:bodyPr/>
                    <a:lstStyle/>
                    <a:p>
                      <a:pPr indent="450215">
                        <a:lnSpc>
                          <a:spcPct val="150000"/>
                        </a:lnSpc>
                        <a:buNone/>
                      </a:pPr>
                      <a:r>
                        <a:rPr lang="es-AR" sz="1800" b="1" kern="0" cap="none" spc="0" noProof="0" dirty="0">
                          <a:solidFill>
                            <a:schemeClr val="tx1"/>
                          </a:solidFill>
                          <a:effectLst/>
                        </a:rPr>
                        <a:t>Resolución Angular</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0.10° × 0.10°</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1647679370"/>
                  </a:ext>
                </a:extLst>
              </a:tr>
              <a:tr h="537231">
                <a:tc>
                  <a:txBody>
                    <a:bodyPr/>
                    <a:lstStyle/>
                    <a:p>
                      <a:pPr indent="450215">
                        <a:lnSpc>
                          <a:spcPct val="150000"/>
                        </a:lnSpc>
                        <a:buNone/>
                      </a:pPr>
                      <a:r>
                        <a:rPr lang="es-AR" sz="1800" b="1" kern="0" cap="none" spc="0" noProof="0" dirty="0">
                          <a:solidFill>
                            <a:schemeClr val="tx1"/>
                          </a:solidFill>
                          <a:effectLst/>
                        </a:rPr>
                        <a:t>Resolución Métrica Aproximada (m)</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11.107 × 82,85</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2236862381"/>
                  </a:ext>
                </a:extLst>
              </a:tr>
              <a:tr h="537231">
                <a:tc>
                  <a:txBody>
                    <a:bodyPr/>
                    <a:lstStyle/>
                    <a:p>
                      <a:pPr indent="450215">
                        <a:lnSpc>
                          <a:spcPct val="150000"/>
                        </a:lnSpc>
                        <a:buNone/>
                      </a:pPr>
                      <a:r>
                        <a:rPr lang="es-AR" sz="1800" b="1" kern="0" cap="none" spc="0" noProof="0" dirty="0">
                          <a:solidFill>
                            <a:schemeClr val="tx1"/>
                          </a:solidFill>
                          <a:effectLst/>
                        </a:rPr>
                        <a:t>Área Total Aproximada (</a:t>
                      </a:r>
                      <a:r>
                        <a:rPr lang="es-AR" sz="1800" b="1" kern="0" cap="none" spc="0" noProof="0" dirty="0" err="1">
                          <a:solidFill>
                            <a:schemeClr val="tx1"/>
                          </a:solidFill>
                          <a:effectLst/>
                        </a:rPr>
                        <a:t>kms</a:t>
                      </a:r>
                      <a:r>
                        <a:rPr lang="es-AR" sz="1800" b="1" kern="0" cap="none" spc="0" noProof="0" dirty="0">
                          <a:solidFill>
                            <a:schemeClr val="tx1"/>
                          </a:solidFill>
                          <a:effectLst/>
                        </a:rPr>
                        <a:t>)</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111,1 × 82,9</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3768745720"/>
                  </a:ext>
                </a:extLst>
              </a:tr>
              <a:tr h="537231">
                <a:tc>
                  <a:txBody>
                    <a:bodyPr/>
                    <a:lstStyle/>
                    <a:p>
                      <a:pPr indent="450215">
                        <a:lnSpc>
                          <a:spcPct val="150000"/>
                        </a:lnSpc>
                        <a:buNone/>
                      </a:pPr>
                      <a:r>
                        <a:rPr lang="es-AR" sz="1800" b="1" kern="0" cap="none" spc="0" noProof="0" dirty="0">
                          <a:solidFill>
                            <a:schemeClr val="tx1"/>
                          </a:solidFill>
                          <a:effectLst/>
                        </a:rPr>
                        <a:t>Área Total Aproximada (kms^2)</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9201,7</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744149960"/>
                  </a:ext>
                </a:extLst>
              </a:tr>
              <a:tr h="537231">
                <a:tc>
                  <a:txBody>
                    <a:bodyPr/>
                    <a:lstStyle/>
                    <a:p>
                      <a:pPr indent="450215">
                        <a:lnSpc>
                          <a:spcPct val="150000"/>
                        </a:lnSpc>
                        <a:buNone/>
                      </a:pPr>
                      <a:r>
                        <a:rPr lang="es-AR" sz="1800" b="1" kern="0" cap="none" spc="0" noProof="0" dirty="0">
                          <a:solidFill>
                            <a:schemeClr val="tx1"/>
                          </a:solidFill>
                          <a:effectLst/>
                        </a:rPr>
                        <a:t>Extensión Longitudinal</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-72.00° a -71.00°</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2598609487"/>
                  </a:ext>
                </a:extLst>
              </a:tr>
              <a:tr h="537231">
                <a:tc>
                  <a:txBody>
                    <a:bodyPr/>
                    <a:lstStyle/>
                    <a:p>
                      <a:pPr indent="450215">
                        <a:lnSpc>
                          <a:spcPct val="150000"/>
                        </a:lnSpc>
                        <a:buNone/>
                      </a:pPr>
                      <a:r>
                        <a:rPr lang="es-AR" sz="1800" b="1" kern="0" cap="none" spc="0" noProof="0" dirty="0">
                          <a:solidFill>
                            <a:schemeClr val="tx1"/>
                          </a:solidFill>
                          <a:effectLst/>
                        </a:rPr>
                        <a:t>Extensión Latitudinal</a:t>
                      </a:r>
                      <a:endParaRPr lang="es-AR" sz="1800" b="1"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tc>
                  <a:txBody>
                    <a:bodyPr/>
                    <a:lstStyle/>
                    <a:p>
                      <a:pPr indent="450215" algn="r">
                        <a:lnSpc>
                          <a:spcPct val="150000"/>
                        </a:lnSpc>
                        <a:buNone/>
                      </a:pPr>
                      <a:r>
                        <a:rPr lang="es-AR" sz="1800" kern="0" cap="none" spc="0" noProof="0" dirty="0">
                          <a:solidFill>
                            <a:schemeClr val="tx1"/>
                          </a:solidFill>
                          <a:effectLst/>
                        </a:rPr>
                        <a:t>-42.00° a -41.00°</a:t>
                      </a:r>
                      <a:endParaRPr lang="es-AR" sz="1800" kern="100" cap="none" spc="0" noProof="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a:txBody>
                  <a:tcPr marL="31929" marR="31929" marT="119958" marB="0" anchor="b"/>
                </a:tc>
                <a:extLst>
                  <a:ext uri="{0D108BD9-81ED-4DB2-BD59-A6C34878D82A}">
                    <a16:rowId xmlns:a16="http://schemas.microsoft.com/office/drawing/2014/main" val="18078600"/>
                  </a:ext>
                </a:extLst>
              </a:tr>
            </a:tbl>
          </a:graphicData>
        </a:graphic>
      </p:graphicFrame>
    </p:spTree>
    <p:extLst>
      <p:ext uri="{BB962C8B-B14F-4D97-AF65-F5344CB8AC3E}">
        <p14:creationId xmlns:p14="http://schemas.microsoft.com/office/powerpoint/2010/main" val="633317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93D35-23E8-2223-98CF-9DC4BDA6BDF3}"/>
            </a:ext>
          </a:extLst>
        </p:cNvPr>
        <p:cNvGrpSpPr/>
        <p:nvPr/>
      </p:nvGrpSpPr>
      <p:grpSpPr>
        <a:xfrm>
          <a:off x="0" y="0"/>
          <a:ext cx="0" cy="0"/>
          <a:chOff x="0" y="0"/>
          <a:chExt cx="0" cy="0"/>
        </a:xfrm>
      </p:grpSpPr>
      <p:pic>
        <p:nvPicPr>
          <p:cNvPr id="5" name="Imagen 4" descr="Interfaz de usuario gráfica, Mapa&#10;&#10;El contenido generado por IA puede ser incorrecto.">
            <a:extLst>
              <a:ext uri="{FF2B5EF4-FFF2-40B4-BE49-F238E27FC236}">
                <a16:creationId xmlns:a16="http://schemas.microsoft.com/office/drawing/2014/main" id="{EE6D38AE-27CC-A15E-E8EB-3C2374BD034D}"/>
              </a:ext>
            </a:extLst>
          </p:cNvPr>
          <p:cNvPicPr>
            <a:picLocks noChangeAspect="1"/>
          </p:cNvPicPr>
          <p:nvPr/>
        </p:nvPicPr>
        <p:blipFill>
          <a:blip r:embed="rId2"/>
          <a:stretch>
            <a:fillRect/>
          </a:stretch>
        </p:blipFill>
        <p:spPr>
          <a:xfrm>
            <a:off x="3787103" y="-1"/>
            <a:ext cx="8404897" cy="6744929"/>
          </a:xfrm>
          <a:prstGeom prst="rect">
            <a:avLst/>
          </a:prstGeom>
          <a:noFill/>
        </p:spPr>
      </p:pic>
      <p:sp>
        <p:nvSpPr>
          <p:cNvPr id="7" name="Título 1">
            <a:extLst>
              <a:ext uri="{FF2B5EF4-FFF2-40B4-BE49-F238E27FC236}">
                <a16:creationId xmlns:a16="http://schemas.microsoft.com/office/drawing/2014/main" id="{35AA74CF-DC25-FB5C-49B0-FAD5EFEDD296}"/>
              </a:ext>
            </a:extLst>
          </p:cNvPr>
          <p:cNvSpPr txBox="1">
            <a:spLocks/>
          </p:cNvSpPr>
          <p:nvPr/>
        </p:nvSpPr>
        <p:spPr>
          <a:xfrm>
            <a:off x="618744" y="296295"/>
            <a:ext cx="10954512" cy="55463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r>
              <a:rPr lang="es-AR" noProof="0" dirty="0"/>
              <a:t>Resolución</a:t>
            </a:r>
          </a:p>
        </p:txBody>
      </p:sp>
    </p:spTree>
    <p:extLst>
      <p:ext uri="{BB962C8B-B14F-4D97-AF65-F5344CB8AC3E}">
        <p14:creationId xmlns:p14="http://schemas.microsoft.com/office/powerpoint/2010/main" val="3347892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9B235-1DC6-4A7B-4CDC-DB6A168978AE}"/>
            </a:ext>
          </a:extLst>
        </p:cNvPr>
        <p:cNvGrpSpPr/>
        <p:nvPr/>
      </p:nvGrpSpPr>
      <p:grpSpPr>
        <a:xfrm>
          <a:off x="0" y="0"/>
          <a:ext cx="0" cy="0"/>
          <a:chOff x="0" y="0"/>
          <a:chExt cx="0" cy="0"/>
        </a:xfrm>
      </p:grpSpPr>
      <p:pic>
        <p:nvPicPr>
          <p:cNvPr id="2" name="Imagen 1" descr="Gráfico, Calendario&#10;&#10;El contenido generado por IA puede ser incorrecto.">
            <a:extLst>
              <a:ext uri="{FF2B5EF4-FFF2-40B4-BE49-F238E27FC236}">
                <a16:creationId xmlns:a16="http://schemas.microsoft.com/office/drawing/2014/main" id="{2E03436D-32F3-BAF3-73B4-4E9D88C3F9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0661" y="1337187"/>
            <a:ext cx="11590677" cy="4578317"/>
          </a:xfrm>
          <a:prstGeom prst="rect">
            <a:avLst/>
          </a:prstGeom>
          <a:noFill/>
        </p:spPr>
      </p:pic>
      <p:sp>
        <p:nvSpPr>
          <p:cNvPr id="3" name="Título 1">
            <a:extLst>
              <a:ext uri="{FF2B5EF4-FFF2-40B4-BE49-F238E27FC236}">
                <a16:creationId xmlns:a16="http://schemas.microsoft.com/office/drawing/2014/main" id="{85371DC5-EF2A-1669-D018-A0CC5C031450}"/>
              </a:ext>
            </a:extLst>
          </p:cNvPr>
          <p:cNvSpPr txBox="1">
            <a:spLocks/>
          </p:cNvSpPr>
          <p:nvPr/>
        </p:nvSpPr>
        <p:spPr>
          <a:xfrm>
            <a:off x="618744" y="296295"/>
            <a:ext cx="10954512" cy="55463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r>
              <a:rPr lang="es-AR" noProof="0" dirty="0"/>
              <a:t>Resolución</a:t>
            </a:r>
          </a:p>
        </p:txBody>
      </p:sp>
    </p:spTree>
    <p:extLst>
      <p:ext uri="{BB962C8B-B14F-4D97-AF65-F5344CB8AC3E}">
        <p14:creationId xmlns:p14="http://schemas.microsoft.com/office/powerpoint/2010/main" val="2829343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63E4-FC90-FA57-9B34-84111CD7A34D}"/>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8F8003E4-EC70-A6CB-A249-631A18AB6F16}"/>
              </a:ext>
            </a:extLst>
          </p:cNvPr>
          <p:cNvSpPr txBox="1">
            <a:spLocks/>
          </p:cNvSpPr>
          <p:nvPr/>
        </p:nvSpPr>
        <p:spPr>
          <a:xfrm>
            <a:off x="521208" y="4463845"/>
            <a:ext cx="11146536" cy="78638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lgn="ctr">
              <a:spcAft>
                <a:spcPts val="600"/>
              </a:spcAft>
            </a:pPr>
            <a:r>
              <a:rPr lang="es-AR" sz="3600" b="0" kern="1200" noProof="0" dirty="0" err="1">
                <a:solidFill>
                  <a:schemeClr val="tx1"/>
                </a:solidFill>
                <a:latin typeface="+mj-lt"/>
                <a:ea typeface="+mj-ea"/>
                <a:cs typeface="+mj-cs"/>
              </a:rPr>
              <a:t>Fire</a:t>
            </a:r>
            <a:r>
              <a:rPr lang="es-AR" sz="3600" b="0" kern="1200" noProof="0" dirty="0">
                <a:solidFill>
                  <a:schemeClr val="tx1"/>
                </a:solidFill>
                <a:latin typeface="+mj-lt"/>
                <a:ea typeface="+mj-ea"/>
                <a:cs typeface="+mj-cs"/>
              </a:rPr>
              <a:t> </a:t>
            </a:r>
            <a:r>
              <a:rPr lang="es-AR" sz="3600" b="0" kern="1200" noProof="0" dirty="0" err="1">
                <a:solidFill>
                  <a:schemeClr val="tx1"/>
                </a:solidFill>
                <a:latin typeface="+mj-lt"/>
                <a:ea typeface="+mj-ea"/>
                <a:cs typeface="+mj-cs"/>
              </a:rPr>
              <a:t>Weather</a:t>
            </a:r>
            <a:r>
              <a:rPr lang="es-AR" sz="3600" b="0" kern="1200" noProof="0" dirty="0">
                <a:solidFill>
                  <a:schemeClr val="tx1"/>
                </a:solidFill>
                <a:latin typeface="+mj-lt"/>
                <a:ea typeface="+mj-ea"/>
                <a:cs typeface="+mj-cs"/>
              </a:rPr>
              <a:t> </a:t>
            </a:r>
            <a:r>
              <a:rPr lang="es-AR" sz="3600" b="0" kern="1200" noProof="0" dirty="0" err="1">
                <a:solidFill>
                  <a:schemeClr val="tx1"/>
                </a:solidFill>
                <a:latin typeface="+mj-lt"/>
                <a:ea typeface="+mj-ea"/>
                <a:cs typeface="+mj-cs"/>
              </a:rPr>
              <a:t>Index</a:t>
            </a:r>
            <a:r>
              <a:rPr lang="es-AR" sz="3600" b="0" kern="1200" noProof="0" dirty="0">
                <a:solidFill>
                  <a:schemeClr val="tx1"/>
                </a:solidFill>
                <a:latin typeface="+mj-lt"/>
                <a:ea typeface="+mj-ea"/>
                <a:cs typeface="+mj-cs"/>
              </a:rPr>
              <a:t> (FWI)</a:t>
            </a:r>
          </a:p>
        </p:txBody>
      </p:sp>
      <p:sp>
        <p:nvSpPr>
          <p:cNvPr id="4" name="CuadroTexto 3">
            <a:extLst>
              <a:ext uri="{FF2B5EF4-FFF2-40B4-BE49-F238E27FC236}">
                <a16:creationId xmlns:a16="http://schemas.microsoft.com/office/drawing/2014/main" id="{1B2A31E3-C3DA-3866-E65E-0AA5A934C625}"/>
              </a:ext>
            </a:extLst>
          </p:cNvPr>
          <p:cNvSpPr txBox="1"/>
          <p:nvPr/>
        </p:nvSpPr>
        <p:spPr>
          <a:xfrm>
            <a:off x="1143000" y="5250229"/>
            <a:ext cx="9902952" cy="576072"/>
          </a:xfrm>
          <a:prstGeom prst="rect">
            <a:avLst/>
          </a:prstGeom>
        </p:spPr>
        <p:txBody>
          <a:bodyPr vert="horz" lIns="91440" tIns="45720" rIns="91440" bIns="45720" rtlCol="0" anchor="t">
            <a:noAutofit/>
          </a:bodyPr>
          <a:lstStyle/>
          <a:p>
            <a:pPr algn="just">
              <a:lnSpc>
                <a:spcPct val="150000"/>
              </a:lnSpc>
              <a:spcBef>
                <a:spcPts val="1000"/>
              </a:spcBef>
            </a:pPr>
            <a:r>
              <a:rPr lang="es-AR" sz="1400" kern="1200" noProof="0" dirty="0">
                <a:latin typeface="+mn-lt"/>
                <a:ea typeface="+mn-ea"/>
                <a:cs typeface="+mn-cs"/>
              </a:rPr>
              <a:t>Los gráficos mostrados son generados a partir de un solo par de coordenadas, de otra forma quedaría inconsistente. En el análisis temporal se puede evidenciar la coherencia de las variables derivadas del FWI en relación con las meteorológicas, por ejemplo, como el efecto de las precipitaciones llevan el índice a prácticamente cero y la influencia de la velocidad del viento. También se observa la gran precipitación del día 23 de febrero de 2025 que fue la principal causa de la desaparición de los focos de calor</a:t>
            </a:r>
          </a:p>
        </p:txBody>
      </p:sp>
      <p:pic>
        <p:nvPicPr>
          <p:cNvPr id="9" name="Imagen 8">
            <a:extLst>
              <a:ext uri="{FF2B5EF4-FFF2-40B4-BE49-F238E27FC236}">
                <a16:creationId xmlns:a16="http://schemas.microsoft.com/office/drawing/2014/main" id="{1687A39C-E43F-03CC-634F-A2014AA7B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796" y="0"/>
            <a:ext cx="10166408" cy="4463845"/>
          </a:xfrm>
          <a:prstGeom prst="rect">
            <a:avLst/>
          </a:prstGeom>
        </p:spPr>
      </p:pic>
    </p:spTree>
    <p:extLst>
      <p:ext uri="{BB962C8B-B14F-4D97-AF65-F5344CB8AC3E}">
        <p14:creationId xmlns:p14="http://schemas.microsoft.com/office/powerpoint/2010/main" val="3258857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8DD0C-3A1A-B485-8DDD-E6B3958D541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D3B7EF1-91D1-B67F-19E0-DB880D001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661"/>
            <a:ext cx="12192000" cy="3523835"/>
          </a:xfrm>
          <a:prstGeom prst="rect">
            <a:avLst/>
          </a:prstGeom>
        </p:spPr>
      </p:pic>
      <p:pic>
        <p:nvPicPr>
          <p:cNvPr id="6" name="Imagen 5">
            <a:extLst>
              <a:ext uri="{FF2B5EF4-FFF2-40B4-BE49-F238E27FC236}">
                <a16:creationId xmlns:a16="http://schemas.microsoft.com/office/drawing/2014/main" id="{4969E2DE-CB6B-1A1B-CE20-DC8B947C8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29000"/>
            <a:ext cx="12192000" cy="3281339"/>
          </a:xfrm>
          <a:prstGeom prst="rect">
            <a:avLst/>
          </a:prstGeom>
        </p:spPr>
      </p:pic>
    </p:spTree>
    <p:extLst>
      <p:ext uri="{BB962C8B-B14F-4D97-AF65-F5344CB8AC3E}">
        <p14:creationId xmlns:p14="http://schemas.microsoft.com/office/powerpoint/2010/main" val="1490036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80430-5EBB-B405-EC55-03091AFCA11F}"/>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5E2082DC-FE98-073C-DF3B-62F858CED3DA}"/>
              </a:ext>
            </a:extLst>
          </p:cNvPr>
          <p:cNvSpPr txBox="1">
            <a:spLocks/>
          </p:cNvSpPr>
          <p:nvPr/>
        </p:nvSpPr>
        <p:spPr>
          <a:xfrm>
            <a:off x="658368" y="2103120"/>
            <a:ext cx="3666744" cy="262432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lgn="ctr">
              <a:spcAft>
                <a:spcPts val="600"/>
              </a:spcAft>
            </a:pPr>
            <a:r>
              <a:rPr lang="es-AR" sz="4800" b="0" kern="1200" noProof="0" dirty="0">
                <a:solidFill>
                  <a:schemeClr val="bg1"/>
                </a:solidFill>
                <a:latin typeface="+mj-lt"/>
                <a:ea typeface="+mj-ea"/>
                <a:cs typeface="+mj-cs"/>
              </a:rPr>
              <a:t>Resumen FWI</a:t>
            </a:r>
          </a:p>
        </p:txBody>
      </p:sp>
      <p:graphicFrame>
        <p:nvGraphicFramePr>
          <p:cNvPr id="2" name="Tabla 1">
            <a:extLst>
              <a:ext uri="{FF2B5EF4-FFF2-40B4-BE49-F238E27FC236}">
                <a16:creationId xmlns:a16="http://schemas.microsoft.com/office/drawing/2014/main" id="{DB7B9B85-C3D0-E512-B08D-D0E08382E6C6}"/>
              </a:ext>
            </a:extLst>
          </p:cNvPr>
          <p:cNvGraphicFramePr>
            <a:graphicFrameLocks noGrp="1"/>
          </p:cNvGraphicFramePr>
          <p:nvPr>
            <p:extLst>
              <p:ext uri="{D42A27DB-BD31-4B8C-83A1-F6EECF244321}">
                <p14:modId xmlns:p14="http://schemas.microsoft.com/office/powerpoint/2010/main" val="157209942"/>
              </p:ext>
            </p:extLst>
          </p:nvPr>
        </p:nvGraphicFramePr>
        <p:xfrm>
          <a:off x="5437239" y="1267988"/>
          <a:ext cx="6129921" cy="4322034"/>
        </p:xfrm>
        <a:graphic>
          <a:graphicData uri="http://schemas.openxmlformats.org/drawingml/2006/table">
            <a:tbl>
              <a:tblPr firstRow="1" bandRow="1">
                <a:tableStyleId>{0505E3EF-67EA-436B-97B2-0124C06EBD24}</a:tableStyleId>
              </a:tblPr>
              <a:tblGrid>
                <a:gridCol w="2487561">
                  <a:extLst>
                    <a:ext uri="{9D8B030D-6E8A-4147-A177-3AD203B41FA5}">
                      <a16:colId xmlns:a16="http://schemas.microsoft.com/office/drawing/2014/main" val="2084863339"/>
                    </a:ext>
                  </a:extLst>
                </a:gridCol>
                <a:gridCol w="3642360">
                  <a:extLst>
                    <a:ext uri="{9D8B030D-6E8A-4147-A177-3AD203B41FA5}">
                      <a16:colId xmlns:a16="http://schemas.microsoft.com/office/drawing/2014/main" val="1742331779"/>
                    </a:ext>
                  </a:extLst>
                </a:gridCol>
              </a:tblGrid>
              <a:tr h="480226">
                <a:tc>
                  <a:txBody>
                    <a:bodyPr/>
                    <a:lstStyle/>
                    <a:p>
                      <a:pPr algn="ctr" fontAlgn="b">
                        <a:buNone/>
                      </a:pPr>
                      <a:r>
                        <a:rPr lang="es-AR" sz="1200" b="1" u="none" strike="noStrike" noProof="0" dirty="0">
                          <a:solidFill>
                            <a:schemeClr val="tx1"/>
                          </a:solidFill>
                          <a:effectLst/>
                        </a:rPr>
                        <a:t>Métrica</a:t>
                      </a:r>
                      <a:endParaRPr lang="es-AR" sz="1200" b="1" i="1" u="none" strike="noStrike" noProof="0" dirty="0">
                        <a:solidFill>
                          <a:schemeClr val="tx1"/>
                        </a:solidFill>
                        <a:effectLst/>
                        <a:latin typeface="Aptos Narrow" panose="020B0004020202020204" pitchFamily="34" charset="0"/>
                      </a:endParaRPr>
                    </a:p>
                  </a:txBody>
                  <a:tcPr marL="172605" marR="103563" marT="103563" marB="103563" anchor="b"/>
                </a:tc>
                <a:tc>
                  <a:txBody>
                    <a:bodyPr/>
                    <a:lstStyle/>
                    <a:p>
                      <a:pPr algn="ctr" fontAlgn="b">
                        <a:buNone/>
                      </a:pPr>
                      <a:r>
                        <a:rPr lang="es-AR" sz="1200" b="1" u="none" strike="noStrike" noProof="0" dirty="0">
                          <a:solidFill>
                            <a:schemeClr val="tx1"/>
                          </a:solidFill>
                          <a:effectLst/>
                        </a:rPr>
                        <a:t>Valor</a:t>
                      </a:r>
                      <a:endParaRPr lang="es-AR" sz="1200" b="1" i="1" u="none" strike="noStrike" noProof="0" dirty="0">
                        <a:solidFill>
                          <a:schemeClr val="tx1"/>
                        </a:solidFill>
                        <a:effectLst/>
                        <a:latin typeface="Aptos Narrow" panose="020B0004020202020204" pitchFamily="34" charset="0"/>
                      </a:endParaRPr>
                    </a:p>
                  </a:txBody>
                  <a:tcPr marL="172605" marR="103563" marT="103563" marB="103563" anchor="b"/>
                </a:tc>
                <a:extLst>
                  <a:ext uri="{0D108BD9-81ED-4DB2-BD59-A6C34878D82A}">
                    <a16:rowId xmlns:a16="http://schemas.microsoft.com/office/drawing/2014/main" val="4132662177"/>
                  </a:ext>
                </a:extLst>
              </a:tr>
              <a:tr h="480226">
                <a:tc>
                  <a:txBody>
                    <a:bodyPr/>
                    <a:lstStyle/>
                    <a:p>
                      <a:pPr algn="l" fontAlgn="b">
                        <a:buNone/>
                      </a:pPr>
                      <a:r>
                        <a:rPr lang="es-AR" sz="1200" u="none" strike="noStrike" noProof="0" dirty="0" err="1">
                          <a:solidFill>
                            <a:schemeClr val="tx1">
                              <a:lumMod val="85000"/>
                              <a:lumOff val="15000"/>
                            </a:schemeClr>
                          </a:solidFill>
                          <a:effectLst/>
                        </a:rPr>
                        <a:t>Períod</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2024-12-01 a 2025-03-28</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826858005"/>
                  </a:ext>
                </a:extLst>
              </a:tr>
              <a:tr h="480226">
                <a:tc>
                  <a:txBody>
                    <a:bodyPr/>
                    <a:lstStyle/>
                    <a:p>
                      <a:pPr algn="l" fontAlgn="b">
                        <a:buNone/>
                      </a:pPr>
                      <a:r>
                        <a:rPr lang="es-AR" sz="1200" u="none" strike="noStrike" noProof="0" dirty="0">
                          <a:solidFill>
                            <a:schemeClr val="tx1">
                              <a:lumMod val="85000"/>
                              <a:lumOff val="15000"/>
                            </a:schemeClr>
                          </a:solidFill>
                          <a:effectLst/>
                        </a:rPr>
                        <a:t>Puntos Geográficos</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121</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2450762405"/>
                  </a:ext>
                </a:extLst>
              </a:tr>
              <a:tr h="480226">
                <a:tc>
                  <a:txBody>
                    <a:bodyPr/>
                    <a:lstStyle/>
                    <a:p>
                      <a:pPr algn="l" fontAlgn="b">
                        <a:buNone/>
                      </a:pPr>
                      <a:r>
                        <a:rPr lang="es-AR" sz="1200" u="none" strike="noStrike" noProof="0" dirty="0">
                          <a:solidFill>
                            <a:schemeClr val="tx1">
                              <a:lumMod val="85000"/>
                              <a:lumOff val="15000"/>
                            </a:schemeClr>
                          </a:solidFill>
                          <a:effectLst/>
                        </a:rPr>
                        <a:t>Días con Incendios</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21 (1.6% del período)</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1843454422"/>
                  </a:ext>
                </a:extLst>
              </a:tr>
              <a:tr h="480226">
                <a:tc>
                  <a:txBody>
                    <a:bodyPr/>
                    <a:lstStyle/>
                    <a:p>
                      <a:pPr algn="l" fontAlgn="b">
                        <a:buNone/>
                      </a:pPr>
                      <a:r>
                        <a:rPr lang="es-AR" sz="1200" u="none" strike="noStrike" noProof="0" dirty="0">
                          <a:solidFill>
                            <a:schemeClr val="tx1">
                              <a:lumMod val="85000"/>
                              <a:lumOff val="15000"/>
                            </a:schemeClr>
                          </a:solidFill>
                          <a:effectLst/>
                        </a:rPr>
                        <a:t>Rango FWI</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0.00 - 54.51</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1293778608"/>
                  </a:ext>
                </a:extLst>
              </a:tr>
              <a:tr h="480226">
                <a:tc>
                  <a:txBody>
                    <a:bodyPr/>
                    <a:lstStyle/>
                    <a:p>
                      <a:pPr algn="l" fontAlgn="b">
                        <a:buNone/>
                      </a:pPr>
                      <a:r>
                        <a:rPr lang="es-AR" sz="1200" u="none" strike="noStrike" noProof="0" dirty="0">
                          <a:solidFill>
                            <a:schemeClr val="tx1">
                              <a:lumMod val="85000"/>
                              <a:lumOff val="15000"/>
                            </a:schemeClr>
                          </a:solidFill>
                          <a:effectLst/>
                        </a:rPr>
                        <a:t>FWI Promedio</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9.07</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1618810145"/>
                  </a:ext>
                </a:extLst>
              </a:tr>
              <a:tr h="480226">
                <a:tc>
                  <a:txBody>
                    <a:bodyPr/>
                    <a:lstStyle/>
                    <a:p>
                      <a:pPr algn="l" fontAlgn="b">
                        <a:buNone/>
                      </a:pPr>
                      <a:r>
                        <a:rPr lang="es-AR" sz="1200" u="none" strike="noStrike" noProof="0" dirty="0">
                          <a:solidFill>
                            <a:schemeClr val="tx1">
                              <a:lumMod val="85000"/>
                              <a:lumOff val="15000"/>
                            </a:schemeClr>
                          </a:solidFill>
                          <a:effectLst/>
                        </a:rPr>
                        <a:t>Máximo Registrado</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54.51</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1523091348"/>
                  </a:ext>
                </a:extLst>
              </a:tr>
              <a:tr h="480226">
                <a:tc>
                  <a:txBody>
                    <a:bodyPr/>
                    <a:lstStyle/>
                    <a:p>
                      <a:pPr algn="l" fontAlgn="b">
                        <a:buNone/>
                      </a:pPr>
                      <a:r>
                        <a:rPr lang="es-AR" sz="1200" u="none" strike="noStrike" noProof="0" dirty="0">
                          <a:solidFill>
                            <a:schemeClr val="tx1">
                              <a:lumMod val="85000"/>
                              <a:lumOff val="15000"/>
                            </a:schemeClr>
                          </a:solidFill>
                          <a:effectLst/>
                        </a:rPr>
                        <a:t>Promedio (Días con Incendio)</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6.05</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1255151657"/>
                  </a:ext>
                </a:extLst>
              </a:tr>
              <a:tr h="480226">
                <a:tc>
                  <a:txBody>
                    <a:bodyPr/>
                    <a:lstStyle/>
                    <a:p>
                      <a:pPr algn="l" fontAlgn="b">
                        <a:buNone/>
                      </a:pPr>
                      <a:r>
                        <a:rPr lang="es-AR" sz="1200" u="none" strike="noStrike" noProof="0" dirty="0">
                          <a:solidFill>
                            <a:schemeClr val="tx1">
                              <a:lumMod val="85000"/>
                              <a:lumOff val="15000"/>
                            </a:schemeClr>
                          </a:solidFill>
                          <a:effectLst/>
                        </a:rPr>
                        <a:t>Promedio (Días sin Incendio)</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tc>
                  <a:txBody>
                    <a:bodyPr/>
                    <a:lstStyle/>
                    <a:p>
                      <a:pPr algn="r" fontAlgn="b">
                        <a:buNone/>
                      </a:pPr>
                      <a:r>
                        <a:rPr lang="es-AR" sz="1200" u="none" strike="noStrike" noProof="0" dirty="0">
                          <a:solidFill>
                            <a:schemeClr val="tx1">
                              <a:lumMod val="85000"/>
                              <a:lumOff val="15000"/>
                            </a:schemeClr>
                          </a:solidFill>
                          <a:effectLst/>
                        </a:rPr>
                        <a:t>9.12</a:t>
                      </a:r>
                      <a:endParaRPr lang="es-AR" sz="1200" b="0" i="0" u="none" strike="noStrike" noProof="0" dirty="0">
                        <a:solidFill>
                          <a:schemeClr val="tx1">
                            <a:lumMod val="85000"/>
                            <a:lumOff val="15000"/>
                          </a:schemeClr>
                        </a:solidFill>
                        <a:effectLst/>
                        <a:latin typeface="Aptos Narrow" panose="020B0004020202020204" pitchFamily="34" charset="0"/>
                      </a:endParaRPr>
                    </a:p>
                  </a:txBody>
                  <a:tcPr marL="172605" marR="103563" marT="103563" marB="103563" anchor="ctr"/>
                </a:tc>
                <a:extLst>
                  <a:ext uri="{0D108BD9-81ED-4DB2-BD59-A6C34878D82A}">
                    <a16:rowId xmlns:a16="http://schemas.microsoft.com/office/drawing/2014/main" val="691198630"/>
                  </a:ext>
                </a:extLst>
              </a:tr>
            </a:tbl>
          </a:graphicData>
        </a:graphic>
      </p:graphicFrame>
    </p:spTree>
    <p:extLst>
      <p:ext uri="{BB962C8B-B14F-4D97-AF65-F5344CB8AC3E}">
        <p14:creationId xmlns:p14="http://schemas.microsoft.com/office/powerpoint/2010/main" val="3624046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0CA98-D9D9-4A85-CD44-59D3F1F627C5}"/>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5C0FBC55-7C65-360A-44BE-316FE3E29737}"/>
              </a:ext>
            </a:extLst>
          </p:cNvPr>
          <p:cNvSpPr txBox="1">
            <a:spLocks/>
          </p:cNvSpPr>
          <p:nvPr/>
        </p:nvSpPr>
        <p:spPr>
          <a:xfrm>
            <a:off x="6272783" y="722376"/>
            <a:ext cx="5138927" cy="15819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spcAft>
                <a:spcPts val="600"/>
              </a:spcAft>
            </a:pPr>
            <a:r>
              <a:rPr lang="en-US" sz="6000" b="0" kern="1200" noProof="0" dirty="0">
                <a:gradFill>
                  <a:gsLst>
                    <a:gs pos="0">
                      <a:schemeClr val="accent2"/>
                    </a:gs>
                    <a:gs pos="100000">
                      <a:schemeClr val="accent5"/>
                    </a:gs>
                  </a:gsLst>
                  <a:lin ang="12000000" scaled="0"/>
                </a:gradFill>
                <a:latin typeface="+mj-lt"/>
                <a:ea typeface="+mj-ea"/>
                <a:cs typeface="+mj-cs"/>
              </a:rPr>
              <a:t>Focos de calor</a:t>
            </a:r>
          </a:p>
        </p:txBody>
      </p:sp>
      <p:pic>
        <p:nvPicPr>
          <p:cNvPr id="5" name="Imagen 4">
            <a:extLst>
              <a:ext uri="{FF2B5EF4-FFF2-40B4-BE49-F238E27FC236}">
                <a16:creationId xmlns:a16="http://schemas.microsoft.com/office/drawing/2014/main" id="{92386AA7-1CAC-4474-E2A5-E58C48D69002}"/>
              </a:ext>
            </a:extLst>
          </p:cNvPr>
          <p:cNvPicPr>
            <a:picLocks noChangeAspect="1"/>
          </p:cNvPicPr>
          <p:nvPr/>
        </p:nvPicPr>
        <p:blipFill>
          <a:blip r:embed="rId2"/>
          <a:srcRect r="2" b="551"/>
          <a:stretch>
            <a:fillRect/>
          </a:stretch>
        </p:blipFill>
        <p:spPr>
          <a:xfrm>
            <a:off x="119307" y="10"/>
            <a:ext cx="5413248" cy="6857990"/>
          </a:xfrm>
          <a:prstGeom prst="rect">
            <a:avLst/>
          </a:prstGeom>
          <a:noFill/>
        </p:spPr>
      </p:pic>
      <p:sp>
        <p:nvSpPr>
          <p:cNvPr id="20" name="Content Placeholder 3">
            <a:extLst>
              <a:ext uri="{FF2B5EF4-FFF2-40B4-BE49-F238E27FC236}">
                <a16:creationId xmlns:a16="http://schemas.microsoft.com/office/drawing/2014/main" id="{9403AD1D-C596-B6DC-3198-F81B1731531A}"/>
              </a:ext>
            </a:extLst>
          </p:cNvPr>
          <p:cNvSpPr>
            <a:spLocks noGrp="1"/>
          </p:cNvSpPr>
          <p:nvPr>
            <p:ph sz="quarter" idx="13"/>
          </p:nvPr>
        </p:nvSpPr>
        <p:spPr>
          <a:xfrm>
            <a:off x="6272784" y="2834640"/>
            <a:ext cx="5138928" cy="2999232"/>
          </a:xfrm>
        </p:spPr>
        <p:txBody>
          <a:bodyPr/>
          <a:lstStyle/>
          <a:p>
            <a:endParaRPr lang="en-US"/>
          </a:p>
        </p:txBody>
      </p:sp>
    </p:spTree>
    <p:extLst>
      <p:ext uri="{BB962C8B-B14F-4D97-AF65-F5344CB8AC3E}">
        <p14:creationId xmlns:p14="http://schemas.microsoft.com/office/powerpoint/2010/main" val="3331304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8299-431A-A93C-6112-BC85580160E1}"/>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7E59BF41-E18A-0D74-6B88-27307A086900}"/>
              </a:ext>
            </a:extLst>
          </p:cNvPr>
          <p:cNvPicPr>
            <a:picLocks noChangeAspect="1"/>
          </p:cNvPicPr>
          <p:nvPr/>
        </p:nvPicPr>
        <p:blipFill>
          <a:blip r:embed="rId2"/>
          <a:stretch>
            <a:fillRect/>
          </a:stretch>
        </p:blipFill>
        <p:spPr>
          <a:xfrm>
            <a:off x="6555246" y="2716738"/>
            <a:ext cx="4335531" cy="3995347"/>
          </a:xfrm>
          <a:prstGeom prst="rect">
            <a:avLst/>
          </a:prstGeom>
        </p:spPr>
      </p:pic>
      <p:pic>
        <p:nvPicPr>
          <p:cNvPr id="4" name="Imagen 3">
            <a:extLst>
              <a:ext uri="{FF2B5EF4-FFF2-40B4-BE49-F238E27FC236}">
                <a16:creationId xmlns:a16="http://schemas.microsoft.com/office/drawing/2014/main" id="{0CE01299-6A1E-31B7-CD93-5751767CF64F}"/>
              </a:ext>
            </a:extLst>
          </p:cNvPr>
          <p:cNvPicPr>
            <a:picLocks noChangeAspect="1"/>
          </p:cNvPicPr>
          <p:nvPr/>
        </p:nvPicPr>
        <p:blipFill>
          <a:blip r:embed="rId3">
            <a:extLst>
              <a:ext uri="{28A0092B-C50C-407E-A947-70E740481C1C}">
                <a14:useLocalDpi xmlns:a14="http://schemas.microsoft.com/office/drawing/2010/main" val="0"/>
              </a:ext>
            </a:extLst>
          </a:blip>
          <a:srcRect t="5025" b="5025"/>
          <a:stretch/>
        </p:blipFill>
        <p:spPr>
          <a:xfrm>
            <a:off x="0" y="145915"/>
            <a:ext cx="12191980" cy="3700797"/>
          </a:xfrm>
          <a:prstGeom prst="rect">
            <a:avLst/>
          </a:prstGeom>
          <a:noFill/>
        </p:spPr>
      </p:pic>
      <p:graphicFrame>
        <p:nvGraphicFramePr>
          <p:cNvPr id="12" name="Tabla 11">
            <a:extLst>
              <a:ext uri="{FF2B5EF4-FFF2-40B4-BE49-F238E27FC236}">
                <a16:creationId xmlns:a16="http://schemas.microsoft.com/office/drawing/2014/main" id="{E417EDF9-CBFB-6589-C412-5232BE2354EF}"/>
              </a:ext>
            </a:extLst>
          </p:cNvPr>
          <p:cNvGraphicFramePr>
            <a:graphicFrameLocks noGrp="1"/>
          </p:cNvGraphicFramePr>
          <p:nvPr>
            <p:extLst>
              <p:ext uri="{D42A27DB-BD31-4B8C-83A1-F6EECF244321}">
                <p14:modId xmlns:p14="http://schemas.microsoft.com/office/powerpoint/2010/main" val="3789226096"/>
              </p:ext>
            </p:extLst>
          </p:nvPr>
        </p:nvGraphicFramePr>
        <p:xfrm>
          <a:off x="339396" y="2886182"/>
          <a:ext cx="5099869" cy="3656457"/>
        </p:xfrm>
        <a:graphic>
          <a:graphicData uri="http://schemas.openxmlformats.org/drawingml/2006/table">
            <a:tbl>
              <a:tblPr>
                <a:tableStyleId>{0505E3EF-67EA-436B-97B2-0124C06EBD24}</a:tableStyleId>
              </a:tblPr>
              <a:tblGrid>
                <a:gridCol w="3464017">
                  <a:extLst>
                    <a:ext uri="{9D8B030D-6E8A-4147-A177-3AD203B41FA5}">
                      <a16:colId xmlns:a16="http://schemas.microsoft.com/office/drawing/2014/main" val="4218856798"/>
                    </a:ext>
                  </a:extLst>
                </a:gridCol>
                <a:gridCol w="1635852">
                  <a:extLst>
                    <a:ext uri="{9D8B030D-6E8A-4147-A177-3AD203B41FA5}">
                      <a16:colId xmlns:a16="http://schemas.microsoft.com/office/drawing/2014/main" val="509655709"/>
                    </a:ext>
                  </a:extLst>
                </a:gridCol>
              </a:tblGrid>
              <a:tr h="280720">
                <a:tc>
                  <a:txBody>
                    <a:bodyPr/>
                    <a:lstStyle/>
                    <a:p>
                      <a:pPr algn="ctr">
                        <a:lnSpc>
                          <a:spcPts val="1875"/>
                        </a:lnSpc>
                        <a:buNone/>
                      </a:pPr>
                      <a:r>
                        <a:rPr lang="es-AR" sz="1000" b="1">
                          <a:effectLst/>
                        </a:rPr>
                        <a:t>Métrica</a:t>
                      </a:r>
                      <a:endParaRPr lang="es-AR" sz="1000" b="1">
                        <a:effectLst/>
                        <a:latin typeface="quote-cjk-patch"/>
                      </a:endParaRPr>
                    </a:p>
                  </a:txBody>
                  <a:tcPr marL="152400" marR="152400" marT="95250" marB="95250" anchor="ctr"/>
                </a:tc>
                <a:tc>
                  <a:txBody>
                    <a:bodyPr/>
                    <a:lstStyle/>
                    <a:p>
                      <a:pPr algn="ctr">
                        <a:lnSpc>
                          <a:spcPts val="1875"/>
                        </a:lnSpc>
                        <a:buNone/>
                      </a:pPr>
                      <a:r>
                        <a:rPr lang="es-AR" sz="1000" b="1" dirty="0">
                          <a:effectLst/>
                        </a:rPr>
                        <a:t>Valor</a:t>
                      </a:r>
                      <a:endParaRPr lang="es-AR" sz="1000" b="1" dirty="0">
                        <a:effectLst/>
                        <a:latin typeface="quote-cjk-patch"/>
                      </a:endParaRPr>
                    </a:p>
                  </a:txBody>
                  <a:tcPr marL="152400" marR="152400" marT="95250" marB="95250" anchor="ctr"/>
                </a:tc>
                <a:extLst>
                  <a:ext uri="{0D108BD9-81ED-4DB2-BD59-A6C34878D82A}">
                    <a16:rowId xmlns:a16="http://schemas.microsoft.com/office/drawing/2014/main" val="3922360851"/>
                  </a:ext>
                </a:extLst>
              </a:tr>
              <a:tr h="280720">
                <a:tc>
                  <a:txBody>
                    <a:bodyPr/>
                    <a:lstStyle/>
                    <a:p>
                      <a:pPr>
                        <a:lnSpc>
                          <a:spcPts val="1875"/>
                        </a:lnSpc>
                        <a:buNone/>
                      </a:pPr>
                      <a:r>
                        <a:rPr lang="es-AR" sz="1000" b="1" dirty="0">
                          <a:effectLst/>
                        </a:rPr>
                        <a:t>Total de focos registrados</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2,267</a:t>
                      </a:r>
                      <a:endParaRPr lang="es-AR" sz="1000" b="0" dirty="0">
                        <a:effectLst/>
                        <a:latin typeface="quote-cjk-patch"/>
                      </a:endParaRPr>
                    </a:p>
                  </a:txBody>
                  <a:tcPr marL="152400" marT="95250" marB="95250" anchor="ctr"/>
                </a:tc>
                <a:extLst>
                  <a:ext uri="{0D108BD9-81ED-4DB2-BD59-A6C34878D82A}">
                    <a16:rowId xmlns:a16="http://schemas.microsoft.com/office/drawing/2014/main" val="2382048109"/>
                  </a:ext>
                </a:extLst>
              </a:tr>
              <a:tr h="280720">
                <a:tc>
                  <a:txBody>
                    <a:bodyPr/>
                    <a:lstStyle/>
                    <a:p>
                      <a:pPr>
                        <a:lnSpc>
                          <a:spcPts val="1875"/>
                        </a:lnSpc>
                        <a:buNone/>
                      </a:pPr>
                      <a:r>
                        <a:rPr lang="es-AR" sz="1000" b="1" dirty="0">
                          <a:effectLst/>
                        </a:rPr>
                        <a:t>Puntos geográficos con focos</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8</a:t>
                      </a:r>
                      <a:endParaRPr lang="es-AR" sz="1000" b="0" dirty="0">
                        <a:effectLst/>
                        <a:latin typeface="quote-cjk-patch"/>
                      </a:endParaRPr>
                    </a:p>
                  </a:txBody>
                  <a:tcPr marL="152400" marT="95250" marB="95250" anchor="ctr"/>
                </a:tc>
                <a:extLst>
                  <a:ext uri="{0D108BD9-81ED-4DB2-BD59-A6C34878D82A}">
                    <a16:rowId xmlns:a16="http://schemas.microsoft.com/office/drawing/2014/main" val="1633444306"/>
                  </a:ext>
                </a:extLst>
              </a:tr>
              <a:tr h="280720">
                <a:tc>
                  <a:txBody>
                    <a:bodyPr/>
                    <a:lstStyle/>
                    <a:p>
                      <a:pPr>
                        <a:lnSpc>
                          <a:spcPts val="1875"/>
                        </a:lnSpc>
                        <a:buNone/>
                      </a:pPr>
                      <a:r>
                        <a:rPr lang="es-AR" sz="1000" b="1" dirty="0">
                          <a:effectLst/>
                        </a:rPr>
                        <a:t>Máximo de focos en un día</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42</a:t>
                      </a:r>
                      <a:endParaRPr lang="es-AR" sz="1000" b="0" dirty="0">
                        <a:effectLst/>
                        <a:latin typeface="quote-cjk-patch"/>
                      </a:endParaRPr>
                    </a:p>
                  </a:txBody>
                  <a:tcPr marL="152400" marT="95250" marB="95250" anchor="ctr"/>
                </a:tc>
                <a:extLst>
                  <a:ext uri="{0D108BD9-81ED-4DB2-BD59-A6C34878D82A}">
                    <a16:rowId xmlns:a16="http://schemas.microsoft.com/office/drawing/2014/main" val="3579407766"/>
                  </a:ext>
                </a:extLst>
              </a:tr>
              <a:tr h="280720">
                <a:tc>
                  <a:txBody>
                    <a:bodyPr/>
                    <a:lstStyle/>
                    <a:p>
                      <a:pPr>
                        <a:lnSpc>
                          <a:spcPts val="1875"/>
                        </a:lnSpc>
                        <a:buNone/>
                      </a:pPr>
                      <a:r>
                        <a:rPr lang="es-AR" sz="1000" b="1" dirty="0">
                          <a:effectLst/>
                        </a:rPr>
                        <a:t>FRP (Potencia </a:t>
                      </a:r>
                      <a:r>
                        <a:rPr lang="es-AR" sz="1000" b="1" dirty="0" err="1">
                          <a:effectLst/>
                        </a:rPr>
                        <a:t>Radiativa</a:t>
                      </a:r>
                      <a:r>
                        <a:rPr lang="es-AR" sz="1000" b="1" dirty="0">
                          <a:effectLst/>
                        </a:rPr>
                        <a:t>) promedio</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11.22 MW</a:t>
                      </a:r>
                      <a:endParaRPr lang="es-AR" sz="1000" b="0" dirty="0">
                        <a:effectLst/>
                        <a:latin typeface="quote-cjk-patch"/>
                      </a:endParaRPr>
                    </a:p>
                  </a:txBody>
                  <a:tcPr marL="152400" marT="95250" marB="95250" anchor="ctr"/>
                </a:tc>
                <a:extLst>
                  <a:ext uri="{0D108BD9-81ED-4DB2-BD59-A6C34878D82A}">
                    <a16:rowId xmlns:a16="http://schemas.microsoft.com/office/drawing/2014/main" val="2798135895"/>
                  </a:ext>
                </a:extLst>
              </a:tr>
              <a:tr h="280720">
                <a:tc>
                  <a:txBody>
                    <a:bodyPr/>
                    <a:lstStyle/>
                    <a:p>
                      <a:pPr>
                        <a:lnSpc>
                          <a:spcPts val="1875"/>
                        </a:lnSpc>
                        <a:buNone/>
                      </a:pPr>
                      <a:r>
                        <a:rPr lang="es-AR" sz="1000" b="1" dirty="0">
                          <a:effectLst/>
                        </a:rPr>
                        <a:t>FWI (Índice Meteorológico de Incendios)</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a:effectLst/>
                        </a:rPr>
                        <a:t>6.05</a:t>
                      </a:r>
                      <a:endParaRPr lang="es-AR" sz="1000" b="0">
                        <a:effectLst/>
                        <a:latin typeface="quote-cjk-patch"/>
                      </a:endParaRPr>
                    </a:p>
                  </a:txBody>
                  <a:tcPr marL="152400" marT="95250" marB="95250" anchor="ctr"/>
                </a:tc>
                <a:extLst>
                  <a:ext uri="{0D108BD9-81ED-4DB2-BD59-A6C34878D82A}">
                    <a16:rowId xmlns:a16="http://schemas.microsoft.com/office/drawing/2014/main" val="1004120598"/>
                  </a:ext>
                </a:extLst>
              </a:tr>
              <a:tr h="280720">
                <a:tc>
                  <a:txBody>
                    <a:bodyPr/>
                    <a:lstStyle/>
                    <a:p>
                      <a:pPr>
                        <a:lnSpc>
                          <a:spcPts val="1875"/>
                        </a:lnSpc>
                        <a:buNone/>
                      </a:pPr>
                      <a:r>
                        <a:rPr lang="es-AR" sz="1000" b="1" dirty="0">
                          <a:effectLst/>
                        </a:rPr>
                        <a:t>Temperatura</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19.19 °C</a:t>
                      </a:r>
                      <a:endParaRPr lang="es-AR" sz="1000" b="0" dirty="0">
                        <a:effectLst/>
                        <a:latin typeface="quote-cjk-patch"/>
                      </a:endParaRPr>
                    </a:p>
                  </a:txBody>
                  <a:tcPr marL="152400" marT="95250" marB="95250" anchor="ctr"/>
                </a:tc>
                <a:extLst>
                  <a:ext uri="{0D108BD9-81ED-4DB2-BD59-A6C34878D82A}">
                    <a16:rowId xmlns:a16="http://schemas.microsoft.com/office/drawing/2014/main" val="1347461908"/>
                  </a:ext>
                </a:extLst>
              </a:tr>
              <a:tr h="280720">
                <a:tc>
                  <a:txBody>
                    <a:bodyPr/>
                    <a:lstStyle/>
                    <a:p>
                      <a:pPr>
                        <a:lnSpc>
                          <a:spcPts val="1875"/>
                        </a:lnSpc>
                        <a:buNone/>
                      </a:pPr>
                      <a:r>
                        <a:rPr lang="es-AR" sz="1000" b="1" dirty="0">
                          <a:effectLst/>
                        </a:rPr>
                        <a:t>Velocidad del Viento</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1.13 m/s</a:t>
                      </a:r>
                      <a:endParaRPr lang="es-AR" sz="1000" b="0" dirty="0">
                        <a:effectLst/>
                        <a:latin typeface="quote-cjk-patch"/>
                      </a:endParaRPr>
                    </a:p>
                  </a:txBody>
                  <a:tcPr marL="152400" marT="95250" marB="95250" anchor="ctr"/>
                </a:tc>
                <a:extLst>
                  <a:ext uri="{0D108BD9-81ED-4DB2-BD59-A6C34878D82A}">
                    <a16:rowId xmlns:a16="http://schemas.microsoft.com/office/drawing/2014/main" val="813841298"/>
                  </a:ext>
                </a:extLst>
              </a:tr>
              <a:tr h="280720">
                <a:tc>
                  <a:txBody>
                    <a:bodyPr/>
                    <a:lstStyle/>
                    <a:p>
                      <a:pPr>
                        <a:lnSpc>
                          <a:spcPts val="1875"/>
                        </a:lnSpc>
                        <a:buNone/>
                      </a:pPr>
                      <a:r>
                        <a:rPr lang="es-AR" sz="1000" b="1" dirty="0">
                          <a:effectLst/>
                        </a:rPr>
                        <a:t>Humedad Relativa</a:t>
                      </a:r>
                      <a:endParaRPr lang="es-AR" sz="1000" b="0" dirty="0">
                        <a:effectLst/>
                        <a:latin typeface="quote-cjk-patch"/>
                      </a:endParaRPr>
                    </a:p>
                  </a:txBody>
                  <a:tcPr marL="152400" marR="152400" marT="95250" marB="95250" anchor="ctr"/>
                </a:tc>
                <a:tc>
                  <a:txBody>
                    <a:bodyPr/>
                    <a:lstStyle/>
                    <a:p>
                      <a:pPr algn="r">
                        <a:lnSpc>
                          <a:spcPts val="1875"/>
                        </a:lnSpc>
                        <a:buNone/>
                      </a:pPr>
                      <a:r>
                        <a:rPr lang="es-AR" sz="1000" b="0" dirty="0">
                          <a:effectLst/>
                        </a:rPr>
                        <a:t>43.16%</a:t>
                      </a:r>
                      <a:endParaRPr lang="es-AR" sz="1000" b="0" dirty="0">
                        <a:effectLst/>
                        <a:latin typeface="quote-cjk-patch"/>
                      </a:endParaRPr>
                    </a:p>
                  </a:txBody>
                  <a:tcPr marL="152400" marT="95250" marB="95250" anchor="ctr"/>
                </a:tc>
                <a:extLst>
                  <a:ext uri="{0D108BD9-81ED-4DB2-BD59-A6C34878D82A}">
                    <a16:rowId xmlns:a16="http://schemas.microsoft.com/office/drawing/2014/main" val="1131512024"/>
                  </a:ext>
                </a:extLst>
              </a:tr>
            </a:tbl>
          </a:graphicData>
        </a:graphic>
      </p:graphicFrame>
    </p:spTree>
    <p:extLst>
      <p:ext uri="{BB962C8B-B14F-4D97-AF65-F5344CB8AC3E}">
        <p14:creationId xmlns:p14="http://schemas.microsoft.com/office/powerpoint/2010/main" val="123631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199DE-78A0-E7BE-2B62-838D7ECD9CC6}"/>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164BC112-90C4-FE2E-8C56-C040A9C5A701}"/>
              </a:ext>
            </a:extLst>
          </p:cNvPr>
          <p:cNvSpPr txBox="1">
            <a:spLocks/>
          </p:cNvSpPr>
          <p:nvPr/>
        </p:nvSpPr>
        <p:spPr>
          <a:xfrm>
            <a:off x="658368" y="2103120"/>
            <a:ext cx="3666744" cy="262432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b="0" kern="1200" dirty="0">
                <a:gradFill>
                  <a:gsLst>
                    <a:gs pos="0">
                      <a:schemeClr val="accent5"/>
                    </a:gs>
                    <a:gs pos="100000">
                      <a:schemeClr val="accent2"/>
                    </a:gs>
                  </a:gsLst>
                  <a:lin ang="13800000" scaled="0"/>
                </a:gradFill>
                <a:latin typeface="+mj-lt"/>
                <a:ea typeface="+mj-ea"/>
                <a:cs typeface="+mj-cs"/>
              </a:defRPr>
            </a:lvl1pPr>
          </a:lstStyle>
          <a:p>
            <a:pPr algn="ctr">
              <a:spcAft>
                <a:spcPts val="600"/>
              </a:spcAft>
            </a:pPr>
            <a:r>
              <a:rPr lang="es-AR" sz="4800" b="0" kern="1200" noProof="0" dirty="0">
                <a:solidFill>
                  <a:schemeClr val="bg1"/>
                </a:solidFill>
                <a:latin typeface="+mj-lt"/>
                <a:ea typeface="+mj-ea"/>
                <a:cs typeface="+mj-cs"/>
              </a:rPr>
              <a:t>Próximos pasos</a:t>
            </a:r>
          </a:p>
        </p:txBody>
      </p:sp>
      <p:sp>
        <p:nvSpPr>
          <p:cNvPr id="3" name="CuadroTexto 2">
            <a:extLst>
              <a:ext uri="{FF2B5EF4-FFF2-40B4-BE49-F238E27FC236}">
                <a16:creationId xmlns:a16="http://schemas.microsoft.com/office/drawing/2014/main" id="{3FE1DC0A-B11C-1818-C7D9-7E5486E21104}"/>
              </a:ext>
            </a:extLst>
          </p:cNvPr>
          <p:cNvSpPr txBox="1"/>
          <p:nvPr/>
        </p:nvSpPr>
        <p:spPr>
          <a:xfrm>
            <a:off x="5684363" y="1923235"/>
            <a:ext cx="5349221" cy="3011530"/>
          </a:xfrm>
          <a:prstGeom prst="rect">
            <a:avLst/>
          </a:prstGeom>
          <a:noFill/>
        </p:spPr>
        <p:txBody>
          <a:bodyPr wrap="none" rtlCol="0">
            <a:spAutoFit/>
          </a:bodyPr>
          <a:lstStyle/>
          <a:p>
            <a:pPr marL="342900" indent="-342900" algn="just">
              <a:lnSpc>
                <a:spcPct val="150000"/>
              </a:lnSpc>
              <a:buAutoNum type="arabicPeriod"/>
            </a:pPr>
            <a:r>
              <a:rPr lang="es-AR" sz="1600" dirty="0"/>
              <a:t>Desarrollo de base de datos para almacenamiento.</a:t>
            </a:r>
          </a:p>
          <a:p>
            <a:pPr marL="342900" indent="-342900" algn="just">
              <a:lnSpc>
                <a:spcPct val="150000"/>
              </a:lnSpc>
              <a:buAutoNum type="arabicPeriod"/>
            </a:pPr>
            <a:r>
              <a:rPr lang="es-AR" sz="1600" dirty="0"/>
              <a:t>Desarrollo de interfaces:</a:t>
            </a:r>
          </a:p>
          <a:p>
            <a:pPr marL="800100" lvl="1" indent="-342900" algn="just">
              <a:lnSpc>
                <a:spcPct val="150000"/>
              </a:lnSpc>
              <a:buFont typeface="+mj-lt"/>
              <a:buAutoNum type="alphaLcPeriod"/>
            </a:pPr>
            <a:r>
              <a:rPr lang="es-AR" sz="1600" dirty="0"/>
              <a:t>Datos topográficos.</a:t>
            </a:r>
          </a:p>
          <a:p>
            <a:pPr marL="800100" lvl="1" indent="-342900" algn="just">
              <a:lnSpc>
                <a:spcPct val="150000"/>
              </a:lnSpc>
              <a:buFont typeface="+mj-lt"/>
              <a:buAutoNum type="alphaLcPeriod"/>
            </a:pPr>
            <a:r>
              <a:rPr lang="es-AR" sz="1600" dirty="0"/>
              <a:t>Datos específicos de vegetación.</a:t>
            </a:r>
          </a:p>
          <a:p>
            <a:pPr marL="800100" lvl="1" indent="-342900" algn="just">
              <a:lnSpc>
                <a:spcPct val="150000"/>
              </a:lnSpc>
              <a:buFont typeface="+mj-lt"/>
              <a:buAutoNum type="alphaLcPeriod"/>
            </a:pPr>
            <a:r>
              <a:rPr lang="es-AR" sz="1600" dirty="0"/>
              <a:t>Datos de impacto de rayos.</a:t>
            </a:r>
          </a:p>
          <a:p>
            <a:pPr marL="800100" lvl="1" indent="-342900" algn="just">
              <a:lnSpc>
                <a:spcPct val="150000"/>
              </a:lnSpc>
              <a:buFont typeface="+mj-lt"/>
              <a:buAutoNum type="alphaLcPeriod"/>
            </a:pPr>
            <a:r>
              <a:rPr lang="es-AR" sz="1600" dirty="0"/>
              <a:t>Datos de proximidad a sendas de acceso publico.</a:t>
            </a:r>
          </a:p>
          <a:p>
            <a:pPr marL="342900" indent="-342900" algn="just">
              <a:lnSpc>
                <a:spcPct val="150000"/>
              </a:lnSpc>
              <a:buAutoNum type="arabicPeriod"/>
            </a:pPr>
            <a:r>
              <a:rPr lang="es-AR" sz="1600" dirty="0"/>
              <a:t>Actualización automática de registros en BBDD vía </a:t>
            </a:r>
            <a:r>
              <a:rPr lang="es-AR" sz="1600" dirty="0" err="1"/>
              <a:t>APIs</a:t>
            </a:r>
            <a:r>
              <a:rPr lang="es-AR" sz="1600" dirty="0"/>
              <a:t>.</a:t>
            </a:r>
          </a:p>
          <a:p>
            <a:pPr marL="342900" indent="-342900" algn="just">
              <a:lnSpc>
                <a:spcPct val="150000"/>
              </a:lnSpc>
              <a:buAutoNum type="arabicPeriod"/>
            </a:pPr>
            <a:r>
              <a:rPr lang="es-AR" sz="1600" dirty="0"/>
              <a:t>Consolidación de datos vía </a:t>
            </a:r>
            <a:r>
              <a:rPr lang="es-AR" sz="1600" dirty="0" err="1"/>
              <a:t>queries</a:t>
            </a:r>
            <a:r>
              <a:rPr lang="es-AR" sz="1600" dirty="0"/>
              <a:t> a BBDD.</a:t>
            </a:r>
          </a:p>
        </p:txBody>
      </p:sp>
    </p:spTree>
    <p:extLst>
      <p:ext uri="{BB962C8B-B14F-4D97-AF65-F5344CB8AC3E}">
        <p14:creationId xmlns:p14="http://schemas.microsoft.com/office/powerpoint/2010/main" val="1691733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9E12D-2BC4-D403-EB86-DC6F62EA598E}"/>
              </a:ext>
            </a:extLst>
          </p:cNvPr>
          <p:cNvSpPr>
            <a:spLocks noGrp="1"/>
          </p:cNvSpPr>
          <p:nvPr>
            <p:ph type="title"/>
          </p:nvPr>
        </p:nvSpPr>
        <p:spPr>
          <a:xfrm>
            <a:off x="612648" y="2093976"/>
            <a:ext cx="6528816" cy="4178808"/>
          </a:xfrm>
        </p:spPr>
        <p:txBody>
          <a:bodyPr anchor="b">
            <a:normAutofit/>
          </a:bodyPr>
          <a:lstStyle/>
          <a:p>
            <a:r>
              <a:rPr lang="es-AR" dirty="0"/>
              <a:t>Muchas gracias.</a:t>
            </a:r>
          </a:p>
        </p:txBody>
      </p:sp>
    </p:spTree>
    <p:extLst>
      <p:ext uri="{BB962C8B-B14F-4D97-AF65-F5344CB8AC3E}">
        <p14:creationId xmlns:p14="http://schemas.microsoft.com/office/powerpoint/2010/main" val="2211116850"/>
      </p:ext>
    </p:extLst>
  </p:cSld>
  <p:clrMapOvr>
    <a:masterClrMapping/>
  </p:clrMapOvr>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1054</TotalTime>
  <Words>2664</Words>
  <Application>Microsoft Office PowerPoint</Application>
  <PresentationFormat>Panorámica</PresentationFormat>
  <Paragraphs>211</Paragraphs>
  <Slides>31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31</vt:i4>
      </vt:variant>
    </vt:vector>
  </HeadingPairs>
  <TitlesOfParts>
    <vt:vector size="38" baseType="lpstr">
      <vt:lpstr>Aptos</vt:lpstr>
      <vt:lpstr>Aptos Light</vt:lpstr>
      <vt:lpstr>Aptos Narrow</vt:lpstr>
      <vt:lpstr>Arial</vt:lpstr>
      <vt:lpstr>quote-cjk-patch</vt:lpstr>
      <vt:lpstr>Times New Roman</vt:lpstr>
      <vt:lpstr>Chroma</vt:lpstr>
      <vt:lpstr>Incendios forestales de la Patagonia Andina</vt:lpstr>
      <vt:lpstr>Índice</vt:lpstr>
      <vt:lpstr>Introducción</vt:lpstr>
      <vt:lpstr>Introducción</vt:lpstr>
      <vt:lpstr>Introducción</vt:lpstr>
      <vt:lpstr>Objetivos</vt:lpstr>
      <vt:lpstr>Antecedentes</vt:lpstr>
      <vt:lpstr>Antecedentes</vt:lpstr>
      <vt:lpstr>Datos</vt:lpstr>
      <vt:lpstr>Adquisición</vt:lpstr>
      <vt:lpstr>Adquisición</vt:lpstr>
      <vt:lpstr>Adquisición</vt:lpstr>
      <vt:lpstr>Adquisición</vt:lpstr>
      <vt:lpstr>ERA5-Land</vt:lpstr>
      <vt:lpstr>Visible Infrared Imaging Radiometer Suite (VIIRS)</vt:lpstr>
      <vt:lpstr>Tratamiento</vt:lpstr>
      <vt:lpstr>Meteorológicos</vt:lpstr>
      <vt:lpstr>Focos de calor</vt:lpstr>
      <vt:lpstr>Unificación</vt:lpstr>
      <vt:lpstr>Unificación</vt:lpstr>
      <vt:lpstr>Análisis exploratorio de conjunto consolidado</vt:lpstr>
      <vt:lpstr>Resolución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Ezequiel Villagra Turco</dc:creator>
  <cp:lastModifiedBy>Claudio Ezequiel Villagra Turco</cp:lastModifiedBy>
  <cp:revision>19</cp:revision>
  <dcterms:created xsi:type="dcterms:W3CDTF">2025-10-28T15:55:22Z</dcterms:created>
  <dcterms:modified xsi:type="dcterms:W3CDTF">2025-10-30T17:52:05Z</dcterms:modified>
</cp:coreProperties>
</file>