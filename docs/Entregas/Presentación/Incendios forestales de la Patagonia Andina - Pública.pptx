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58" r:id="rId1"/>
  </p:sldMasterIdLst>
  <p:notesMasterIdLst>
    <p:notesMasterId r:id="rId28"/>
  </p:notesMasterIdLst>
  <p:sldIdLst>
    <p:sldId id="256" r:id="rId2"/>
    <p:sldId id="257" r:id="rId3"/>
    <p:sldId id="258" r:id="rId4"/>
    <p:sldId id="263" r:id="rId5"/>
    <p:sldId id="259" r:id="rId6"/>
    <p:sldId id="290" r:id="rId7"/>
    <p:sldId id="260" r:id="rId8"/>
    <p:sldId id="264" r:id="rId9"/>
    <p:sldId id="262" r:id="rId10"/>
    <p:sldId id="272" r:id="rId11"/>
    <p:sldId id="273" r:id="rId12"/>
    <p:sldId id="274" r:id="rId13"/>
    <p:sldId id="292" r:id="rId14"/>
    <p:sldId id="277" r:id="rId15"/>
    <p:sldId id="282" r:id="rId16"/>
    <p:sldId id="283" r:id="rId17"/>
    <p:sldId id="293" r:id="rId18"/>
    <p:sldId id="294" r:id="rId19"/>
    <p:sldId id="296" r:id="rId20"/>
    <p:sldId id="298" r:id="rId21"/>
    <p:sldId id="299" r:id="rId22"/>
    <p:sldId id="300" r:id="rId23"/>
    <p:sldId id="301" r:id="rId24"/>
    <p:sldId id="302" r:id="rId25"/>
    <p:sldId id="286" r:id="rId26"/>
    <p:sldId id="287" r:id="rId27"/>
  </p:sldIdLst>
  <p:sldSz cx="12192000" cy="6858000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8269A3-B64F-4A3C-97E0-51010BBB2E2A}" v="16" dt="2025-11-23T19:08:00.4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Estilo medio 4 - Énfasis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Estilo medio 4 - Énfasis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61380" autoAdjust="0"/>
  </p:normalViewPr>
  <p:slideViewPr>
    <p:cSldViewPr snapToGrid="0">
      <p:cViewPr varScale="1">
        <p:scale>
          <a:sx n="56" d="100"/>
          <a:sy n="56" d="100"/>
        </p:scale>
        <p:origin x="262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16E74B-C055-4010-834E-8241D3B4B3B4}" type="datetimeFigureOut">
              <a:rPr lang="es-AR" smtClean="0"/>
              <a:t>24/11/2025</a:t>
            </a:fld>
            <a:endParaRPr lang="es-AR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8BD3CD-1211-4D73-8435-E387E60ABEAC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4646140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INTRO</a:t>
            </a:r>
            <a:endParaRPr lang="es-A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s-ES" sz="14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Buenas noches, mi nombre es Ezequiel, estudiante de la Lic. en Ciencias de Datos de la </a:t>
            </a:r>
            <a:r>
              <a:rPr lang="es-ES" sz="14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UNaB</a:t>
            </a:r>
            <a:r>
              <a:rPr lang="es-ES" sz="14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y, hoy estaré presentando el trabajo realizado para la materia de Seminario, que también es el punto de partida de un proyecto personal que tengo en mente desde hace mucho tiempo y que también es la razón por la cual decidí hacer esta carrera.</a:t>
            </a:r>
          </a:p>
          <a:p>
            <a:endParaRPr lang="es-AR" sz="14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s-ES" sz="14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 título de mi proyecto es “Incendios Forestales en la Patagonia Andina”, teniendo como eje central el estudio de los incendios forestales en áreas protegidas del noroeste de la Patagonia Argentina.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8BD3CD-1211-4D73-8435-E387E60ABEAC}" type="slidenum">
              <a:rPr lang="es-AR" smtClean="0"/>
              <a:t>1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2269871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dirty="0"/>
              <a:t>Un resumen de lo que estamos por presentar…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8BD3CD-1211-4D73-8435-E387E60ABEAC}" type="slidenum">
              <a:rPr lang="es-AR" smtClean="0"/>
              <a:t>2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9242258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MOTIVACIÓN</a:t>
            </a:r>
            <a:endParaRPr lang="es-A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 </a:t>
            </a:r>
            <a:r>
              <a:rPr lang="es-E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articulo 1 de la ley n°5243 de la Prov. de Río Negro</a:t>
            </a:r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declara de interés público la prevención y el combate de los incendios forestales como medio de protección de la vida y la preservación del patrimonio ambiental.</a:t>
            </a:r>
          </a:p>
          <a:p>
            <a:endParaRPr lang="es-A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s-A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8BD3CD-1211-4D73-8435-E387E60ABEAC}" type="slidenum">
              <a:rPr lang="es-AR" smtClean="0"/>
              <a:t>3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5529959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es la región de estudio del proyecto, en la imagen sólo se observa el área de Río Negro. </a:t>
            </a:r>
          </a:p>
          <a:p>
            <a:endParaRPr lang="es-E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 el periodo 2024 - 2025 la zona afectada por incendios fue de 10.218 hectáreas. En el mismo periodo 2023 - 2024 la afectación fue de 7.747 hectáreas. Es decir, en sólo dos años, los incendios arrasaron un área equivalente a la Ciudad de Buenos Aires.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8BD3CD-1211-4D73-8435-E387E60ABEAC}" type="slidenum">
              <a:rPr lang="es-AR" smtClean="0"/>
              <a:t>4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788790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Esto no es lo peor, el gráfico que estamos viendo representa la cantidad de observaciones agrupadas en periodos de 5 años para la región de estudio utilizada para la tesina. </a:t>
            </a:r>
          </a:p>
          <a:p>
            <a:endParaRPr lang="es-E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Podemos ver como a parir del 2020 esta problemática se multiplico por un factor de ocho (8) y escalo a un promedio de 117 focos observados por año. Sin embargo, sólo en 2025 se tuvo casi la misma cantidad de observaciones que hubo entre el 2020 y el 2024, llevando el promedio a 425 focos observados en sólo un año. </a:t>
            </a:r>
          </a:p>
          <a:p>
            <a:endParaRPr lang="es-A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NOTA: Obviamente, </a:t>
            </a:r>
            <a:r>
              <a:rPr lang="es-E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Suomi</a:t>
            </a:r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que es el satélite puesto en orbita en 2011 para que continue con el trabajo de Terra y Aqua, </a:t>
            </a:r>
            <a:r>
              <a:rPr lang="es-E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 con el mismo patrón a una diferente resolución espacial</a:t>
            </a:r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(375x375, mientras MODIS observa 1, VIIRS podría observar 8 focos).</a:t>
            </a:r>
            <a:endParaRPr lang="es-A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Antes de ir de lleno con el abordaje de este proyecto, quisiera que nos detengamos un minuto a reflexionar acerca de esto y del panorama que plantea para el futuro de la región.</a:t>
            </a:r>
          </a:p>
          <a:p>
            <a:endParaRPr lang="es-A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8BD3CD-1211-4D73-8435-E387E60ABEAC}" type="slidenum">
              <a:rPr lang="es-AR" smtClean="0"/>
              <a:t>5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1201416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Esto no es lo peor, el gráfico que estamos viendo representa la cantidad de observaciones agrupadas en periodos de 5 años para la región de estudio utilizada para la tesina. </a:t>
            </a:r>
          </a:p>
          <a:p>
            <a:endParaRPr lang="es-E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Podemos ver como a parir del 2020 esta problemática se multiplico por un factor de ocho (8) y escalo a un promedio de 117 focos observados por año. Sin embargo, sólo en 2025 se tuvo casi la misma cantidad de observaciones que hubo entre el 2020 y el 2024, llevando el promedio a 425 focos observados en sólo un año. </a:t>
            </a:r>
          </a:p>
          <a:p>
            <a:endParaRPr lang="es-A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NOTA: Obviamente, </a:t>
            </a:r>
            <a:r>
              <a:rPr lang="es-E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Suomi</a:t>
            </a:r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que es el satélite puesto en orbita en 2011 para que continue con el trabajo de Terra y Aqua, </a:t>
            </a:r>
            <a:r>
              <a:rPr lang="es-E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 con el mismo patrón a una diferente resolución espacial</a:t>
            </a:r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(375x375, mientras MODIS observa 1, VIIRS podría observar 8 focos).</a:t>
            </a:r>
            <a:endParaRPr lang="es-A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Antes de ir de lleno con el abordaje de este proyecto, quisiera que nos detengamos un minuto a reflexionar acerca de esto y del panorama que plantea para el futuro de la región.</a:t>
            </a:r>
          </a:p>
          <a:p>
            <a:endParaRPr lang="es-A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8BD3CD-1211-4D73-8435-E387E60ABEAC}" type="slidenum">
              <a:rPr lang="es-AR" smtClean="0"/>
              <a:t>6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9551335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OBJETIVOS</a:t>
            </a:r>
            <a:endParaRPr lang="es-A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Estudiar y comprender los incendios forestales.</a:t>
            </a:r>
            <a:endParaRPr lang="es-A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Recopilar y sistematizar la obtención de datos.</a:t>
            </a:r>
            <a:endParaRPr lang="es-A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Procesar y consolidar información.</a:t>
            </a:r>
            <a:endParaRPr lang="es-A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Analizar de forma exploratoria la información.</a:t>
            </a:r>
            <a:endParaRPr lang="es-A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Implementar aprendizaje automático.</a:t>
            </a:r>
            <a:endParaRPr lang="es-A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Evaluar efectividad de punto 5.</a:t>
            </a:r>
            <a:endParaRPr lang="es-AR" dirty="0"/>
          </a:p>
          <a:p>
            <a:endParaRPr lang="es-A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8BD3CD-1211-4D73-8435-E387E60ABEAC}" type="slidenum">
              <a:rPr lang="es-AR" smtClean="0"/>
              <a:t>7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3126037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dirty="0"/>
              <a:t>Detalles del área de estudio.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8BD3CD-1211-4D73-8435-E387E60ABEAC}" type="slidenum">
              <a:rPr lang="es-AR" smtClean="0"/>
              <a:t>8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662885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 la información fue obtenida mediante el desarrollo de interfaces de comunicación hacia las </a:t>
            </a:r>
            <a:r>
              <a:rPr lang="es-E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APIs</a:t>
            </a:r>
            <a:r>
              <a:rPr lang="es-E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(Interfaces de Programación de Aplicaciones)</a:t>
            </a:r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provistas por los administradores. Estas </a:t>
            </a:r>
            <a:r>
              <a:rPr lang="es-E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APIs</a:t>
            </a:r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habilitan la comunicación entre varios sistemas a fin de compartir información y funcionalidades.</a:t>
            </a:r>
            <a:endParaRPr lang="es-AR" dirty="0"/>
          </a:p>
          <a:p>
            <a:endParaRPr lang="es-AR" dirty="0"/>
          </a:p>
          <a:p>
            <a:pPr lvl="0"/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 programa </a:t>
            </a:r>
            <a:r>
              <a:rPr lang="es-E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Copernicus</a:t>
            </a:r>
            <a:r>
              <a:rPr lang="es-E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la </a:t>
            </a:r>
            <a:r>
              <a:rPr lang="es-E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Union</a:t>
            </a:r>
            <a:r>
              <a:rPr lang="es-E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Europea</a:t>
            </a:r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A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obtiene </a:t>
            </a:r>
            <a:r>
              <a:rPr lang="es-AR" noProof="0" dirty="0"/>
              <a:t>un </a:t>
            </a:r>
            <a:r>
              <a:rPr lang="es-AR" b="1" noProof="0" dirty="0"/>
              <a:t>conjunto de datos de reanálisis</a:t>
            </a:r>
            <a:r>
              <a:rPr lang="es-AR" noProof="0" dirty="0"/>
              <a:t> global que proporciona una reconstrucción detallada y consistente de las variables del sistema terrestre desde 1950 hasta casi en tiempo real.  Diario en resolución de 10x10 kilómetros.</a:t>
            </a:r>
            <a:endParaRPr lang="es-A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s-E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la </a:t>
            </a:r>
            <a:r>
              <a:rPr lang="es-E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NASA</a:t>
            </a:r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mediante el </a:t>
            </a:r>
            <a:r>
              <a:rPr lang="es-E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 de Información sobre Incendios para la Gestión de Recursos (FIRMS),</a:t>
            </a:r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Más precisamente del </a:t>
            </a:r>
            <a:r>
              <a:rPr lang="es-E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Conjunto de Radiómetros de Imágenes en el Infrarrojo Visible (VIIRS)</a:t>
            </a:r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bordo del satélite meteorológico </a:t>
            </a:r>
            <a:r>
              <a:rPr lang="es-E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Suomi</a:t>
            </a:r>
            <a:r>
              <a:rPr lang="es-E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NPP lanzado en 2011 para la recopilación de datos ambientales </a:t>
            </a:r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el monitoreo a largo plazo del clima y el estudio del cambio climático. Se </a:t>
            </a:r>
            <a:r>
              <a:rPr lang="es-AR" sz="1200" noProof="0" dirty="0"/>
              <a:t>obtienen las observaciones de focos de calor en la región. Frecuencia según observación y resolución de 0,375x0,375 metros.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8BD3CD-1211-4D73-8435-E387E60ABEAC}" type="slidenum">
              <a:rPr lang="es-AR" smtClean="0"/>
              <a:t>9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7073655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s-E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TRATAMIENTO</a:t>
            </a:r>
            <a:endParaRPr lang="es-A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s-A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 sistema canadiense de índice meteorológico de incendios forestales (FWI) consta de </a:t>
            </a:r>
            <a:r>
              <a:rPr lang="es-A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seis componentes que explican los efectos de la humedad del combustible y las condiciones climáticas sobre el comportamiento del fuego:</a:t>
            </a:r>
            <a:endParaRPr lang="es-A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s-A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Los primeros tres componentes (FFMC, DMC, DC) son clasificaciones numéricas del contenido de humedad del suelo y otra materia orgánica muerta. Sus valores aumentan a medida que disminuye el contenido de humedad.</a:t>
            </a:r>
          </a:p>
          <a:p>
            <a:pPr lvl="0"/>
            <a:r>
              <a:rPr lang="es-A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Los tres componentes restantes (ISI, BUI, FWI) son índices de comportamiento del fuego, que representan la tasa de propagación, el combustible disponible y la intensidad frontal. Estos valores aumentan a medida que aumenta el peligro de incendio.</a:t>
            </a:r>
          </a:p>
          <a:p>
            <a:pPr lvl="0"/>
            <a:endParaRPr lang="es-A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 FWI es </a:t>
            </a:r>
            <a:r>
              <a:rPr lang="es-A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una clasificación numérica que estima el peligro de incendio forestal, basándose en variables meteorológicas como la temperatura, la humedad relativa, la velocidad del viento y las precipitaciones. Un valor de índice más alto indica condiciones más favorables para que se inicie y propague un incendio.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8BD3CD-1211-4D73-8435-E387E60ABEAC}" type="slidenum">
              <a:rPr lang="es-AR" smtClean="0"/>
              <a:t>11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0624477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Dado que los datos obtenidos de </a:t>
            </a:r>
            <a:r>
              <a:rPr lang="es-A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focos de incendio tampoco requirieron un tratamiento específico</a:t>
            </a:r>
            <a:r>
              <a:rPr lang="es-A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se procedió a alinear la resolución geográfica y temporal a fin de unificar la información. </a:t>
            </a:r>
          </a:p>
          <a:p>
            <a:r>
              <a:rPr lang="es-A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Este proceso consistió en redondear a un digito las variables de latitud y longitud para los registros de foco de incendio y, por otro lado, en ambos conjuntos de separo la información de fecha y horario de cada observación.</a:t>
            </a:r>
          </a:p>
          <a:p>
            <a:endParaRPr lang="es-A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s-A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Esto permitió unificar la información de focos de incendio con los registros meteorológicos, por medio de la fecha y la ubicación geográfica (clave compuesta de fecha, latitud y longitud).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8BD3CD-1211-4D73-8435-E387E60ABEAC}" type="slidenum">
              <a:rPr lang="es-AR" smtClean="0"/>
              <a:t>12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2946964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cada celda de la grilla del área de estudio se logro contar con un registro por día con: </a:t>
            </a:r>
            <a:r>
              <a:rPr lang="es-A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las variables meteorológicas, las variables derivadas para la construcción del índice FWI, la cantidad de observaciones de focos de calor y el FRP promedio</a:t>
            </a:r>
            <a:r>
              <a:rPr lang="es-A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que es la potencia </a:t>
            </a:r>
            <a:r>
              <a:rPr lang="es-A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radiativa</a:t>
            </a:r>
            <a:r>
              <a:rPr lang="es-A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del fuego que es una métrica que mide la energía que emite un incendio y se utiliza para monitorear la intensidad de los incendios forestales a través de sensores satelitales.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8BD3CD-1211-4D73-8435-E387E60ABEAC}" type="slidenum">
              <a:rPr lang="es-AR" smtClean="0"/>
              <a:t>13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9554049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8BD3CD-1211-4D73-8435-E387E60ABEAC}" type="slidenum">
              <a:rPr lang="es-AR" smtClean="0"/>
              <a:t>14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2709431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dirty="0"/>
              <a:t>Para una celda determinada… representación gráfica de las variables meteorológicas y sus derivadas de FWI.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8BD3CD-1211-4D73-8435-E387E60ABEAC}" type="slidenum">
              <a:rPr lang="es-AR" smtClean="0"/>
              <a:t>15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8578305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dirty="0"/>
              <a:t>Otra forma de ver la relación.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8BD3CD-1211-4D73-8435-E387E60ABEAC}" type="slidenum">
              <a:rPr lang="es-AR" smtClean="0"/>
              <a:t>16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1285736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dirty="0"/>
              <a:t>Como es la clasificación FWI en el conjunto de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8BD3CD-1211-4D73-8435-E387E60ABEAC}" type="slidenum">
              <a:rPr lang="es-AR" smtClean="0"/>
              <a:t>17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9040796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dirty="0"/>
              <a:t>No mucho que decir, salvo ver como evoluciono el incidente en el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8BD3CD-1211-4D73-8435-E387E60ABEAC}" type="slidenum">
              <a:rPr lang="es-AR" smtClean="0"/>
              <a:t>18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0746876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AR" dirty="0"/>
              <a:t>Para una celda determinada… representación gráfica de las variables meteorológicas.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8BD3CD-1211-4D73-8435-E387E60ABEAC}" type="slidenum">
              <a:rPr lang="es-AR" smtClean="0"/>
              <a:t>19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3061497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just">
              <a:buFont typeface="Arial" panose="020B0604020202020204" pitchFamily="34" charset="0"/>
              <a:buNone/>
            </a:pPr>
            <a:r>
              <a:rPr lang="es-AR" sz="1200" b="0" noProof="0" dirty="0"/>
              <a:t>Dado el análisis exploratorio, se obtuvieron observaciones de condiciones meteorológicas extremas: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s-AR" sz="1200" b="1" noProof="0" dirty="0"/>
              <a:t>Enero 2025 fue el mes con condiciones más extremas</a:t>
            </a:r>
            <a:r>
              <a:rPr lang="es-AR" sz="1200" noProof="0" dirty="0"/>
              <a:t>. Altas temperaturas y baja humedad.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endParaRPr lang="es-AR" sz="1200" noProof="0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s-AR" sz="1200" b="1" noProof="0" dirty="0"/>
              <a:t>30 de enero de 2025 combinó condiciones críticas: </a:t>
            </a:r>
            <a:r>
              <a:rPr lang="es-AR" sz="1200" noProof="0" dirty="0"/>
              <a:t>temperatura alta (31.75°C), humedad muy baja (11.56%) y FWI extremo (54.08).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endParaRPr lang="es-AR" sz="1200" noProof="0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s-AR" sz="1200" b="1" noProof="0" dirty="0"/>
              <a:t>Febrero 2025</a:t>
            </a:r>
            <a:r>
              <a:rPr lang="es-AR" sz="1200" noProof="0" dirty="0"/>
              <a:t> presentó los días con </a:t>
            </a:r>
            <a:r>
              <a:rPr lang="es-AR" sz="1200" b="1" noProof="0" dirty="0"/>
              <a:t>mayor acumulado de precipitación. </a:t>
            </a:r>
            <a:r>
              <a:rPr lang="es-AR" sz="1200" noProof="0" dirty="0"/>
              <a:t>Destacando la lluvia del 22 de Febrero que se encargo de apagar los focos y dar fin a la situación.</a:t>
            </a:r>
          </a:p>
          <a:p>
            <a:pPr lvl="1" algn="just"/>
            <a:endParaRPr lang="es-AR" sz="1200" noProof="0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s-AR" sz="1200" b="1" noProof="0" dirty="0"/>
              <a:t>Los días más cálidos y secos coinciden con mayor actividad de incendios, </a:t>
            </a:r>
            <a:r>
              <a:rPr lang="es-AR" sz="1200" noProof="0" dirty="0"/>
              <a:t>destacando los periodos de fines de diciembre, fines de enero y 9 de febrero.</a:t>
            </a:r>
          </a:p>
          <a:p>
            <a:endParaRPr lang="es-A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8BD3CD-1211-4D73-8435-E387E60ABEAC}" type="slidenum">
              <a:rPr lang="es-AR" smtClean="0"/>
              <a:t>20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95251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A9A80D3-2272-ED0F-EBF4-34428557569F}"/>
              </a:ext>
            </a:extLst>
          </p:cNvPr>
          <p:cNvSpPr/>
          <p:nvPr/>
        </p:nvSpPr>
        <p:spPr>
          <a:xfrm>
            <a:off x="-1" y="0"/>
            <a:ext cx="1219200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F71E75-F7A2-7C1F-EF86-C5186E904883}"/>
              </a:ext>
            </a:extLst>
          </p:cNvPr>
          <p:cNvSpPr/>
          <p:nvPr/>
        </p:nvSpPr>
        <p:spPr>
          <a:xfrm>
            <a:off x="-4262" y="0"/>
            <a:ext cx="7547339" cy="6858002"/>
          </a:xfrm>
          <a:prstGeom prst="rect">
            <a:avLst/>
          </a:prstGeom>
          <a:gradFill>
            <a:gsLst>
              <a:gs pos="6000">
                <a:schemeClr val="accent5"/>
              </a:gs>
              <a:gs pos="100000">
                <a:schemeClr val="accent2"/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B4E0A7-C9D3-8408-2EE0-E46AF38E815F}"/>
              </a:ext>
            </a:extLst>
          </p:cNvPr>
          <p:cNvSpPr/>
          <p:nvPr/>
        </p:nvSpPr>
        <p:spPr>
          <a:xfrm rot="10800000">
            <a:off x="-4285" y="-3"/>
            <a:ext cx="7547361" cy="6857999"/>
          </a:xfrm>
          <a:prstGeom prst="rect">
            <a:avLst/>
          </a:prstGeom>
          <a:gradFill>
            <a:gsLst>
              <a:gs pos="43000">
                <a:schemeClr val="accent2">
                  <a:alpha val="0"/>
                </a:schemeClr>
              </a:gs>
              <a:gs pos="100000">
                <a:schemeClr val="accent2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73CB42-010B-9ABE-75EF-F502B4A9F42C}"/>
              </a:ext>
            </a:extLst>
          </p:cNvPr>
          <p:cNvSpPr/>
          <p:nvPr/>
        </p:nvSpPr>
        <p:spPr>
          <a:xfrm rot="16200000">
            <a:off x="1156173" y="-1160457"/>
            <a:ext cx="5226425" cy="7547338"/>
          </a:xfrm>
          <a:prstGeom prst="rect">
            <a:avLst/>
          </a:prstGeom>
          <a:gradFill>
            <a:gsLst>
              <a:gs pos="50000">
                <a:schemeClr val="accent5">
                  <a:alpha val="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4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98245A6-7E39-43E3-BB93-77F6227560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431E1F-9861-6E9A-6FDA-9450A0A910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617720" y="6318504"/>
            <a:ext cx="2153412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29CF56E-D922-4450-9794-8B0E1451F6EB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3C4D8A9-0078-62DC-A293-9B6083ED64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688836" y="6318504"/>
            <a:ext cx="493776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534656" y="0"/>
            <a:ext cx="4654296" cy="6858000"/>
          </a:xfr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61573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3EACE7F8-A7D9-2E2C-2B0B-0DB8D7168A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B768309-21D1-59BA-F479-9F846B9A0FB2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3D94F90-5391-9976-036B-C34C2C30448C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57200"/>
            <a:ext cx="10954512" cy="795528"/>
          </a:xfrm>
        </p:spPr>
        <p:txBody>
          <a:bodyPr/>
          <a:lstStyle>
            <a:lvl1pPr>
              <a:defRPr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362455"/>
            <a:ext cx="10954512" cy="495604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DC843-90AD-36D3-6615-3505603F8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2C5F7B-97CA-C06C-A155-E4BC307DB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1C96F-46D7-47BB-8945-9667BCB4F5BB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324737-C1DF-CE60-245E-385E02AC2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2767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47888" y="713232"/>
            <a:ext cx="3364992" cy="322783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56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47888" y="5138927"/>
            <a:ext cx="3200400" cy="119786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4845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CBE317-7590-8646-B2DB-5BED6EE8A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5400000">
            <a:off x="4181134" y="3367319"/>
            <a:ext cx="6858000" cy="123363"/>
            <a:chOff x="-5025" y="6737718"/>
            <a:chExt cx="12207200" cy="12336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B255D3-4FB2-87A8-E502-9CDE10990A39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D15F704-CD21-A249-03F6-4F036D21400B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30B7E9-D8D3-BC56-A758-6C86B58C0AC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8247888" y="6318504"/>
            <a:ext cx="2459736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FF974-138E-88CF-9001-1A07C67D1DF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707624" y="6318504"/>
            <a:ext cx="859536" cy="365760"/>
          </a:xfrm>
        </p:spPr>
        <p:txBody>
          <a:bodyPr/>
          <a:lstStyle/>
          <a:p>
            <a:fld id="{A6379DD5-AE65-4D02-9BCE-257CC17A63B7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DA7CD4-7B92-1CD1-A9F0-94B053972CA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21377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4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56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98245A6-7E39-43E3-BB93-77F6227560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431E1F-9861-6E9A-6FDA-9450A0A910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617720" y="6318504"/>
            <a:ext cx="2153412" cy="365760"/>
          </a:xfrm>
        </p:spPr>
        <p:txBody>
          <a:bodyPr/>
          <a:lstStyle/>
          <a:p>
            <a:fld id="{9DFFF819-4E26-4576-8A6D-DA055CFF682A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3C4D8A9-0078-62DC-A293-9B6083ED64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688836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534656" y="0"/>
            <a:ext cx="4654296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584828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EAB82C7-4740-BEAB-85E9-C816E1CDC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4492680"/>
            <a:ext cx="12207200" cy="123363"/>
            <a:chOff x="-5025" y="6737718"/>
            <a:chExt cx="12207200" cy="12336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B7E10D0-EE9E-6432-2C4D-0324DE19518E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3B4BE8-5DA5-6F2B-0DB6-7901D4547F64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2732" y="4965192"/>
            <a:ext cx="11146536" cy="786384"/>
          </a:xfrm>
        </p:spPr>
        <p:txBody>
          <a:bodyPr anchor="b">
            <a:normAutofit/>
          </a:bodyPr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5806440"/>
            <a:ext cx="9902952" cy="576072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4492679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602ACF4-9E47-4D03-8EA6-1CE7E20F9165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29127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0FABB9A-1B5B-9306-B7B9-58E4E5E4EE0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F155489-796B-CDF9-06C2-583941E589F7}"/>
              </a:ext>
            </a:extLst>
          </p:cNvPr>
          <p:cNvGrpSpPr/>
          <p:nvPr/>
        </p:nvGrpSpPr>
        <p:grpSpPr>
          <a:xfrm>
            <a:off x="0" y="0"/>
            <a:ext cx="12192000" cy="6867144"/>
            <a:chOff x="0" y="-7622"/>
            <a:chExt cx="12192000" cy="689498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F31A197-F740-DCA2-902E-29B890C31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0800000">
              <a:off x="0" y="-7621"/>
              <a:ext cx="12192000" cy="6887364"/>
            </a:xfrm>
            <a:prstGeom prst="rect">
              <a:avLst/>
            </a:prstGeom>
            <a:gradFill>
              <a:gsLst>
                <a:gs pos="8000">
                  <a:schemeClr val="accent5"/>
                </a:gs>
                <a:gs pos="100000">
                  <a:schemeClr val="accent2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C02513-E6E5-DFFD-29B1-02BE448BAD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9" y="0"/>
              <a:ext cx="8216919" cy="6887364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  <a:alpha val="79000"/>
                  </a:schemeClr>
                </a:gs>
                <a:gs pos="40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9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FE184C5-789F-C980-F425-AF26045C8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39978" y="-7622"/>
              <a:ext cx="8451623" cy="6887367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  <a:alpha val="67000"/>
                  </a:schemeClr>
                </a:gs>
                <a:gs pos="60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E6801FB-115C-F074-E428-F4A4A588B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0800000">
              <a:off x="9127281" y="7060"/>
              <a:ext cx="3064320" cy="6872683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88000"/>
                  </a:schemeClr>
                </a:gs>
                <a:gs pos="56000">
                  <a:schemeClr val="accent2">
                    <a:alpha val="0"/>
                  </a:schemeClr>
                </a:gs>
              </a:gsLst>
              <a:lin ang="12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>
                <a:solidFill>
                  <a:srgbClr val="FFFFFF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86584" y="1371600"/>
            <a:ext cx="7498080" cy="2386584"/>
          </a:xfrm>
        </p:spPr>
        <p:txBody>
          <a:bodyPr anchor="b" anchorCtr="0">
            <a:normAutofit/>
          </a:bodyPr>
          <a:lstStyle>
            <a:lvl1pPr algn="ctr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86584" y="3877056"/>
            <a:ext cx="7498080" cy="1655064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B0F5B7-78E6-2702-0F8C-122F4D21C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6BEF7-236A-87FA-F0D9-F4515D813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A82B809-8BB3-463C-8B5E-28962B4654D8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29C8F0-DE20-1DBB-6A42-CBFFAE15D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00544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429768"/>
            <a:ext cx="9336024" cy="37764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6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663440"/>
            <a:ext cx="6903720" cy="134416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AAE0C5-AA7D-C4A0-BB09-3D328C852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454691-E40E-1B02-C9B2-FD70013E0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8F537-5E0E-4697-8198-FDF0E53F372F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66BF4-6BB2-066C-5243-2D5CF17BA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11900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9FFFB07-15C3-5030-73A7-6D0EBC2FB1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FC67F9-A48C-BB0E-03C5-9C32A6BB8C5D}"/>
              </a:ext>
            </a:extLst>
          </p:cNvPr>
          <p:cNvSpPr/>
          <p:nvPr/>
        </p:nvSpPr>
        <p:spPr>
          <a:xfrm rot="16200000" flipH="1">
            <a:off x="2666999" y="-2667000"/>
            <a:ext cx="6857999" cy="12192002"/>
          </a:xfrm>
          <a:prstGeom prst="rect">
            <a:avLst/>
          </a:prstGeom>
          <a:gradFill>
            <a:gsLst>
              <a:gs pos="0">
                <a:schemeClr val="accent2"/>
              </a:gs>
              <a:gs pos="94000">
                <a:schemeClr val="accent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2436E8-8599-9171-B0E5-3A3CED0AE2C4}"/>
              </a:ext>
            </a:extLst>
          </p:cNvPr>
          <p:cNvSpPr/>
          <p:nvPr/>
        </p:nvSpPr>
        <p:spPr>
          <a:xfrm rot="5400000" flipH="1">
            <a:off x="2719785" y="-1537266"/>
            <a:ext cx="5669226" cy="11108800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  <a:alpha val="90000"/>
                </a:schemeClr>
              </a:gs>
              <a:gs pos="39000">
                <a:schemeClr val="accent5">
                  <a:lumMod val="60000"/>
                  <a:lumOff val="40000"/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052CAB-57CB-D9A8-5BBE-F7898C5EC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 flipH="1">
            <a:off x="-648303" y="636301"/>
            <a:ext cx="6870003" cy="5573396"/>
          </a:xfrm>
          <a:prstGeom prst="rect">
            <a:avLst/>
          </a:prstGeom>
          <a:gradFill flip="none" rotWithShape="1">
            <a:gsLst>
              <a:gs pos="2000">
                <a:schemeClr val="accent2">
                  <a:lumMod val="75000"/>
                </a:schemeClr>
              </a:gs>
              <a:gs pos="37000">
                <a:schemeClr val="accent2">
                  <a:alpha val="0"/>
                </a:schemeClr>
              </a:gs>
            </a:gsLst>
            <a:lin ang="36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429768"/>
            <a:ext cx="9336024" cy="37764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663440"/>
            <a:ext cx="6903720" cy="134416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1EF90BDF-2A3B-8AD7-6EE4-11ED28664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81B66C1B-A1AD-A2BC-11D8-9AEA5E834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D4E7D34-A495-4E23-B1D1-F5D651D22AFE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A384A4A-7C42-E7AC-02FD-B65B61D21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2605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2093976"/>
            <a:ext cx="7271895" cy="417880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6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F8ECD-BC5C-69B8-45CB-D6C697E80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F97286-C615-453F-E284-B5C22987E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76A96-D1F6-4A74-B023-FDE16753EDD7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A721B8-1357-D164-0082-D2B50441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57707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4F65FF0-EE88-E48A-1552-AF2B228EADC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/>
        </p:nvSpPr>
        <p:spPr>
          <a:xfrm rot="5400000" flipH="1" flipV="1">
            <a:off x="2662822" y="-2671180"/>
            <a:ext cx="6866356" cy="12192001"/>
          </a:xfrm>
          <a:prstGeom prst="rect">
            <a:avLst/>
          </a:prstGeom>
          <a:gradFill>
            <a:gsLst>
              <a:gs pos="13000">
                <a:schemeClr val="accent2"/>
              </a:gs>
              <a:gs pos="100000">
                <a:schemeClr val="accent5"/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71B6E1-2B98-87C0-C97D-DC19E754324D}"/>
              </a:ext>
            </a:extLst>
          </p:cNvPr>
          <p:cNvSpPr/>
          <p:nvPr/>
        </p:nvSpPr>
        <p:spPr>
          <a:xfrm rot="16200000" flipH="1" flipV="1">
            <a:off x="2144989" y="-2153344"/>
            <a:ext cx="5473326" cy="9763303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  <a:alpha val="68000"/>
                </a:schemeClr>
              </a:gs>
              <a:gs pos="45000">
                <a:schemeClr val="accent5">
                  <a:lumMod val="60000"/>
                  <a:lumOff val="40000"/>
                  <a:alpha val="0"/>
                </a:schemeClr>
              </a:gs>
            </a:gsLst>
            <a:lin ang="19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/>
        </p:nvSpPr>
        <p:spPr>
          <a:xfrm flipV="1">
            <a:off x="1031672" y="2962966"/>
            <a:ext cx="11160328" cy="3895034"/>
          </a:xfrm>
          <a:prstGeom prst="rect">
            <a:avLst/>
          </a:prstGeom>
          <a:gradFill>
            <a:gsLst>
              <a:gs pos="0">
                <a:schemeClr val="accent5">
                  <a:lumMod val="75000"/>
                </a:schemeClr>
              </a:gs>
              <a:gs pos="42000">
                <a:schemeClr val="accent5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413373-13C5-71D9-C45A-699B0F4513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 flipV="1">
            <a:off x="1233479" y="361145"/>
            <a:ext cx="5263375" cy="7730333"/>
          </a:xfrm>
          <a:prstGeom prst="rect">
            <a:avLst/>
          </a:prstGeom>
          <a:gradFill flip="none" rotWithShape="1">
            <a:gsLst>
              <a:gs pos="8000">
                <a:schemeClr val="accent2">
                  <a:lumMod val="75000"/>
                </a:schemeClr>
              </a:gs>
              <a:gs pos="50000">
                <a:schemeClr val="accent2">
                  <a:alpha val="0"/>
                </a:schemeClr>
              </a:gs>
            </a:gsLst>
            <a:lin ang="18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2093976"/>
            <a:ext cx="6528816" cy="417880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6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3B3753E-6E60-F731-58BF-7C4D0497E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08CEB89B-6066-557A-EBEC-18307AC24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C5C1F80-0989-4135-BEC0-53996BCA1D73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C2114D5C-BE8D-24C7-4A79-C0C28376A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421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3DF4C684-CDD4-5CA8-12DC-BB0C4BFE21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-4329"/>
            <a:ext cx="5056093" cy="6869586"/>
            <a:chOff x="5171844" y="-11586"/>
            <a:chExt cx="7020159" cy="686958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6ECDBF0-A1F0-37B6-C87A-8687287F7950}"/>
                </a:ext>
              </a:extLst>
            </p:cNvPr>
            <p:cNvSpPr/>
            <p:nvPr/>
          </p:nvSpPr>
          <p:spPr>
            <a:xfrm>
              <a:off x="5171848" y="-11580"/>
              <a:ext cx="7020152" cy="686957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60F90E0-14F7-6838-2C0A-149459C1D143}"/>
                </a:ext>
              </a:extLst>
            </p:cNvPr>
            <p:cNvSpPr/>
            <p:nvPr/>
          </p:nvSpPr>
          <p:spPr>
            <a:xfrm rot="10800000">
              <a:off x="6351336" y="876304"/>
              <a:ext cx="5840664" cy="5981696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578B55F-B3C4-0B70-7EAE-5FBFD3308543}"/>
                </a:ext>
              </a:extLst>
            </p:cNvPr>
            <p:cNvSpPr/>
            <p:nvPr/>
          </p:nvSpPr>
          <p:spPr>
            <a:xfrm>
              <a:off x="5171844" y="-11586"/>
              <a:ext cx="5171848" cy="6869586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alpha val="70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FFBDE35-AEB9-6AFE-BC7A-79FEFBB51D0A}"/>
                </a:ext>
              </a:extLst>
            </p:cNvPr>
            <p:cNvSpPr/>
            <p:nvPr/>
          </p:nvSpPr>
          <p:spPr>
            <a:xfrm rot="16200000">
              <a:off x="6042356" y="708353"/>
              <a:ext cx="6869583" cy="5429710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368" y="2103120"/>
            <a:ext cx="3666744" cy="2624328"/>
          </a:xfrm>
          <a:noFill/>
        </p:spPr>
        <p:txBody>
          <a:bodyPr anchor="ctr">
            <a:norm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57702" y="877824"/>
            <a:ext cx="5509458" cy="5102352"/>
          </a:xfrm>
        </p:spPr>
        <p:txBody>
          <a:bodyPr vert="horz" lIns="91440" tIns="45720" rIns="91440" bIns="45720" rtlCol="0" anchor="ctr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571500" indent="-342900">
              <a:buFont typeface="+mj-lt"/>
              <a:buAutoNum type="arabicPeriod"/>
              <a:defRPr lang="en-US" sz="18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B346B3B-D23C-46FC-82B4-EC936862EBB6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8311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9BA5514-C4EC-5772-F451-90A91C385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C95E155-D254-47EB-52CD-C66E0A29E9AB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947EE6D-F09F-E804-C40C-AB228BDE8E64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2783" y="722376"/>
            <a:ext cx="5138927" cy="1581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2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30EF3B0-9D02-EBD8-2D14-79BF34534AA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19307" y="0"/>
            <a:ext cx="5413248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834640"/>
            <a:ext cx="5138928" cy="2999232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571500" indent="-342900">
              <a:buFont typeface="+mj-lt"/>
              <a:buAutoNum type="arabicPeriod"/>
              <a:defRPr lang="en-US" sz="18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272784" y="6318504"/>
            <a:ext cx="3569956" cy="365760"/>
          </a:xfrm>
        </p:spPr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075652" y="6318504"/>
            <a:ext cx="1491507" cy="365760"/>
          </a:xfrm>
        </p:spPr>
        <p:txBody>
          <a:bodyPr/>
          <a:lstStyle/>
          <a:p>
            <a:fld id="{11039C6F-01AE-405F-93D2-431591D79461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86605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8CE855AC-5F95-123D-E0A1-CBD75D8FD0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3A6A854-7BA6-35FC-898F-37F3BC10E5DB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455EF75-521C-7F12-2397-68B6128751E8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496" y="2222436"/>
            <a:ext cx="4160520" cy="2825496"/>
          </a:xfrm>
        </p:spPr>
        <p:txBody>
          <a:bodyPr anchor="t">
            <a:normAutofit/>
          </a:bodyPr>
          <a:lstStyle>
            <a:lvl1pPr>
              <a:defRPr sz="40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37376" y="2222436"/>
            <a:ext cx="3959352" cy="269748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09CF825-511F-35F8-E0EC-636033ED43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36A82C16-EB1A-4294-103B-715F071E5A3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AE82713-2685-4CB9-BD26-DD329F3C67A6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27EA83B-52EA-A0B8-E2E8-C9D1FE273B2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10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74537F0-59D7-5CF5-65CE-33DFA62B37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7EFD035-FCE9-275A-5EEF-94FC6583E39A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DFF3E46-4915-D511-DDA5-9451667C3C81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8552" y="2048256"/>
            <a:ext cx="3813048" cy="3538728"/>
          </a:xfrm>
        </p:spPr>
        <p:txBody>
          <a:bodyPr anchor="t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775960" y="2048256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7CB2298-A12A-D380-ED4F-AD870434F2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1F2EAD-3327-FA60-8B7F-6CBBD02C3F0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57926B3-CA5D-44FB-BC2D-6B05FBB97B04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3D4A7C-9E9E-96BC-68B8-3F92C9B3B40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05903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0675FE4-1839-CB8F-7574-8FBCED9706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C309010-BB96-4CE9-3A39-43FA59198DD0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2D5C3E8-4075-EEED-D3DC-B1B0DCD9F940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22376"/>
            <a:ext cx="7214616" cy="1280160"/>
          </a:xfrm>
        </p:spPr>
        <p:txBody>
          <a:bodyPr anchor="t">
            <a:normAutofit/>
          </a:bodyPr>
          <a:lstStyle>
            <a:lvl1pPr>
              <a:defRPr sz="40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22776" y="2240280"/>
            <a:ext cx="7349947" cy="37216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A089F15-F7A9-6130-79CF-D853C6B4B7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5C79459-C978-FF61-F7FC-DC5D1F17017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E009212-C305-41EC-8687-C39B36C09AF0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BFFBCCE1-48C7-7734-891D-F4664CC97B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77344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3A83600-30C4-2F21-93C5-D07537A396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A1F9F49-F979-53D6-3ED8-352816078D4C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4745F95-9BA3-B7A5-F004-E2BB1CFFE2F8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4215384" cy="3136392"/>
          </a:xfrm>
        </p:spPr>
        <p:txBody>
          <a:bodyPr anchor="t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68696" y="640080"/>
            <a:ext cx="5998464" cy="569671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CD886C8-FB0E-44DB-9413-26C9933623BA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3441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604B371-347D-80EC-2C2C-C69CD2EF7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flipV="1">
            <a:off x="12068340" y="0"/>
            <a:ext cx="123362" cy="6858000"/>
            <a:chOff x="12068638" y="0"/>
            <a:chExt cx="123362" cy="6858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F227FEA-4B4B-3484-7267-B7BD65A4E9BF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53530AA-F724-4235-0FDF-84595FCBFBC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21792"/>
            <a:ext cx="10872216" cy="749808"/>
          </a:xfrm>
        </p:spPr>
        <p:txBody>
          <a:bodyPr anchor="ctr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49424" y="1591056"/>
            <a:ext cx="7772400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78A6864-E7E2-494F-A90A-ECC53613C6EC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338409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C1155E4-5659-692F-6CDC-095E555AF698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8AFD6F-0EAD-ADCF-CB9A-AB74C59048E1}"/>
              </a:ext>
            </a:extLst>
          </p:cNvPr>
          <p:cNvSpPr/>
          <p:nvPr/>
        </p:nvSpPr>
        <p:spPr>
          <a:xfrm rot="16200000">
            <a:off x="6635246" y="-3716556"/>
            <a:ext cx="1855397" cy="9288510"/>
          </a:xfrm>
          <a:prstGeom prst="rect">
            <a:avLst/>
          </a:prstGeom>
          <a:gradFill>
            <a:gsLst>
              <a:gs pos="45000">
                <a:schemeClr val="accent5">
                  <a:alpha val="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10896"/>
            <a:ext cx="10872216" cy="1225296"/>
          </a:xfrm>
        </p:spPr>
        <p:txBody>
          <a:bodyPr anchor="ctr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49424" y="2313432"/>
            <a:ext cx="8732520" cy="389534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4ED686-7864-484B-8047-F06E855FD995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5037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1394E45B-1239-5927-7239-231AB33A2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82CCE1C-1D53-2F67-CA11-693E1CA40CC5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77A3C2-9949-B8A0-8486-8228C60D0C3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3493008" cy="362102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92040" y="640081"/>
            <a:ext cx="6675120" cy="55778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B715D2-E75C-A2E6-CE7A-70CE2EFA5E8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4CAAF-9048-5116-D3C8-15E595C3B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B8F8C76-8E31-4D47-BC79-85F35E81929B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F8E49B-DD4C-66AF-8D2C-52110DB22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539477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F2293C7-9DD5-C84B-6A44-F0D117C4C94B}"/>
              </a:ext>
            </a:extLst>
          </p:cNvPr>
          <p:cNvSpPr/>
          <p:nvPr/>
        </p:nvSpPr>
        <p:spPr>
          <a:xfrm>
            <a:off x="3" y="-4323"/>
            <a:ext cx="4059076" cy="6869579"/>
          </a:xfrm>
          <a:prstGeom prst="rect">
            <a:avLst/>
          </a:prstGeom>
          <a:gradFill>
            <a:gsLst>
              <a:gs pos="7000">
                <a:schemeClr val="accent2"/>
              </a:gs>
              <a:gs pos="100000">
                <a:schemeClr val="accent5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088F0D-A4DE-CAA0-43A6-84E52AD904F3}"/>
              </a:ext>
            </a:extLst>
          </p:cNvPr>
          <p:cNvSpPr/>
          <p:nvPr/>
        </p:nvSpPr>
        <p:spPr>
          <a:xfrm rot="10800000">
            <a:off x="-1" y="1061883"/>
            <a:ext cx="4059079" cy="5803372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</a:schemeClr>
              </a:gs>
              <a:gs pos="60000">
                <a:schemeClr val="accent5">
                  <a:lumMod val="60000"/>
                  <a:lumOff val="40000"/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CD67E0-1350-1985-A4E1-5215AF902BF2}"/>
              </a:ext>
            </a:extLst>
          </p:cNvPr>
          <p:cNvSpPr/>
          <p:nvPr/>
        </p:nvSpPr>
        <p:spPr>
          <a:xfrm rot="16200000">
            <a:off x="-524095" y="1129367"/>
            <a:ext cx="5716870" cy="3449479"/>
          </a:xfrm>
          <a:prstGeom prst="rect">
            <a:avLst/>
          </a:prstGeom>
          <a:gradFill>
            <a:gsLst>
              <a:gs pos="0">
                <a:schemeClr val="accent5">
                  <a:alpha val="86000"/>
                </a:schemeClr>
              </a:gs>
              <a:gs pos="57000">
                <a:schemeClr val="accent2"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3081528" cy="401421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92040" y="640081"/>
            <a:ext cx="6675120" cy="55778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B6B8768-08ED-B8FE-AB87-3961B13E76E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8" y="6318504"/>
            <a:ext cx="3446431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790CD73-4635-8D46-A7E8-EDF5E35D34E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5640267-1344-46BE-B105-162E68855468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E7E57EE-CAE7-24C5-9F1D-159F32ADDDD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28447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05272" y="502920"/>
            <a:ext cx="5961888" cy="1197864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5E9B8B-7499-A48C-F314-3620CFFB8E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39B506F-0FAC-8905-0F05-E889644A7B9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DAC1EBA-955D-23C1-CCE1-CF2C6CBFD05B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96EE962-E57A-8EDB-7169-6EB04FA7539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0"/>
            <a:ext cx="483717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605272" y="1801367"/>
            <a:ext cx="5961888" cy="4453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1225D-49EF-5752-ACF2-F43EB2B363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5605272" y="6318504"/>
            <a:ext cx="409651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362DD-3333-1184-E97C-2FDF9D599F49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9701784" y="6318504"/>
            <a:ext cx="1865376" cy="365760"/>
          </a:xfrm>
        </p:spPr>
        <p:txBody>
          <a:bodyPr/>
          <a:lstStyle/>
          <a:p>
            <a:fld id="{1C45E567-307A-4358-87B7-AFD16C4C07D5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21012C-B1FA-A889-A45D-1DA431A4144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88489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6858000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1472184"/>
            <a:ext cx="6858000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5B44AF-FB05-4BBA-5AC9-C89D1BB5BE6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32EABA-2011-B91D-C867-6B03C474330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4709160" y="6318504"/>
            <a:ext cx="2350008" cy="365760"/>
          </a:xfrm>
        </p:spPr>
        <p:txBody>
          <a:bodyPr/>
          <a:lstStyle/>
          <a:p>
            <a:fld id="{E016730A-3443-4D7F-BC47-3A3CDB3837FC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437E37F5-E579-D12C-536E-A9118707E1C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976872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9D3616B-B0C6-AB9E-48FA-05090671826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9142" y="0"/>
            <a:ext cx="3939493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5BBFBAF-5922-A442-5D1A-BC28ADE0D2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9DBF79C-336C-A5FC-F9A7-F678FEB5C351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B3E95C8-0894-01F3-97E4-60803AAA24AF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661088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6516" y="502920"/>
            <a:ext cx="6858000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AF4E90B-EF6F-24B4-C4FE-7FBC72B7E9E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7" y="0"/>
            <a:ext cx="396849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F50B082-E806-677A-B150-164003C5B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EBF228F-ECC6-8326-8C59-4539BE646E4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29E235C-963A-D79C-5145-5233B1FD5A89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06516" y="1472183"/>
            <a:ext cx="6858000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6FDC5C-46E3-4585-C089-E091BE6E5D3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706516" y="6318504"/>
            <a:ext cx="409651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21447D-8AA6-9863-0212-376200A916F4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8729070" y="6318504"/>
            <a:ext cx="2838090" cy="365760"/>
          </a:xfrm>
        </p:spPr>
        <p:txBody>
          <a:bodyPr/>
          <a:lstStyle/>
          <a:p>
            <a:fld id="{D9193AC5-F257-4C01-8A7B-A4CD87F22F04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395A93-90A0-8500-32A5-2011DF9658F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220463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7AE7BB9-8F3B-888B-7C5F-C693E4B78B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A2AA3A-CAA5-475A-C3CD-9ABFCE2B0092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43ED07E-CBE3-22B8-BCE0-4F98BB64C4C6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573413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1472184"/>
            <a:ext cx="4573413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2B6E2F6-1C60-7678-922C-01C4DB211D7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12648" y="6318504"/>
            <a:ext cx="274320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BA7FF-A77E-82D8-382F-C60F9EB7D40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355847" y="6318504"/>
            <a:ext cx="1418733" cy="365760"/>
          </a:xfrm>
        </p:spPr>
        <p:txBody>
          <a:bodyPr/>
          <a:lstStyle/>
          <a:p>
            <a:fld id="{A64EBB10-E93E-4729-97C4-FAB8DF4548E2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277AED5A-2B3B-6F43-CA78-5BF85217FD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692285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C59C038-AFE7-F1BB-D482-33E17089257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844556" y="0"/>
            <a:ext cx="6224082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281391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389120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084832"/>
            <a:ext cx="4389120" cy="416966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12648" y="6318504"/>
            <a:ext cx="265176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264408" y="6318504"/>
            <a:ext cx="1325880" cy="365760"/>
          </a:xfrm>
        </p:spPr>
        <p:txBody>
          <a:bodyPr/>
          <a:lstStyle/>
          <a:p>
            <a:fld id="{7040DD2C-7FC6-41A9-87A2-29E4EDD4A815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507992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660263" y="0"/>
            <a:ext cx="6408375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D76C82F-0CA8-713E-E19A-65D51910A5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3A0EB22-0640-E9D6-5C90-504668EDC47C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995F219-6751-8C9C-0F4E-1048F537CB6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5209541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5C494689-2DF4-F719-B5A3-0E33B5AB9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58C88C8-2ADC-03E1-DA79-C09C9FFCB400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EE9281E-3F01-B630-B5DF-17CEE295D67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22376"/>
            <a:ext cx="3017520" cy="3364992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5A6D87B-55DF-483B-0AF7-E6F2B6041C8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105656" y="722376"/>
            <a:ext cx="3417212" cy="544068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98356" y="722376"/>
            <a:ext cx="3566160" cy="54406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B46F9121-A740-6137-350B-F287FC3F65E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1DDF62D-265F-648C-DEAF-A6B63AFE9A8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8E3A8ED-7C53-48B7-8E07-F767A8357B67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B1E5F69-8168-1838-71D3-E395524793E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531408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DB5D765-4DB1-83CD-C254-A90B6611C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69A84EF-6D24-A163-8B58-B5389FD4DDD7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E9A50A9-013C-611D-B106-1ED459519F5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5592" y="502920"/>
            <a:ext cx="3401568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-1"/>
            <a:ext cx="7397496" cy="68579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65592" y="2084832"/>
            <a:ext cx="3401568" cy="416966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8165592" y="6318504"/>
            <a:ext cx="233352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504406" y="6318504"/>
            <a:ext cx="1062754" cy="365760"/>
          </a:xfrm>
        </p:spPr>
        <p:txBody>
          <a:bodyPr/>
          <a:lstStyle/>
          <a:p>
            <a:fld id="{81AC3B39-0D1D-4C0E-BE8E-C570B18D6B3B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927885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401568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084832"/>
            <a:ext cx="3401568" cy="416966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8" y="6318504"/>
            <a:ext cx="197550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88150" y="6318504"/>
            <a:ext cx="101458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780F3AB-C899-4854-A4A4-B2E20F203358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520440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5A6D87B-55DF-483B-0AF7-E6F2B6041C8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802819" y="0"/>
            <a:ext cx="7265819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CFD1FA7-C4E8-DE5C-3B9D-DCD115B6C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C133272-DC27-4D54-F532-D2039EAA5D95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9C8420D-B6AB-D6E7-38A4-FFF30B404590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014231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5592" y="1008126"/>
            <a:ext cx="3401567" cy="194767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93A3E8A-C3F5-3D0B-FDE4-68B52DFE719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0"/>
            <a:ext cx="739749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02754B6-EAB4-945C-FC4E-F8F7D453B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99CF6F-40DA-4FCF-FBCF-9907CB96FB7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7C8A1CA-3094-3344-5C05-30F5E18CD02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65592" y="3099816"/>
            <a:ext cx="3401567" cy="305409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8C8E1E-13A9-668C-1F5C-BC271E6A05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8165592" y="6318504"/>
            <a:ext cx="233172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E2343-B677-7565-070B-CEED0B0D546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97312" y="6318504"/>
            <a:ext cx="1069847" cy="365760"/>
          </a:xfrm>
        </p:spPr>
        <p:txBody>
          <a:bodyPr/>
          <a:lstStyle/>
          <a:p>
            <a:fld id="{1095A040-388D-41D5-A09F-3EC1A1D097A8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4BC881-6669-50F2-64F2-57BD81A93B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63226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956312"/>
            <a:ext cx="3647839" cy="1420235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1"/>
            <a:ext cx="12192000" cy="45910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A6CD91D-B3A8-3626-F189-B9F77A315D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4591027"/>
            <a:ext cx="12198096" cy="123363"/>
            <a:chOff x="-5025" y="6737718"/>
            <a:chExt cx="12207200" cy="1233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869147E-E51A-3B94-6CD8-EE629F879704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DCD771F-7FFC-BCEC-B388-8883BD9CBC61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57800" y="4956312"/>
            <a:ext cx="6309360" cy="1420235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CB542C-378A-4AAF-83EE-A3767FF83605}" type="datetime1">
              <a:rPr lang="en-US" smtClean="0"/>
              <a:t>11/24/2025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95817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93596"/>
            <a:ext cx="2953618" cy="2007912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8FB154D-4A60-735B-FA5C-F17F96D0F7D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370080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68555" y="4093596"/>
            <a:ext cx="7298605" cy="2289578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BD91724-58CE-FA68-1E24-9CD57621C1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AA293A1-7F80-90D9-D8FF-27238ADD795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16C6F251-EB74-4ADA-AD63-D85EC3A9D616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9AC797-2D9B-C7AC-550D-157FEDA380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130682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0333CDCF-1D03-5851-5ADE-6C229D9C9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36CADBC-4985-70E0-56BE-1C8385BBCBD0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31B3299-F1D4-88B7-5B22-7D623606691F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7978"/>
            <a:ext cx="10954512" cy="969264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5C3B04B-96C8-DA90-9593-3508CE34B4E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1801367"/>
            <a:ext cx="7015248" cy="4489704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52735" y="1801367"/>
            <a:ext cx="3314425" cy="4489704"/>
          </a:xfrm>
        </p:spPr>
        <p:txBody>
          <a:bodyPr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02B3BF-7794-675C-7382-345519B43BE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303468-1991-7CCF-2C67-0B5A3850BAD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305F46D-792E-48B7-9047-8A1672515077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AF75D71-C32E-4EF6-2C8E-B5F29DBF4D1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682445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6287667-A4F8-6B7A-7C1E-415768F3B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60F260A-40A1-ED4C-F5A8-F915D3BDB7F5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79CD2C2-2541-1223-03B1-97955C134718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669536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2293938"/>
            <a:ext cx="4669536" cy="4024566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02919"/>
            <a:ext cx="5471160" cy="581558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3134235-8D6E-735A-EBA0-BA533F60F02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D2F68ED-5552-E109-B7F4-671217CABF2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B53D3FE-D727-4B50-874D-41D5E635B20A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73B9B49-4584-CFEF-738F-BE68D009CEA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795900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53C02DA-0C9D-12C9-42BB-CC4820B41C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3680A20-A590-D755-5AA0-BAF1B1402907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6CA06CF-7B14-32D2-2412-3434710512E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645980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2293938"/>
            <a:ext cx="3645980" cy="4024565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12227" y="502919"/>
            <a:ext cx="6354933" cy="581558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E942071-3A2D-4B86-82F9-428DB212BAF8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69898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B93BC13-F3D8-0BDA-D1BF-7B8E455AC06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7362B5B-CACD-7203-74DE-7B0BBF7D69CE}"/>
              </a:ext>
            </a:extLst>
          </p:cNvPr>
          <p:cNvGrpSpPr/>
          <p:nvPr/>
        </p:nvGrpSpPr>
        <p:grpSpPr>
          <a:xfrm>
            <a:off x="-22276" y="-6922"/>
            <a:ext cx="12214276" cy="6869101"/>
            <a:chOff x="-22276" y="-6922"/>
            <a:chExt cx="12214276" cy="6869101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D6A753B-AD01-7A7A-4F2D-C75592EC67B9}"/>
                </a:ext>
              </a:extLst>
            </p:cNvPr>
            <p:cNvSpPr/>
            <p:nvPr/>
          </p:nvSpPr>
          <p:spPr>
            <a:xfrm rot="5400000">
              <a:off x="2655863" y="-2678137"/>
              <a:ext cx="6857999" cy="12214275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93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E82525-BA9A-AA08-8DF0-B77178C6BC45}"/>
                </a:ext>
              </a:extLst>
            </p:cNvPr>
            <p:cNvSpPr/>
            <p:nvPr/>
          </p:nvSpPr>
          <p:spPr>
            <a:xfrm rot="16200000">
              <a:off x="3197276" y="-2132545"/>
              <a:ext cx="6850175" cy="11139273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198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A4B5202-8712-82B4-1B42-E7E4336E8698}"/>
                </a:ext>
              </a:extLst>
            </p:cNvPr>
            <p:cNvSpPr/>
            <p:nvPr/>
          </p:nvSpPr>
          <p:spPr>
            <a:xfrm flipH="1">
              <a:off x="-22276" y="-6922"/>
              <a:ext cx="3849318" cy="685291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95172D8-9117-7FB7-2347-567B5663C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6189691" y="-743112"/>
              <a:ext cx="5263375" cy="6741243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48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4928616"/>
            <a:ext cx="9912096" cy="1545336"/>
          </a:xfrm>
        </p:spPr>
        <p:txBody>
          <a:bodyPr anchor="t">
            <a:normAutofit/>
          </a:bodyPr>
          <a:lstStyle>
            <a:lvl1pPr algn="ctr">
              <a:lnSpc>
                <a:spcPct val="120000"/>
              </a:lnSpc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0352" y="978408"/>
            <a:ext cx="11137392" cy="411480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932224-E515-4E44-2832-0D5E94847C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71D16-7052-CB51-10DB-659F8F77B25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40D1012-6B36-4753-8153-E5F982239567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B132CC-C4B7-E2AF-5520-00C69FF37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489383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718304"/>
            <a:ext cx="6281928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21208" y="786384"/>
            <a:ext cx="11155680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7800" b="1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18D0173-56FC-C02C-32BA-73DB1BA380C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2E2BBBB-FE25-456C-89E4-A0303F0273E5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6AFD340-D045-A82B-779A-CCE82B04A2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1B246833-56EB-2252-BAD6-8D369F55483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03955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983480"/>
            <a:ext cx="6281928" cy="13533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lnSpc>
                <a:spcPct val="120000"/>
              </a:lnSpc>
              <a:defRPr lang="en-US" sz="28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182880"/>
            <a:ext cx="11247120" cy="497433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90000"/>
              </a:lnSpc>
              <a:buNone/>
              <a:defRPr lang="en-US" sz="32500" b="1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18D0173-56FC-C02C-32BA-73DB1BA380C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315EE4B-219D-4799-AB8D-57B100451C5D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6AFD340-D045-A82B-779A-CCE82B04A2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1B246833-56EB-2252-BAD6-8D369F55483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451358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1pPr>
            <a:lvl2pPr marL="2286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2pPr>
            <a:lvl3pPr marL="457200" indent="0">
              <a:lnSpc>
                <a:spcPct val="100000"/>
              </a:lnSpc>
              <a:buNone/>
              <a:defRPr sz="44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3pPr>
            <a:lvl4pPr marL="685800" indent="0">
              <a:lnSpc>
                <a:spcPct val="100000"/>
              </a:lnSpc>
              <a:buNone/>
              <a:defRPr sz="40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4pPr>
            <a:lvl5pPr marL="914400" indent="0">
              <a:lnSpc>
                <a:spcPct val="100000"/>
              </a:lnSpc>
              <a:buNone/>
              <a:defRPr sz="36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499AFF4-C109-45E7-87CB-3A41EC6C3342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31800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91C0A04-3BC7-B88E-3974-2A73D0A107E7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07991EE-474F-899B-8FEF-F82B3E5BDF10}"/>
              </a:ext>
            </a:extLst>
          </p:cNvPr>
          <p:cNvGrpSpPr/>
          <p:nvPr/>
        </p:nvGrpSpPr>
        <p:grpSpPr>
          <a:xfrm>
            <a:off x="-7285" y="-6922"/>
            <a:ext cx="12199285" cy="6869101"/>
            <a:chOff x="-22275" y="-6922"/>
            <a:chExt cx="12214275" cy="68691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9D5B255-8277-F118-03CD-8BAE19E8D68B}"/>
                </a:ext>
              </a:extLst>
            </p:cNvPr>
            <p:cNvSpPr/>
            <p:nvPr/>
          </p:nvSpPr>
          <p:spPr>
            <a:xfrm rot="5400000">
              <a:off x="2655863" y="-2678137"/>
              <a:ext cx="6857999" cy="12214275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93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E8FF695-246F-077D-F2C8-36B38501750D}"/>
                </a:ext>
              </a:extLst>
            </p:cNvPr>
            <p:cNvSpPr/>
            <p:nvPr/>
          </p:nvSpPr>
          <p:spPr>
            <a:xfrm rot="16200000">
              <a:off x="3197276" y="-2132545"/>
              <a:ext cx="6850175" cy="11139273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198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DB72F2E-896E-2C27-7B7B-07C3BA02B78E}"/>
                </a:ext>
              </a:extLst>
            </p:cNvPr>
            <p:cNvSpPr/>
            <p:nvPr/>
          </p:nvSpPr>
          <p:spPr>
            <a:xfrm flipH="1">
              <a:off x="-14981" y="-6922"/>
              <a:ext cx="3836566" cy="685291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522BC71-28C2-81D8-FB44-31BC493BBF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6189691" y="-743112"/>
              <a:ext cx="5263375" cy="6741243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48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3681088-8C72-D3AA-E951-F32AA4318F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-8784" y="6739061"/>
            <a:ext cx="12207240" cy="137160"/>
            <a:chOff x="-5025" y="6737718"/>
            <a:chExt cx="12207200" cy="123363"/>
          </a:xfrm>
          <a:solidFill>
            <a:schemeClr val="tx1"/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3FCCF6-A9CE-8C06-A018-3526E4B210A6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641A033-DCF1-2B2E-7479-E074B140FA8C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3F83B6E-95ED-1D70-2F6E-8299525C0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6" y="0"/>
            <a:ext cx="137160" cy="6858000"/>
            <a:chOff x="12068638" y="0"/>
            <a:chExt cx="123362" cy="6858000"/>
          </a:xfrm>
          <a:solidFill>
            <a:schemeClr val="tx1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1F59BE4-AC2E-2AB9-FE80-40CAF77CA798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01C2DAC-E593-02EE-C7E4-01B9BAA443C6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7680960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32871A2-A450-61EB-7368-98B251F1549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CA33720-A04E-18B6-251B-16C80085F29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AFEFF9-BDF1-4CFA-B535-0413D62BE29A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C245A2E-4B49-CED7-ADDF-6624BCC88DD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0136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323AF82-B640-17D0-AC4B-55F4EDF5C4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DA5C8EA-7A6C-8AC0-78D1-F538329B41B8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F2FAD3C-DB75-D855-489D-B09F992EA0E9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B287CE5-00A5-FA1D-EB2D-E5CFD27420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12357" y="6746828"/>
            <a:ext cx="12188952" cy="123363"/>
            <a:chOff x="-5025" y="6737718"/>
            <a:chExt cx="12207200" cy="12336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2C43EBD-E088-A3CD-FCDE-E6ED8F87D148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D88F00F-9D01-378E-377E-26B543D2FA77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82175" y="751366"/>
            <a:ext cx="8353433" cy="5402545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1pPr>
            <a:lvl2pPr marL="2286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2pPr>
            <a:lvl3pPr marL="4572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3pPr>
            <a:lvl4pPr marL="6858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4pPr>
            <a:lvl5pPr marL="9144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32871A2-A450-61EB-7368-98B251F1549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CA33720-A04E-18B6-251B-16C80085F29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E761A50-B070-4EAD-9EB9-92E4929324E7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C245A2E-4B49-CED7-ADDF-6624BCC88DD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18411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45920" y="5203004"/>
            <a:ext cx="9052560" cy="55778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4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795462"/>
            <a:ext cx="9198864" cy="2871216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440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9A1CBA35-F376-4C5F-B8C5-4C103617FD91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278988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D93FB6C-5982-EAFA-94FA-F06EABA0EC3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48F732B-25DE-1819-DB0A-266B26703011}"/>
              </a:ext>
            </a:extLst>
          </p:cNvPr>
          <p:cNvGrpSpPr/>
          <p:nvPr/>
        </p:nvGrpSpPr>
        <p:grpSpPr>
          <a:xfrm>
            <a:off x="807326" y="778051"/>
            <a:ext cx="10577346" cy="5314435"/>
            <a:chOff x="807326" y="778051"/>
            <a:chExt cx="10577346" cy="531443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0BBD41E-DAB9-A564-3A2B-295B7AE87C42}"/>
                </a:ext>
              </a:extLst>
            </p:cNvPr>
            <p:cNvSpPr/>
            <p:nvPr/>
          </p:nvSpPr>
          <p:spPr>
            <a:xfrm rot="5400000" flipH="1">
              <a:off x="3438786" y="-1853401"/>
              <a:ext cx="5314432" cy="10577340"/>
            </a:xfrm>
            <a:prstGeom prst="rect">
              <a:avLst/>
            </a:prstGeom>
            <a:gradFill>
              <a:gsLst>
                <a:gs pos="0">
                  <a:schemeClr val="accent2">
                    <a:alpha val="78000"/>
                  </a:schemeClr>
                </a:gs>
                <a:gs pos="93000">
                  <a:schemeClr val="accent5">
                    <a:alpha val="85000"/>
                  </a:schemeClr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54A4391-9FDD-C033-0A4D-647A73420405}"/>
                </a:ext>
              </a:extLst>
            </p:cNvPr>
            <p:cNvSpPr/>
            <p:nvPr/>
          </p:nvSpPr>
          <p:spPr>
            <a:xfrm rot="16200000" flipH="1">
              <a:off x="3445177" y="-1846407"/>
              <a:ext cx="5314435" cy="10563352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alpha val="79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21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290101F-E74A-5C0F-8CC5-E0B5E3DC0E24}"/>
                </a:ext>
              </a:extLst>
            </p:cNvPr>
            <p:cNvSpPr/>
            <p:nvPr/>
          </p:nvSpPr>
          <p:spPr>
            <a:xfrm rot="10800000">
              <a:off x="807326" y="778051"/>
              <a:ext cx="3333441" cy="530836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38E2756-2591-1046-1B67-C9DEEDDCB8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 flipH="1">
              <a:off x="4205050" y="-1083744"/>
              <a:ext cx="4078718" cy="10273742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26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1368" y="5120640"/>
            <a:ext cx="8549640" cy="621792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55064" y="1965960"/>
            <a:ext cx="8695944" cy="2331720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3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BA89D600-DCDC-4EC3-BDD3-052C2836DAF2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882274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3D49479-B594-DDBA-C16A-3A98635C8A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E065CA7-C91C-8C4F-CD30-E6DB950A620B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DCDB482-1274-EA4E-11EA-FDB308F1540E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FAEF3D1-EB50-234E-F0C0-5C4E6FB699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-1091" y="0"/>
            <a:ext cx="12188952" cy="123363"/>
            <a:chOff x="-5025" y="6737718"/>
            <a:chExt cx="12207200" cy="123363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B35CE4F-16F9-575C-78CA-4F076F0C3D1F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D59711A-5559-82B6-B156-35D79618FF56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9836" y="5192776"/>
            <a:ext cx="8494776" cy="621792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gradFill>
                  <a:gsLst>
                    <a:gs pos="0">
                      <a:schemeClr val="accent2"/>
                    </a:gs>
                    <a:gs pos="90000">
                      <a:schemeClr val="accent5"/>
                    </a:gs>
                  </a:gsLst>
                  <a:lin ang="9600000" scaled="0"/>
                </a:gra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33532" y="1792224"/>
            <a:ext cx="8641080" cy="2871216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3600">
                <a:gradFill>
                  <a:gsLst>
                    <a:gs pos="0">
                      <a:schemeClr val="accent2"/>
                    </a:gs>
                    <a:gs pos="90000">
                      <a:schemeClr val="accent5"/>
                    </a:gs>
                  </a:gsLst>
                  <a:lin ang="9600000" scaled="0"/>
                </a:gradFill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3ADB2DB3-0A08-4E5B-8BB6-A488CF1C042F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427827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0B646A9-91B4-D2CF-8B72-68E668219C00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4512" cy="119786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7BFCD9-16A4-5745-7BB3-7836095FF1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648" y="2133600"/>
            <a:ext cx="5166360" cy="41849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30EDC57-7D17-D4C8-5C60-A44A480EA9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800" y="2128115"/>
            <a:ext cx="5166360" cy="419038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2A082C-5D4A-4A20-87E3-9906B5F3BA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184DE-1D38-B3AE-D560-557B3726B5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A329DD1-6F17-4170-B2B1-1A76C32D62A1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66BE47-AC20-1061-07AD-89A41D02F4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862623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C704A21-3725-4536-B210-EAED58DE1544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3750" cy="119786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2128111"/>
            <a:ext cx="5166360" cy="484632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400" b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B5BB1DC-4DAA-D220-25A9-5752C158FD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648" y="2722893"/>
            <a:ext cx="5166360" cy="3595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00800" y="2128109"/>
            <a:ext cx="5166360" cy="484633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400" b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AB67A04-5E8D-18C5-D47A-A5B5CFE568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038" y="2722893"/>
            <a:ext cx="5166360" cy="3595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669AB3-1083-59C6-B9F8-A35C0D40661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D0645D-C128-9FF0-2E8B-D2E3E3468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BA7E6053-DA33-4DC9-86BB-0E52E5EB5B56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C6DDA88-C058-DDD5-F19B-8B5E7B86C68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28786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2CE4D-D83F-44D4-ACB0-A88A6B9DB4F7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03230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2F981-1EE1-49F5-B605-4EA23F0307AC}" type="datetime1">
              <a:rPr lang="en-US" smtClean="0"/>
              <a:t>11/24/2025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05894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6BE0305-2234-39DE-EC35-B6881018E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EBF17BE-BA15-771A-79F4-91B4C5C752FB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79ADE0D-3A86-F364-6B2A-F373A75E29AE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595634" cy="1808201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309608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99" y="502920"/>
            <a:ext cx="6283861" cy="580326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6493B-A447-4205-AC2D-AE2DEDAE4E3B}" type="datetime1">
              <a:rPr lang="en-US" smtClean="0"/>
              <a:t>11/24/2025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15092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923E9-478C-95DE-C678-A683A36F53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3DD8A0F-EB40-1201-2A23-685958AC5DF6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B912E4F-3FBB-39E4-2EA2-BA0D8858A74D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713996" cy="224720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861F92C4-9651-789C-0B22-E6343EE25C7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CCD178F-4127-FE67-2F5D-0F1CE788439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53978" y="342016"/>
            <a:ext cx="6413182" cy="597648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23" name="Date Placeholder 22">
            <a:extLst>
              <a:ext uri="{FF2B5EF4-FFF2-40B4-BE49-F238E27FC236}">
                <a16:creationId xmlns:a16="http://schemas.microsoft.com/office/drawing/2014/main" id="{8ACB14E1-4D3B-B55C-4791-64F774AC361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F9A354F-9C13-4261-9BA4-DD76051C2429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E55DAD34-8521-F119-F985-ABFBDD3400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101908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0AE463B-60C7-F01E-97F6-1486FB41D2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94E48A-D751-8593-5D71-0683866A2404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5092F9-8C9B-4865-CB0E-EFD550A28ED3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10890373" cy="1463040"/>
          </a:xfrm>
        </p:spPr>
        <p:txBody>
          <a:bodyPr anchor="t">
            <a:normAutofit/>
          </a:bodyPr>
          <a:lstStyle>
            <a:lvl1pPr>
              <a:defRPr sz="60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8" y="3483864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F5585-231E-4B46-143C-086AE5C56D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2CF0D-DCF6-2401-8AD6-ED12BCF0D0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3A9CD26-23FE-488A-AF3B-5DDE99301C10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E8D9E-59BD-DBC5-F43C-8A6A21AE2F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32165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627318"/>
            <a:ext cx="8430768" cy="1842020"/>
          </a:xfrm>
        </p:spPr>
        <p:txBody>
          <a:bodyPr anchor="b">
            <a:normAutofit/>
          </a:bodyPr>
          <a:lstStyle>
            <a:lvl1pPr>
              <a:defRPr sz="60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3622673"/>
            <a:ext cx="8430768" cy="160934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200" dirty="0"/>
            </a:lvl1pPr>
            <a:lvl2pPr marL="228600" indent="0">
              <a:buNone/>
              <a:defRPr lang="en-US" sz="1800" dirty="0"/>
            </a:lvl2pPr>
            <a:lvl3pPr marL="457200" indent="0">
              <a:buNone/>
              <a:defRPr lang="en-US" sz="16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C67263D-2536-4E2E-A4D6-BA89E45F00B0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81113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4512" cy="119786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1801368"/>
            <a:ext cx="10954512" cy="4480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8" y="6318504"/>
            <a:ext cx="4096512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5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430768" y="6318504"/>
            <a:ext cx="3136392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/>
                </a:solidFill>
              </a:defRPr>
            </a:lvl1pPr>
          </a:lstStyle>
          <a:p>
            <a:fld id="{FD1C4689-B28D-4D3C-8B05-9ABB967E2A3E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4864" y="6318504"/>
            <a:ext cx="493776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162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6" r:id="rId1"/>
    <p:sldLayoutId id="2147483857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  <p:sldLayoutId id="2147483822" r:id="rId18"/>
    <p:sldLayoutId id="2147483823" r:id="rId19"/>
    <p:sldLayoutId id="2147483824" r:id="rId20"/>
    <p:sldLayoutId id="2147483825" r:id="rId21"/>
    <p:sldLayoutId id="2147483826" r:id="rId22"/>
    <p:sldLayoutId id="2147483827" r:id="rId23"/>
    <p:sldLayoutId id="2147483828" r:id="rId24"/>
    <p:sldLayoutId id="2147483829" r:id="rId25"/>
    <p:sldLayoutId id="2147483830" r:id="rId26"/>
    <p:sldLayoutId id="2147483831" r:id="rId27"/>
    <p:sldLayoutId id="2147483832" r:id="rId28"/>
    <p:sldLayoutId id="2147483833" r:id="rId29"/>
    <p:sldLayoutId id="2147483834" r:id="rId30"/>
    <p:sldLayoutId id="2147483835" r:id="rId31"/>
    <p:sldLayoutId id="2147483836" r:id="rId32"/>
    <p:sldLayoutId id="2147483837" r:id="rId33"/>
    <p:sldLayoutId id="2147483838" r:id="rId34"/>
    <p:sldLayoutId id="2147483839" r:id="rId35"/>
    <p:sldLayoutId id="2147483840" r:id="rId36"/>
    <p:sldLayoutId id="2147483841" r:id="rId37"/>
    <p:sldLayoutId id="2147483842" r:id="rId38"/>
    <p:sldLayoutId id="2147483843" r:id="rId39"/>
    <p:sldLayoutId id="2147483844" r:id="rId40"/>
    <p:sldLayoutId id="2147483845" r:id="rId41"/>
    <p:sldLayoutId id="2147483846" r:id="rId42"/>
    <p:sldLayoutId id="2147483847" r:id="rId43"/>
    <p:sldLayoutId id="2147483848" r:id="rId44"/>
    <p:sldLayoutId id="2147483849" r:id="rId45"/>
    <p:sldLayoutId id="2147483850" r:id="rId46"/>
    <p:sldLayoutId id="2147483851" r:id="rId47"/>
    <p:sldLayoutId id="2147483852" r:id="rId48"/>
    <p:sldLayoutId id="2147483853" r:id="rId49"/>
    <p:sldLayoutId id="2147483854" r:id="rId50"/>
    <p:sldLayoutId id="2147483855" r:id="rId5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Relationship Id="rId5" Type="http://schemas.openxmlformats.org/officeDocument/2006/relationships/hyperlink" Target="https://www.greenpeace.org/static/planet4-argentina-stateless/2025/05/d5b627cc-reporteincendios-gp2025final.pdf" TargetMode="External"/><Relationship Id="rId4" Type="http://schemas.openxmlformats.org/officeDocument/2006/relationships/hyperlink" Target="https://www.greenpeace.org/static/planet4-argentina-stateless/2024/05/28537bfa-incendios-forestales-en-los-bosques-andino-patagonicos-2023-2024.pdf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17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1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8FBC49-9D93-6D6D-3174-7C77309CF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anchor="t">
            <a:normAutofit/>
          </a:bodyPr>
          <a:lstStyle/>
          <a:p>
            <a:r>
              <a:rPr lang="es-AR" b="1" noProof="0" dirty="0"/>
              <a:t>Incendios forestales de la Patagonia Andina</a:t>
            </a:r>
            <a:endParaRPr lang="es-AR" noProof="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ABC29BA-AD2E-5BC5-1C6A-2B1A95CF6A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anchor="ctr">
            <a:normAutofit/>
          </a:bodyPr>
          <a:lstStyle/>
          <a:p>
            <a:r>
              <a:rPr lang="es-AR" b="1" noProof="0" dirty="0"/>
              <a:t>Una aproximación con modelos de aprendizaje automático.</a:t>
            </a:r>
            <a:endParaRPr lang="es-AR" noProof="0" dirty="0"/>
          </a:p>
        </p:txBody>
      </p:sp>
      <p:pic>
        <p:nvPicPr>
          <p:cNvPr id="10" name="Marcador de posición de imagen 9">
            <a:extLst>
              <a:ext uri="{FF2B5EF4-FFF2-40B4-BE49-F238E27FC236}">
                <a16:creationId xmlns:a16="http://schemas.microsoft.com/office/drawing/2014/main" id="{0241CF43-077C-82AA-0468-25012988520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469" r="29469"/>
          <a:stretch/>
        </p:blipFill>
        <p:spPr>
          <a:xfrm>
            <a:off x="7537704" y="0"/>
            <a:ext cx="4654296" cy="6857778"/>
          </a:xfrm>
          <a:noFill/>
        </p:spPr>
      </p:pic>
    </p:spTree>
    <p:extLst>
      <p:ext uri="{BB962C8B-B14F-4D97-AF65-F5344CB8AC3E}">
        <p14:creationId xmlns:p14="http://schemas.microsoft.com/office/powerpoint/2010/main" val="21106837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DB60CF-894E-E884-F59B-79EE32AF0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6516" y="502920"/>
            <a:ext cx="6858000" cy="841248"/>
          </a:xfrm>
        </p:spPr>
        <p:txBody>
          <a:bodyPr anchor="b">
            <a:normAutofit/>
          </a:bodyPr>
          <a:lstStyle/>
          <a:p>
            <a:r>
              <a:rPr lang="es-AR" b="1" noProof="0" dirty="0"/>
              <a:t>Temario</a:t>
            </a:r>
          </a:p>
        </p:txBody>
      </p:sp>
      <p:pic>
        <p:nvPicPr>
          <p:cNvPr id="7" name="Marcador de posición de imagen 6">
            <a:extLst>
              <a:ext uri="{FF2B5EF4-FFF2-40B4-BE49-F238E27FC236}">
                <a16:creationId xmlns:a16="http://schemas.microsoft.com/office/drawing/2014/main" id="{1938CA97-CCBC-FE34-3A6B-EAD133F72246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494" r="32494"/>
          <a:stretch/>
        </p:blipFill>
        <p:spPr>
          <a:xfrm>
            <a:off x="0" y="260"/>
            <a:ext cx="4084363" cy="6857479"/>
          </a:xfrm>
          <a:noFill/>
        </p:spPr>
      </p:pic>
      <p:graphicFrame>
        <p:nvGraphicFramePr>
          <p:cNvPr id="6" name="Marcador de contenido 5">
            <a:extLst>
              <a:ext uri="{FF2B5EF4-FFF2-40B4-BE49-F238E27FC236}">
                <a16:creationId xmlns:a16="http://schemas.microsoft.com/office/drawing/2014/main" id="{3322D8B2-B1F5-5A30-A079-383E5437BFF2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861298884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5387536" y="1472183"/>
          <a:ext cx="5495960" cy="4782316"/>
        </p:xfrm>
        <a:graphic>
          <a:graphicData uri="http://schemas.openxmlformats.org/drawingml/2006/table">
            <a:tbl>
              <a:tblPr bandRow="1">
                <a:noFill/>
                <a:tableStyleId>{5C22544A-7EE6-4342-B048-85BDC9FD1C3A}</a:tableStyleId>
              </a:tblPr>
              <a:tblGrid>
                <a:gridCol w="1191010">
                  <a:extLst>
                    <a:ext uri="{9D8B030D-6E8A-4147-A177-3AD203B41FA5}">
                      <a16:colId xmlns:a16="http://schemas.microsoft.com/office/drawing/2014/main" val="1868535267"/>
                    </a:ext>
                  </a:extLst>
                </a:gridCol>
                <a:gridCol w="4304950">
                  <a:extLst>
                    <a:ext uri="{9D8B030D-6E8A-4147-A177-3AD203B41FA5}">
                      <a16:colId xmlns:a16="http://schemas.microsoft.com/office/drawing/2014/main" val="654858520"/>
                    </a:ext>
                  </a:extLst>
                </a:gridCol>
              </a:tblGrid>
              <a:tr h="68318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2700" b="1" cap="none" spc="0" noProof="0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700" b="0" cap="none" spc="0" noProof="0" dirty="0">
                          <a:solidFill>
                            <a:schemeClr val="tx1"/>
                          </a:solidFill>
                        </a:rPr>
                        <a:t>Motivación</a:t>
                      </a: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1214780"/>
                  </a:ext>
                </a:extLst>
              </a:tr>
              <a:tr h="68318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2700" b="1" cap="none" spc="0" noProof="0" dirty="0">
                          <a:solidFill>
                            <a:schemeClr val="bg1"/>
                          </a:solidFill>
                        </a:rPr>
                        <a:t>02</a:t>
                      </a: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700" b="0" cap="none" spc="0" noProof="0" dirty="0">
                          <a:solidFill>
                            <a:schemeClr val="tx1"/>
                          </a:solidFill>
                        </a:rPr>
                        <a:t>Datos</a:t>
                      </a: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4036038"/>
                  </a:ext>
                </a:extLst>
              </a:tr>
              <a:tr h="68318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2700" b="1" cap="none" spc="0" noProof="0" dirty="0">
                          <a:solidFill>
                            <a:schemeClr val="bg1"/>
                          </a:solidFill>
                        </a:rPr>
                        <a:t>03</a:t>
                      </a: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700" b="0" cap="none" spc="0" noProof="0" dirty="0">
                          <a:solidFill>
                            <a:schemeClr val="tx1"/>
                          </a:solidFill>
                        </a:rPr>
                        <a:t>Objetivos</a:t>
                      </a: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9927137"/>
                  </a:ext>
                </a:extLst>
              </a:tr>
              <a:tr h="68318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2700" b="1" cap="none" spc="0" noProof="0" dirty="0">
                          <a:solidFill>
                            <a:schemeClr val="bg1"/>
                          </a:solidFill>
                        </a:rPr>
                        <a:t>04</a:t>
                      </a: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700" b="0" cap="none" spc="0" noProof="0" dirty="0">
                          <a:solidFill>
                            <a:schemeClr val="tx1"/>
                          </a:solidFill>
                        </a:rPr>
                        <a:t>Tratamiento</a:t>
                      </a: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510349"/>
                  </a:ext>
                </a:extLst>
              </a:tr>
              <a:tr h="68318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2700" b="1" cap="none" spc="0" noProof="0" dirty="0">
                          <a:solidFill>
                            <a:schemeClr val="bg1"/>
                          </a:solidFill>
                        </a:rPr>
                        <a:t>05</a:t>
                      </a: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700" b="0" cap="none" spc="0" noProof="0" dirty="0">
                          <a:solidFill>
                            <a:schemeClr val="tx1"/>
                          </a:solidFill>
                        </a:rPr>
                        <a:t>Análisis exploratorio</a:t>
                      </a: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5124404"/>
                  </a:ext>
                </a:extLst>
              </a:tr>
              <a:tr h="68318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2700" b="1" cap="none" spc="0" noProof="0" dirty="0">
                          <a:solidFill>
                            <a:schemeClr val="bg1"/>
                          </a:solidFill>
                        </a:rPr>
                        <a:t>06</a:t>
                      </a: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700" b="0" cap="none" spc="0" noProof="0" dirty="0">
                          <a:solidFill>
                            <a:schemeClr val="tx1"/>
                          </a:solidFill>
                        </a:rPr>
                        <a:t>Aprendizaje de máquina</a:t>
                      </a: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9754579"/>
                  </a:ext>
                </a:extLst>
              </a:tr>
              <a:tr h="68318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AR" sz="2700" b="1" cap="none" spc="0" noProof="0" dirty="0">
                          <a:solidFill>
                            <a:schemeClr val="bg1"/>
                          </a:solidFill>
                        </a:rPr>
                        <a:t>07</a:t>
                      </a: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AR" sz="1700" b="0" cap="none" spc="0" noProof="0" dirty="0">
                          <a:solidFill>
                            <a:schemeClr val="tx1"/>
                          </a:solidFill>
                        </a:rPr>
                        <a:t>Resultados y conclusiones</a:t>
                      </a:r>
                    </a:p>
                  </a:txBody>
                  <a:tcPr marL="117341" marR="117341" marT="117341" marB="11734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accent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3050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47233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585BEA-FDD9-68AB-BD88-190AE215D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2783" y="722376"/>
            <a:ext cx="5138927" cy="1581912"/>
          </a:xfrm>
        </p:spPr>
        <p:txBody>
          <a:bodyPr anchor="b">
            <a:normAutofit/>
          </a:bodyPr>
          <a:lstStyle/>
          <a:p>
            <a:r>
              <a:rPr lang="es-AR" noProof="0" dirty="0"/>
              <a:t>Motivación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161E7C1-2B95-E929-5DC8-2B34D918A3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183" r="12128" b="-1"/>
          <a:stretch>
            <a:fillRect/>
          </a:stretch>
        </p:blipFill>
        <p:spPr>
          <a:xfrm>
            <a:off x="119307" y="10"/>
            <a:ext cx="5413248" cy="6857990"/>
          </a:xfrm>
          <a:prstGeom prst="rect">
            <a:avLst/>
          </a:prstGeom>
          <a:noFill/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0B50146-BE55-3008-41D3-BB1489CBE7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834640"/>
            <a:ext cx="5138928" cy="2999232"/>
          </a:xfrm>
        </p:spPr>
        <p:txBody>
          <a:bodyPr anchor="b">
            <a:normAutofit/>
          </a:bodyPr>
          <a:lstStyle/>
          <a:p>
            <a:pPr marL="0" indent="0">
              <a:buNone/>
            </a:pPr>
            <a:r>
              <a:rPr lang="es-AR" sz="1900" b="1" noProof="0" dirty="0"/>
              <a:t>"</a:t>
            </a:r>
            <a:r>
              <a:rPr lang="es-AR" sz="1900" b="1" i="1" noProof="0" dirty="0"/>
              <a:t>Declárase de interés público provincial la prevención, </a:t>
            </a:r>
            <a:r>
              <a:rPr lang="es-AR" sz="1900" b="1" i="1" noProof="0" dirty="0" err="1"/>
              <a:t>presupresión</a:t>
            </a:r>
            <a:r>
              <a:rPr lang="es-AR" sz="1900" b="1" i="1" noProof="0" dirty="0"/>
              <a:t> y combate de los incendios forestales y rurales, como medio tendiente a la protección de la vida y la seguridad de las personas y a la preservación del patrimonio ambiental y económico de la provincia.”</a:t>
            </a:r>
            <a:endParaRPr lang="es-AR" sz="1900" b="1" noProof="0" dirty="0"/>
          </a:p>
          <a:p>
            <a:pPr marL="0" indent="0">
              <a:buNone/>
            </a:pPr>
            <a:r>
              <a:rPr lang="es-AR" sz="1900" noProof="0" dirty="0"/>
              <a:t>Art. 1 - Ley </a:t>
            </a:r>
            <a:r>
              <a:rPr lang="es-AR" sz="1900" noProof="0" dirty="0" err="1"/>
              <a:t>N.°</a:t>
            </a:r>
            <a:r>
              <a:rPr lang="es-AR" sz="1900" noProof="0" dirty="0"/>
              <a:t> 5243 de la Provincia de Río Negro</a:t>
            </a:r>
          </a:p>
        </p:txBody>
      </p:sp>
    </p:spTree>
    <p:extLst>
      <p:ext uri="{BB962C8B-B14F-4D97-AF65-F5344CB8AC3E}">
        <p14:creationId xmlns:p14="http://schemas.microsoft.com/office/powerpoint/2010/main" val="42829850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E09C5-6633-07D7-BE96-7BB05F091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436625-D318-59AF-B638-98080BC68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358" y="170098"/>
            <a:ext cx="4215384" cy="500462"/>
          </a:xfrm>
        </p:spPr>
        <p:txBody>
          <a:bodyPr anchor="t">
            <a:normAutofit fontScale="90000"/>
          </a:bodyPr>
          <a:lstStyle/>
          <a:p>
            <a:r>
              <a:rPr lang="es-AR" noProof="0" dirty="0"/>
              <a:t>Motivación</a:t>
            </a: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0E671EAB-F101-F412-7316-9D5F7B6ED82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19358" y="640080"/>
            <a:ext cx="7007352" cy="5577840"/>
          </a:xfrm>
        </p:spPr>
        <p:txBody>
          <a:bodyPr>
            <a:no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s-AR" sz="2400" noProof="0" dirty="0"/>
              <a:t>En el periodo octubre 2024 a marzo 2025 se cuadriplicó el área afectada por el fuego en la región, la superficie de Bosques Andino Patagónicos afectada por incendios forestales fue de </a:t>
            </a:r>
            <a:r>
              <a:rPr lang="es-AR" sz="2400" b="1" noProof="0" dirty="0"/>
              <a:t>10.218has</a:t>
            </a:r>
            <a:r>
              <a:rPr lang="es-AR" sz="2400" noProof="0" dirty="0"/>
              <a:t>, mientras que durante el mismo periodo 2023-2024 fue de </a:t>
            </a:r>
            <a:r>
              <a:rPr lang="es-AR" sz="2400" b="1" noProof="0" dirty="0"/>
              <a:t>7.747has</a:t>
            </a:r>
            <a:r>
              <a:rPr lang="es-AR" sz="2400" noProof="0" dirty="0"/>
              <a:t>. 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BD88CEEE-E646-8BE9-7EE5-68476F5C85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4195" y="160019"/>
            <a:ext cx="4598448" cy="6427721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8662095D-6514-2A96-4834-1E8EFC27E307}"/>
              </a:ext>
            </a:extLst>
          </p:cNvPr>
          <p:cNvSpPr txBox="1"/>
          <p:nvPr/>
        </p:nvSpPr>
        <p:spPr>
          <a:xfrm>
            <a:off x="219357" y="6217920"/>
            <a:ext cx="4862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s-AR" sz="900" noProof="0" dirty="0"/>
              <a:t>Greenpeace. (2024, abril). </a:t>
            </a:r>
            <a:r>
              <a:rPr lang="es-AR" sz="900" i="1" noProof="0" dirty="0">
                <a:hlinkClick r:id="rId4"/>
              </a:rPr>
              <a:t>Incendios Forestales en los Bosques Andino Patagónicos de Argentina</a:t>
            </a:r>
            <a:r>
              <a:rPr lang="es-AR" sz="900" noProof="0" dirty="0"/>
              <a:t>.</a:t>
            </a:r>
          </a:p>
          <a:p>
            <a:pPr lvl="0"/>
            <a:r>
              <a:rPr lang="es-AR" sz="900" noProof="0" dirty="0"/>
              <a:t>Greenpeace. (2025, mayo). </a:t>
            </a:r>
            <a:r>
              <a:rPr lang="es-AR" sz="900" i="1" noProof="0" dirty="0">
                <a:hlinkClick r:id="rId5"/>
              </a:rPr>
              <a:t>Incendios Forestales en los Bosques Andino Patagónicos de Argentina</a:t>
            </a:r>
            <a:r>
              <a:rPr lang="es-AR" sz="900" noProof="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1675024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3558B-9388-C5AF-372E-42F977E23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4D79518A-F239-8343-F2B4-86B21F1CF6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120650" y="369236"/>
            <a:ext cx="11950700" cy="600522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686778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27B6C-1581-3F3B-0945-2A4ADFF1F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3EA62E36-9345-19A3-5A74-06D63924D0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0885" y="369236"/>
            <a:ext cx="11950230" cy="600522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63913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568FA-9E75-DB11-AFF2-94DE1F20A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Marcador de posición de imagen 14">
            <a:extLst>
              <a:ext uri="{FF2B5EF4-FFF2-40B4-BE49-F238E27FC236}">
                <a16:creationId xmlns:a16="http://schemas.microsoft.com/office/drawing/2014/main" id="{72C7C3F0-75DF-47A5-4E2F-96B8CE821BC3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16" r="24516"/>
          <a:stretch>
            <a:fillRect/>
          </a:stretch>
        </p:blipFill>
        <p:spPr>
          <a:xfrm>
            <a:off x="264607" y="706297"/>
            <a:ext cx="3448141" cy="3805413"/>
          </a:xfrm>
        </p:spPr>
      </p:pic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FC270278-268D-2240-0CB2-F71B819C9A3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23784" y="271456"/>
            <a:ext cx="6703101" cy="6490733"/>
          </a:xfrm>
        </p:spPr>
        <p:txBody>
          <a:bodyPr>
            <a:normAutofit fontScale="92500" lnSpcReduction="20000"/>
          </a:bodyPr>
          <a:lstStyle/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AR" noProof="0" dirty="0"/>
              <a:t>Estudiar y comprender los incendios forestales de la Patagonia Andina por medio de datos derivados de instrumentos de teledetección y preprocesados con modelos robustos de consolidación.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AR" noProof="0" dirty="0"/>
              <a:t>Recopilar y sistematizar la información necesaria y disponible para el desarrollo del proyecto, incluyendo datos satelitales, climatológicos y ambientales.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AR" noProof="0" dirty="0"/>
              <a:t>Realizar la limpieza y procesamiento de los datos recopilados para su consolidación.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AR" noProof="0" dirty="0"/>
              <a:t>Realizar un análisis exploratorio para identificar patrones y correlaciones entre las variables estudiadas y la ocurrencia de incendios.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AR" noProof="0" dirty="0"/>
              <a:t>Implementar modelos de Machine </a:t>
            </a:r>
            <a:r>
              <a:rPr lang="es-AR" noProof="0" dirty="0" err="1"/>
              <a:t>Learning</a:t>
            </a:r>
            <a:r>
              <a:rPr lang="es-AR" noProof="0" dirty="0"/>
              <a:t> que permitan predecir la probabilidad de nuevos focos en una región específica.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AR" noProof="0" dirty="0"/>
              <a:t>Evaluar la efectividad de los modelos desarrollados mediante la comparación de sus predicciones con datos históricos de incendios</a:t>
            </a:r>
            <a:r>
              <a:rPr lang="es-AR" sz="1500" noProof="0" dirty="0"/>
              <a:t>.</a:t>
            </a:r>
          </a:p>
          <a:p>
            <a:pPr marL="342900" indent="-342900">
              <a:lnSpc>
                <a:spcPct val="110000"/>
              </a:lnSpc>
              <a:buFont typeface="+mj-lt"/>
              <a:buAutoNum type="arabicPeriod"/>
            </a:pPr>
            <a:endParaRPr lang="es-AR" sz="1500" noProof="0" dirty="0"/>
          </a:p>
          <a:p>
            <a:pPr marL="342900" indent="-342900">
              <a:lnSpc>
                <a:spcPct val="110000"/>
              </a:lnSpc>
              <a:buFont typeface="+mj-lt"/>
              <a:buAutoNum type="arabicPeriod"/>
            </a:pPr>
            <a:endParaRPr lang="es-AR" sz="1500" noProof="0" dirty="0"/>
          </a:p>
          <a:p>
            <a:pPr marL="0" indent="0">
              <a:lnSpc>
                <a:spcPct val="110000"/>
              </a:lnSpc>
              <a:buNone/>
            </a:pPr>
            <a:endParaRPr lang="es-AR" sz="1500" noProof="0" dirty="0"/>
          </a:p>
          <a:p>
            <a:pPr>
              <a:lnSpc>
                <a:spcPct val="110000"/>
              </a:lnSpc>
            </a:pPr>
            <a:endParaRPr lang="es-AR" sz="1500" noProof="0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518D0673-0A83-D87C-6D92-3584E6256D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438" y="3516823"/>
            <a:ext cx="4133221" cy="3099916"/>
          </a:xfrm>
          <a:prstGeom prst="rect">
            <a:avLst/>
          </a:prstGeom>
        </p:spPr>
      </p:pic>
      <p:sp>
        <p:nvSpPr>
          <p:cNvPr id="21" name="Título 1">
            <a:extLst>
              <a:ext uri="{FF2B5EF4-FFF2-40B4-BE49-F238E27FC236}">
                <a16:creationId xmlns:a16="http://schemas.microsoft.com/office/drawing/2014/main" id="{E677125C-6613-63AB-C65B-17398D401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358" y="170098"/>
            <a:ext cx="4215384" cy="500462"/>
          </a:xfrm>
        </p:spPr>
        <p:txBody>
          <a:bodyPr anchor="t">
            <a:noAutofit/>
          </a:bodyPr>
          <a:lstStyle/>
          <a:p>
            <a:r>
              <a:rPr lang="es-AR" sz="2900" noProof="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2000000" scaled="0"/>
                </a:gradFill>
              </a:rPr>
              <a:t>Objetivos</a:t>
            </a:r>
          </a:p>
        </p:txBody>
      </p:sp>
    </p:spTree>
    <p:extLst>
      <p:ext uri="{BB962C8B-B14F-4D97-AF65-F5344CB8AC3E}">
        <p14:creationId xmlns:p14="http://schemas.microsoft.com/office/powerpoint/2010/main" val="1236893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3094B2-8852-1248-18C6-22DF31E372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854" y="328260"/>
            <a:ext cx="5852160" cy="904639"/>
          </a:xfrm>
        </p:spPr>
        <p:txBody>
          <a:bodyPr anchor="t">
            <a:normAutofit/>
          </a:bodyPr>
          <a:lstStyle/>
          <a:p>
            <a:r>
              <a:rPr lang="es-AR" noProof="0" dirty="0"/>
              <a:t>Datos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6722B269-D6E4-0524-BE44-D29C4E10E4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853" y="2219218"/>
            <a:ext cx="5455577" cy="3916406"/>
          </a:xfrm>
        </p:spPr>
        <p:txBody>
          <a:bodyPr>
            <a:normAutofit/>
          </a:bodyPr>
          <a:lstStyle/>
          <a:p>
            <a:r>
              <a:rPr lang="es-AR" sz="2400" b="1" noProof="0" dirty="0"/>
              <a:t>Área de estudio: </a:t>
            </a:r>
          </a:p>
          <a:p>
            <a:pPr lvl="1"/>
            <a:r>
              <a:rPr lang="es-AR" sz="2000" noProof="0" dirty="0" err="1">
                <a:solidFill>
                  <a:schemeClr val="bg1"/>
                </a:solidFill>
              </a:rPr>
              <a:t>Extención</a:t>
            </a:r>
            <a:r>
              <a:rPr lang="es-AR" sz="2000" noProof="0" dirty="0">
                <a:solidFill>
                  <a:schemeClr val="bg1"/>
                </a:solidFill>
              </a:rPr>
              <a:t> longitudinal: -72,00° E a -71,00° O</a:t>
            </a:r>
          </a:p>
          <a:p>
            <a:pPr lvl="1"/>
            <a:r>
              <a:rPr lang="es-AR" sz="2000" noProof="0" dirty="0" err="1">
                <a:solidFill>
                  <a:schemeClr val="bg1"/>
                </a:solidFill>
              </a:rPr>
              <a:t>Extención</a:t>
            </a:r>
            <a:r>
              <a:rPr lang="es-AR" sz="2000" noProof="0" dirty="0">
                <a:solidFill>
                  <a:schemeClr val="bg1"/>
                </a:solidFill>
              </a:rPr>
              <a:t> latitudinal: -42,00° S a -41,00° N</a:t>
            </a:r>
          </a:p>
          <a:p>
            <a:pPr lvl="1"/>
            <a:r>
              <a:rPr lang="es-AR" sz="2000" noProof="0" dirty="0">
                <a:solidFill>
                  <a:schemeClr val="bg1"/>
                </a:solidFill>
              </a:rPr>
              <a:t>Área total: ~ 9200,0 km² (111kms x 83kms)</a:t>
            </a:r>
          </a:p>
          <a:p>
            <a:pPr lvl="1"/>
            <a:r>
              <a:rPr lang="es-AR" sz="2000" noProof="0" dirty="0">
                <a:solidFill>
                  <a:schemeClr val="bg1"/>
                </a:solidFill>
              </a:rPr>
              <a:t>Tamaño de grilla: 11 x 11</a:t>
            </a:r>
          </a:p>
        </p:txBody>
      </p:sp>
      <p:pic>
        <p:nvPicPr>
          <p:cNvPr id="5" name="Marcador de posición de imagen 4">
            <a:extLst>
              <a:ext uri="{FF2B5EF4-FFF2-40B4-BE49-F238E27FC236}">
                <a16:creationId xmlns:a16="http://schemas.microsoft.com/office/drawing/2014/main" id="{127C04C9-3BF6-C38E-93F2-3780A0B7180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32" r="6632"/>
          <a:stretch/>
        </p:blipFill>
        <p:spPr>
          <a:xfrm>
            <a:off x="7534656" y="213"/>
            <a:ext cx="4654296" cy="6857573"/>
          </a:xfrm>
          <a:noFill/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94DC97F-3A3A-1E24-E69A-841EB01908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285" y="0"/>
            <a:ext cx="6219667" cy="6866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22218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46DE4-AEC5-6649-F9FC-1DDF58812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3A9C41-2ED4-4FE0-3936-BA2E6B9C7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358" y="170098"/>
            <a:ext cx="4215384" cy="500462"/>
          </a:xfrm>
        </p:spPr>
        <p:txBody>
          <a:bodyPr anchor="t">
            <a:normAutofit fontScale="90000"/>
          </a:bodyPr>
          <a:lstStyle/>
          <a:p>
            <a:r>
              <a:rPr lang="es-AR" noProof="0" dirty="0"/>
              <a:t>Adquisición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2976714-2DAB-3DAA-4F27-B8DF32BBB7A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19358" y="640080"/>
            <a:ext cx="11753284" cy="209328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s-AR" sz="1600" noProof="0" dirty="0"/>
              <a:t>La adquisición de los datos se realiza mediante el uso de las </a:t>
            </a:r>
            <a:r>
              <a:rPr lang="es-AR" sz="1600" b="1" noProof="0" dirty="0"/>
              <a:t>Interfaces de Programación de Aplicaciones (API) </a:t>
            </a:r>
            <a:r>
              <a:rPr lang="es-AR" sz="1600" noProof="0" dirty="0"/>
              <a:t>provistas por los administradores de la información. Estas interfaces funcionan como piezas de código que permiten a dos aplicaciones comunicarse entre sí para compartir información y funcionalidades.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s-AR" sz="1600" noProof="0" dirty="0"/>
              <a:t>La consulta programática a las API representa la capa de ingesta de datos del proyecto, los cuales son posteriormente tratados para su armonización e integración en el conjunto de datos consolidado.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E1E3032C-73AD-D5E6-F5F1-9C17DD19C8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8340" y="3203350"/>
            <a:ext cx="3328199" cy="2810950"/>
          </a:xfrm>
          <a:prstGeom prst="rect">
            <a:avLst/>
          </a:prstGeom>
        </p:spPr>
      </p:pic>
      <p:pic>
        <p:nvPicPr>
          <p:cNvPr id="1028" name="Picture 4" descr="Copernicus logo">
            <a:extLst>
              <a:ext uri="{FF2B5EF4-FFF2-40B4-BE49-F238E27FC236}">
                <a16:creationId xmlns:a16="http://schemas.microsoft.com/office/drawing/2014/main" id="{36E74F27-4147-84A7-80C1-8931BF672E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667433"/>
            <a:ext cx="4415174" cy="2478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202748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EE61B-FFEC-DA08-8469-9EC217354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8E57C0-F926-044E-3936-D83B747A35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anchor="t">
            <a:normAutofit/>
          </a:bodyPr>
          <a:lstStyle/>
          <a:p>
            <a:r>
              <a:rPr lang="es-AR" noProof="0" dirty="0"/>
              <a:t>Tratamiento</a:t>
            </a:r>
          </a:p>
        </p:txBody>
      </p:sp>
      <p:pic>
        <p:nvPicPr>
          <p:cNvPr id="5" name="Marcador de posición de imagen 4">
            <a:extLst>
              <a:ext uri="{FF2B5EF4-FFF2-40B4-BE49-F238E27FC236}">
                <a16:creationId xmlns:a16="http://schemas.microsoft.com/office/drawing/2014/main" id="{14DAB408-680B-8FD4-BDC2-320D26C9E52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204" r="30204"/>
          <a:stretch/>
        </p:blipFill>
        <p:spPr>
          <a:xfrm>
            <a:off x="7534656" y="213"/>
            <a:ext cx="4654296" cy="6857573"/>
          </a:xfrm>
          <a:noFill/>
        </p:spPr>
      </p:pic>
      <p:sp>
        <p:nvSpPr>
          <p:cNvPr id="4" name="Subtítulo 3">
            <a:extLst>
              <a:ext uri="{FF2B5EF4-FFF2-40B4-BE49-F238E27FC236}">
                <a16:creationId xmlns:a16="http://schemas.microsoft.com/office/drawing/2014/main" id="{51D40DF9-57C6-CFDD-1C4B-B3A34A5602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AR" noProof="0" dirty="0"/>
              <a:t>Adaptación de datos crudos al propósito del proyecto.</a:t>
            </a:r>
          </a:p>
        </p:txBody>
      </p:sp>
    </p:spTree>
    <p:extLst>
      <p:ext uri="{BB962C8B-B14F-4D97-AF65-F5344CB8AC3E}">
        <p14:creationId xmlns:p14="http://schemas.microsoft.com/office/powerpoint/2010/main" val="34291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F178C-86D1-C1EF-1CD0-7D47B6DA4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B34908-1061-D6EC-00C1-591386252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358" y="170098"/>
            <a:ext cx="11753284" cy="500462"/>
          </a:xfrm>
        </p:spPr>
        <p:txBody>
          <a:bodyPr anchor="t">
            <a:normAutofit fontScale="90000"/>
          </a:bodyPr>
          <a:lstStyle/>
          <a:p>
            <a:r>
              <a:rPr lang="es-AR" noProof="0" dirty="0"/>
              <a:t>Meteorológicos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052BDC6-BAF0-61A3-C22E-530A95EF03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9951" y="338436"/>
            <a:ext cx="7562049" cy="6181128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D01D790D-C3D9-7809-F097-1FB8092645E7}"/>
              </a:ext>
            </a:extLst>
          </p:cNvPr>
          <p:cNvSpPr txBox="1"/>
          <p:nvPr/>
        </p:nvSpPr>
        <p:spPr>
          <a:xfrm>
            <a:off x="219358" y="670560"/>
            <a:ext cx="4126611" cy="58490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AR" sz="1600" noProof="0" dirty="0"/>
              <a:t>El sistema canadiense de índice meteorológico de incendios forestales (FWI) consta de </a:t>
            </a:r>
            <a:r>
              <a:rPr lang="es-AR" sz="1600" b="1" noProof="0" dirty="0"/>
              <a:t>seis componentes que explican los efectos de la humedad del combustible y las condiciones climáticas sobre el comportamiento del fuego:</a:t>
            </a:r>
            <a:endParaRPr lang="es-AR" sz="1600" noProof="0" dirty="0"/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AR" sz="1400" noProof="0" dirty="0"/>
              <a:t>Los primeros tres componentes (FFMC, DMC, DC) son clasificaciones numéricas del contenido de humedad del suelo y otra materia orgánica muerta. Sus valores aumentan a medida que disminuye el contenido de humedad.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AR" sz="1400" noProof="0" dirty="0"/>
              <a:t>Los tres componentes restantes (ISI, BUI, FWI) son índices de comportamiento del fuego, que representan la tasa de propagación, el combustible disponible y la intensidad frontal. Estos valores aumentan a medida que aumenta el peligro de incendio.</a:t>
            </a:r>
          </a:p>
        </p:txBody>
      </p:sp>
    </p:spTree>
    <p:extLst>
      <p:ext uri="{BB962C8B-B14F-4D97-AF65-F5344CB8AC3E}">
        <p14:creationId xmlns:p14="http://schemas.microsoft.com/office/powerpoint/2010/main" val="32672199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481B9-526A-B8CB-9881-6E687B5A0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12F461-346B-EB2A-1BCB-71EE8E048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358" y="170098"/>
            <a:ext cx="11753284" cy="500462"/>
          </a:xfrm>
        </p:spPr>
        <p:txBody>
          <a:bodyPr anchor="t">
            <a:normAutofit fontScale="90000"/>
          </a:bodyPr>
          <a:lstStyle/>
          <a:p>
            <a:r>
              <a:rPr lang="es-AR" noProof="0" dirty="0"/>
              <a:t>Focos de calor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044A984-30E7-C257-2AD2-D4E295FAB13C}"/>
              </a:ext>
            </a:extLst>
          </p:cNvPr>
          <p:cNvSpPr/>
          <p:nvPr/>
        </p:nvSpPr>
        <p:spPr>
          <a:xfrm>
            <a:off x="219353" y="912442"/>
            <a:ext cx="11753284" cy="72000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AR" b="1" noProof="0" dirty="0"/>
              <a:t>FILTRADO</a:t>
            </a:r>
            <a:endParaRPr lang="es-AR" noProof="0" dirty="0"/>
          </a:p>
          <a:p>
            <a:pPr algn="ctr"/>
            <a:r>
              <a:rPr lang="es-AR" noProof="0" dirty="0"/>
              <a:t>Registros de confianza baja.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8AF0836-6C70-2CF8-37C8-53B0093B243F}"/>
              </a:ext>
            </a:extLst>
          </p:cNvPr>
          <p:cNvSpPr/>
          <p:nvPr/>
        </p:nvSpPr>
        <p:spPr>
          <a:xfrm>
            <a:off x="219353" y="2043400"/>
            <a:ext cx="11753283" cy="72000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AR" b="1" noProof="0" dirty="0"/>
              <a:t>RESOLUCIÓN ESPACIAL</a:t>
            </a:r>
          </a:p>
          <a:p>
            <a:pPr algn="ctr"/>
            <a:r>
              <a:rPr lang="es-AR" noProof="0" dirty="0"/>
              <a:t>De 375m a 10.000m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A4EBE8C-3135-29D0-E339-C228CED2B1B0}"/>
              </a:ext>
            </a:extLst>
          </p:cNvPr>
          <p:cNvSpPr/>
          <p:nvPr/>
        </p:nvSpPr>
        <p:spPr>
          <a:xfrm>
            <a:off x="219352" y="3174358"/>
            <a:ext cx="11753282" cy="72000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AR" b="1" noProof="0" dirty="0"/>
              <a:t>RESOLUCIÓN TEMPORAL</a:t>
            </a:r>
          </a:p>
          <a:p>
            <a:pPr algn="ctr"/>
            <a:r>
              <a:rPr lang="es-AR" noProof="0" dirty="0"/>
              <a:t>A observaciones diarias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01D637F-5FCB-4B60-1C6F-4FE2812C3C08}"/>
              </a:ext>
            </a:extLst>
          </p:cNvPr>
          <p:cNvSpPr/>
          <p:nvPr/>
        </p:nvSpPr>
        <p:spPr>
          <a:xfrm>
            <a:off x="219352" y="5436273"/>
            <a:ext cx="11753281" cy="719998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AR" b="1" noProof="0" dirty="0"/>
              <a:t>CONTEO DE FOCOS</a:t>
            </a:r>
          </a:p>
          <a:p>
            <a:pPr algn="ctr"/>
            <a:r>
              <a:rPr lang="es-AR" noProof="0" dirty="0" err="1"/>
              <a:t>Cant</a:t>
            </a:r>
            <a:r>
              <a:rPr lang="es-AR" noProof="0" dirty="0"/>
              <a:t>. de </a:t>
            </a:r>
            <a:r>
              <a:rPr lang="es-AR" noProof="0" dirty="0" err="1"/>
              <a:t>obs</a:t>
            </a:r>
            <a:r>
              <a:rPr lang="es-AR" noProof="0" dirty="0"/>
              <a:t>. por zona por día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091B063-7B52-FB1D-E4D5-04A2D59DC719}"/>
              </a:ext>
            </a:extLst>
          </p:cNvPr>
          <p:cNvSpPr/>
          <p:nvPr/>
        </p:nvSpPr>
        <p:spPr>
          <a:xfrm>
            <a:off x="219352" y="4305316"/>
            <a:ext cx="11753282" cy="719999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AR" b="1" noProof="0" dirty="0"/>
              <a:t>ENERGIA EMITIDA</a:t>
            </a:r>
          </a:p>
          <a:p>
            <a:pPr algn="ctr"/>
            <a:r>
              <a:rPr lang="es-AR" noProof="0" dirty="0" err="1"/>
              <a:t>Prom</a:t>
            </a:r>
            <a:r>
              <a:rPr lang="es-AR" noProof="0" dirty="0"/>
              <a:t>. por zona por día</a:t>
            </a:r>
          </a:p>
        </p:txBody>
      </p:sp>
    </p:spTree>
    <p:extLst>
      <p:ext uri="{BB962C8B-B14F-4D97-AF65-F5344CB8AC3E}">
        <p14:creationId xmlns:p14="http://schemas.microsoft.com/office/powerpoint/2010/main" val="30875026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2235F-FFC9-69D4-3B15-015A05B89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6EDB97-AC0F-FF81-CD29-7BF6759E9C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854" y="328260"/>
            <a:ext cx="5852160" cy="904639"/>
          </a:xfrm>
        </p:spPr>
        <p:txBody>
          <a:bodyPr anchor="t">
            <a:normAutofit/>
          </a:bodyPr>
          <a:lstStyle/>
          <a:p>
            <a:r>
              <a:rPr lang="es-AR" noProof="0" dirty="0"/>
              <a:t>Resultado</a:t>
            </a:r>
          </a:p>
        </p:txBody>
      </p:sp>
      <p:pic>
        <p:nvPicPr>
          <p:cNvPr id="12" name="Picture 11" descr="A map of a land with red dots and numbers&#10;&#10;AI-generated content may be incorrect.">
            <a:extLst>
              <a:ext uri="{FF2B5EF4-FFF2-40B4-BE49-F238E27FC236}">
                <a16:creationId xmlns:a16="http://schemas.microsoft.com/office/drawing/2014/main" id="{EB7CC8BB-0755-7ECD-5537-2B3E6EE461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0246" y="0"/>
            <a:ext cx="6674069" cy="6858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F641F08-16C2-FB2D-D2BD-E5E0276B56C4}"/>
              </a:ext>
            </a:extLst>
          </p:cNvPr>
          <p:cNvSpPr txBox="1"/>
          <p:nvPr/>
        </p:nvSpPr>
        <p:spPr>
          <a:xfrm>
            <a:off x="256854" y="1157754"/>
            <a:ext cx="4931595" cy="4202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s-AR" sz="2000" noProof="0" dirty="0">
                <a:solidFill>
                  <a:schemeClr val="bg2"/>
                </a:solidFill>
              </a:rPr>
              <a:t>En el conjunto consolidado cada fila representa una celda única de la grilla en un día específico con: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AR" sz="2000" b="1" noProof="0" dirty="0">
                <a:solidFill>
                  <a:schemeClr val="bg2"/>
                </a:solidFill>
              </a:rPr>
              <a:t>Predictores Meteorológicos: </a:t>
            </a:r>
            <a:r>
              <a:rPr lang="es-AR" sz="2000" noProof="0" dirty="0">
                <a:solidFill>
                  <a:schemeClr val="bg2"/>
                </a:solidFill>
              </a:rPr>
              <a:t>Información meteorológica más el conjunto de las 6 variables del FWI.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AR" sz="2000" b="1" noProof="0" dirty="0">
                <a:solidFill>
                  <a:schemeClr val="bg2"/>
                </a:solidFill>
              </a:rPr>
              <a:t>Variables Objetivo: </a:t>
            </a:r>
            <a:r>
              <a:rPr lang="es-AR" sz="2000" noProof="0" dirty="0">
                <a:solidFill>
                  <a:schemeClr val="bg2"/>
                </a:solidFill>
              </a:rPr>
              <a:t>El conteo de focos, el promedio de FRP y la etiqueta binaria, ya filtradas e interpoladas.</a:t>
            </a:r>
          </a:p>
        </p:txBody>
      </p:sp>
    </p:spTree>
    <p:extLst>
      <p:ext uri="{BB962C8B-B14F-4D97-AF65-F5344CB8AC3E}">
        <p14:creationId xmlns:p14="http://schemas.microsoft.com/office/powerpoint/2010/main" val="10610916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54E2D-D476-D6D4-921B-983525B4A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6ABCE6-6CE4-A05E-0DEF-E93A1B6D22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47888" y="713232"/>
            <a:ext cx="3364992" cy="3227832"/>
          </a:xfrm>
        </p:spPr>
        <p:txBody>
          <a:bodyPr anchor="t">
            <a:normAutofit/>
          </a:bodyPr>
          <a:lstStyle/>
          <a:p>
            <a:r>
              <a:rPr lang="es-AR" noProof="0" dirty="0"/>
              <a:t>Análisis exploratorio de conjunto consolidado</a:t>
            </a:r>
          </a:p>
        </p:txBody>
      </p:sp>
      <p:sp>
        <p:nvSpPr>
          <p:cNvPr id="4" name="Subtítulo 3">
            <a:extLst>
              <a:ext uri="{FF2B5EF4-FFF2-40B4-BE49-F238E27FC236}">
                <a16:creationId xmlns:a16="http://schemas.microsoft.com/office/drawing/2014/main" id="{0C2BF488-1606-C1BC-D200-865AF087EF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47888" y="5138927"/>
            <a:ext cx="3200400" cy="1197864"/>
          </a:xfrm>
        </p:spPr>
        <p:txBody>
          <a:bodyPr>
            <a:normAutofit/>
          </a:bodyPr>
          <a:lstStyle/>
          <a:p>
            <a:r>
              <a:rPr lang="es-AR" noProof="0" dirty="0"/>
              <a:t>Identificación de correlaciones y patrones en la información.</a:t>
            </a:r>
          </a:p>
        </p:txBody>
      </p:sp>
      <p:pic>
        <p:nvPicPr>
          <p:cNvPr id="5" name="Marcador de posición de imagen 4">
            <a:extLst>
              <a:ext uri="{FF2B5EF4-FFF2-40B4-BE49-F238E27FC236}">
                <a16:creationId xmlns:a16="http://schemas.microsoft.com/office/drawing/2014/main" id="{AF60A015-B7BB-B53B-08BF-06E2A8B2FD1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94" r="10893"/>
          <a:stretch>
            <a:fillRect/>
          </a:stretch>
        </p:blipFill>
        <p:spPr>
          <a:xfrm>
            <a:off x="20" y="10"/>
            <a:ext cx="7548431" cy="6857990"/>
          </a:xfrm>
          <a:noFill/>
        </p:spPr>
      </p:pic>
    </p:spTree>
    <p:extLst>
      <p:ext uri="{BB962C8B-B14F-4D97-AF65-F5344CB8AC3E}">
        <p14:creationId xmlns:p14="http://schemas.microsoft.com/office/powerpoint/2010/main" val="12831971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863E4-FC90-FA57-9B34-84111CD7A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1">
            <a:extLst>
              <a:ext uri="{FF2B5EF4-FFF2-40B4-BE49-F238E27FC236}">
                <a16:creationId xmlns:a16="http://schemas.microsoft.com/office/drawing/2014/main" id="{8F8003E4-EC70-A6CB-A249-631A18AB6F16}"/>
              </a:ext>
            </a:extLst>
          </p:cNvPr>
          <p:cNvSpPr txBox="1">
            <a:spLocks/>
          </p:cNvSpPr>
          <p:nvPr/>
        </p:nvSpPr>
        <p:spPr>
          <a:xfrm>
            <a:off x="119488" y="113016"/>
            <a:ext cx="10954512" cy="60752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kern="12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s-AR" b="0" kern="1200" noProof="0" dirty="0" err="1">
                <a:latin typeface="+mj-lt"/>
                <a:ea typeface="+mj-ea"/>
                <a:cs typeface="+mj-cs"/>
              </a:rPr>
              <a:t>Fire</a:t>
            </a:r>
            <a:r>
              <a:rPr lang="es-AR" b="0" kern="1200" noProof="0" dirty="0">
                <a:latin typeface="+mj-lt"/>
                <a:ea typeface="+mj-ea"/>
                <a:cs typeface="+mj-cs"/>
              </a:rPr>
              <a:t> </a:t>
            </a:r>
            <a:r>
              <a:rPr lang="es-AR" b="0" kern="1200" noProof="0" dirty="0" err="1">
                <a:latin typeface="+mj-lt"/>
                <a:ea typeface="+mj-ea"/>
                <a:cs typeface="+mj-cs"/>
              </a:rPr>
              <a:t>Weather</a:t>
            </a:r>
            <a:r>
              <a:rPr lang="es-AR" b="0" kern="1200" noProof="0" dirty="0">
                <a:latin typeface="+mj-lt"/>
                <a:ea typeface="+mj-ea"/>
                <a:cs typeface="+mj-cs"/>
              </a:rPr>
              <a:t> </a:t>
            </a:r>
            <a:r>
              <a:rPr lang="es-AR" b="0" kern="1200" noProof="0" dirty="0" err="1">
                <a:latin typeface="+mj-lt"/>
                <a:ea typeface="+mj-ea"/>
                <a:cs typeface="+mj-cs"/>
              </a:rPr>
              <a:t>Index</a:t>
            </a:r>
            <a:r>
              <a:rPr lang="es-AR" b="0" kern="1200" noProof="0" dirty="0">
                <a:latin typeface="+mj-lt"/>
                <a:ea typeface="+mj-ea"/>
                <a:cs typeface="+mj-cs"/>
              </a:rPr>
              <a:t> (FWI)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1687A39C-E43F-03CC-634F-A2014AA7BC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77" y="904125"/>
            <a:ext cx="12208477" cy="535166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2588571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8DD0C-3A1A-B485-8DDD-E6B3958D5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3D3B7EF1-91D1-B67F-19E0-DB880D0011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19" b="568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490036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7E6CA-8421-46A6-64A6-F8359A41E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84CFDC-D78A-A08C-DFBD-DB721C0CD967}"/>
              </a:ext>
            </a:extLst>
          </p:cNvPr>
          <p:cNvSpPr/>
          <p:nvPr/>
        </p:nvSpPr>
        <p:spPr>
          <a:xfrm>
            <a:off x="0" y="0"/>
            <a:ext cx="12192000" cy="685157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3161228-2980-525B-2F37-46151089D7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4737" y="0"/>
            <a:ext cx="10962526" cy="6851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7255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08AD9-D284-3A4E-CA73-1908DD78A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748D2F-81E2-D5D4-9FDF-C460B7DC44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285" y="1019514"/>
            <a:ext cx="12047430" cy="4818972"/>
          </a:xfrm>
          <a:prstGeom prst="rect">
            <a:avLst/>
          </a:prstGeom>
        </p:spPr>
      </p:pic>
      <p:sp>
        <p:nvSpPr>
          <p:cNvPr id="5" name="Título 1">
            <a:extLst>
              <a:ext uri="{FF2B5EF4-FFF2-40B4-BE49-F238E27FC236}">
                <a16:creationId xmlns:a16="http://schemas.microsoft.com/office/drawing/2014/main" id="{0919D15E-EA16-7E7E-F14F-6434E55ECC92}"/>
              </a:ext>
            </a:extLst>
          </p:cNvPr>
          <p:cNvSpPr txBox="1">
            <a:spLocks/>
          </p:cNvSpPr>
          <p:nvPr/>
        </p:nvSpPr>
        <p:spPr>
          <a:xfrm>
            <a:off x="119488" y="113016"/>
            <a:ext cx="10954512" cy="60752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kern="12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s-AR" b="0" kern="1200" noProof="0" dirty="0">
                <a:latin typeface="+mj-lt"/>
                <a:ea typeface="+mj-ea"/>
                <a:cs typeface="+mj-cs"/>
              </a:rPr>
              <a:t>Focos de calor</a:t>
            </a:r>
          </a:p>
        </p:txBody>
      </p:sp>
    </p:spTree>
    <p:extLst>
      <p:ext uri="{BB962C8B-B14F-4D97-AF65-F5344CB8AC3E}">
        <p14:creationId xmlns:p14="http://schemas.microsoft.com/office/powerpoint/2010/main" val="13654275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C2F57-F4A3-2F8A-F4AC-256DCF740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64CF8A41-13A7-1541-50B0-4331793AC854}"/>
              </a:ext>
            </a:extLst>
          </p:cNvPr>
          <p:cNvSpPr txBox="1">
            <a:spLocks/>
          </p:cNvSpPr>
          <p:nvPr/>
        </p:nvSpPr>
        <p:spPr>
          <a:xfrm>
            <a:off x="1139952" y="5725479"/>
            <a:ext cx="9912096" cy="5943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kern="12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lang="es-AR" sz="2800" b="0" kern="1200" noProof="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Meteorología</a:t>
            </a:r>
          </a:p>
        </p:txBody>
      </p:sp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C24C62D-017F-E201-8ACD-C16CDC101C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02" y="115378"/>
            <a:ext cx="11971330" cy="523745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303969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6FF6E-3F10-CEF4-8709-9396511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E73E933C-502A-95D5-E879-AF957FC98C12}"/>
              </a:ext>
            </a:extLst>
          </p:cNvPr>
          <p:cNvSpPr txBox="1">
            <a:spLocks/>
          </p:cNvSpPr>
          <p:nvPr/>
        </p:nvSpPr>
        <p:spPr>
          <a:xfrm>
            <a:off x="196031" y="2116836"/>
            <a:ext cx="4673920" cy="262432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kern="12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s-AR" sz="4800" b="0" kern="1200" noProof="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Resumen de condiciones extremas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26AC511-7DBB-EE2F-9F81-890504BA51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7341543"/>
              </p:ext>
            </p:extLst>
          </p:nvPr>
        </p:nvGraphicFramePr>
        <p:xfrm>
          <a:off x="5506947" y="28114"/>
          <a:ext cx="6226139" cy="6801772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866098">
                  <a:extLst>
                    <a:ext uri="{9D8B030D-6E8A-4147-A177-3AD203B41FA5}">
                      <a16:colId xmlns:a16="http://schemas.microsoft.com/office/drawing/2014/main" val="2423190385"/>
                    </a:ext>
                  </a:extLst>
                </a:gridCol>
                <a:gridCol w="1496556">
                  <a:extLst>
                    <a:ext uri="{9D8B030D-6E8A-4147-A177-3AD203B41FA5}">
                      <a16:colId xmlns:a16="http://schemas.microsoft.com/office/drawing/2014/main" val="711153379"/>
                    </a:ext>
                  </a:extLst>
                </a:gridCol>
                <a:gridCol w="1560671">
                  <a:extLst>
                    <a:ext uri="{9D8B030D-6E8A-4147-A177-3AD203B41FA5}">
                      <a16:colId xmlns:a16="http://schemas.microsoft.com/office/drawing/2014/main" val="3214088404"/>
                    </a:ext>
                  </a:extLst>
                </a:gridCol>
                <a:gridCol w="874646">
                  <a:extLst>
                    <a:ext uri="{9D8B030D-6E8A-4147-A177-3AD203B41FA5}">
                      <a16:colId xmlns:a16="http://schemas.microsoft.com/office/drawing/2014/main" val="2599992967"/>
                    </a:ext>
                  </a:extLst>
                </a:gridCol>
                <a:gridCol w="1428168">
                  <a:extLst>
                    <a:ext uri="{9D8B030D-6E8A-4147-A177-3AD203B41FA5}">
                      <a16:colId xmlns:a16="http://schemas.microsoft.com/office/drawing/2014/main" val="4268028680"/>
                    </a:ext>
                  </a:extLst>
                </a:gridCol>
              </a:tblGrid>
              <a:tr h="210464">
                <a:tc gridSpan="5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DÍAS MÁS CÁLIDOS (Temperatura máxima)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8052792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Fecha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 err="1">
                          <a:solidFill>
                            <a:srgbClr val="000000"/>
                          </a:solidFill>
                          <a:effectLst/>
                        </a:rPr>
                        <a:t>Temp</a:t>
                      </a: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. Máx. (°C)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Humedad Mín. (%)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FWI Máx.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Focos de Incendio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3516749894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29-ene-25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32.00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12.45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48.84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113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702284975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26-dic-24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31.75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14.61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34.31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8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326469025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30-ene-25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31.75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11.56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54.08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945359855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25-dic-24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31.50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11.93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30.16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49633240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9-feb-25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31.18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13.38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50.78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130 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2237653308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1244203827"/>
                  </a:ext>
                </a:extLst>
              </a:tr>
              <a:tr h="210464">
                <a:tc gridSpan="5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DÍAS MÁS SECOS (Humedad mínima)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5735575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Fecha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Humedad Mín. (%)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 err="1">
                          <a:solidFill>
                            <a:srgbClr val="000000"/>
                          </a:solidFill>
                          <a:effectLst/>
                        </a:rPr>
                        <a:t>Temp</a:t>
                      </a: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. Máx. (°C)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FWI Máx.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Focos de Incendio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3121836397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30-ene-25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11.56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31.75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54.08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1587284593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25-dic-24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11.93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31.50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30.16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543491023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29-ene-25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12.45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32.00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48.84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113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47258266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9-feb-25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13.38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31.18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50.78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130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1159021418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28-ene-25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14.45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27.01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42.48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37 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1263207183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2955402552"/>
                  </a:ext>
                </a:extLst>
              </a:tr>
              <a:tr h="210464">
                <a:tc gridSpan="5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DÍAS MÁS VENTOSOS (Velocidad máxima)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5871148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Fecha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Viento Máx. (m/s)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 err="1">
                          <a:solidFill>
                            <a:srgbClr val="000000"/>
                          </a:solidFill>
                          <a:effectLst/>
                        </a:rPr>
                        <a:t>Temp</a:t>
                      </a: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. Máx. (°C)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FWI Máx.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Focos de Incendio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3144623163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10-feb-25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4.37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23.14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54.51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32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67303362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1-dic-24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3.98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12.79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1.45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3054375588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4-mar-25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3.77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16.53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6.22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1539480316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19-dic-24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3.64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13.57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9.21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3082225382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2-feb-25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3.63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17.37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40.74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76 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1656459147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2160558424"/>
                  </a:ext>
                </a:extLst>
              </a:tr>
              <a:tr h="210464">
                <a:tc gridSpan="5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DÍAS MÁS LLUVIOSOS (Precipitación acumulada)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8850498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Fecha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Precipitación (mm)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Humedad </a:t>
                      </a:r>
                      <a:r>
                        <a:rPr lang="es-AR" sz="1400" b="1" u="none" strike="noStrike" noProof="0" dirty="0" err="1">
                          <a:solidFill>
                            <a:srgbClr val="000000"/>
                          </a:solidFill>
                          <a:effectLst/>
                        </a:rPr>
                        <a:t>Prom</a:t>
                      </a: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. (%)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FWI </a:t>
                      </a:r>
                      <a:r>
                        <a:rPr lang="es-AR" sz="1400" b="1" u="none" strike="noStrike" noProof="0" dirty="0" err="1">
                          <a:solidFill>
                            <a:srgbClr val="000000"/>
                          </a:solidFill>
                          <a:effectLst/>
                        </a:rPr>
                        <a:t>Prom</a:t>
                      </a: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.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Focos de Incendio</a:t>
                      </a:r>
                      <a:endParaRPr lang="es-AR" sz="1400" b="1" i="1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3973053802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7-mar-25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4,365.43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66.87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0.17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1613146670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23-feb-25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4,349.41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46.31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6.57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2031782562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6-dic-24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2,571.95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54.15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0.09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4047829744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28-feb-25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2,194.56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55.53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4.88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414860567"/>
                  </a:ext>
                </a:extLst>
              </a:tr>
              <a:tr h="21046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3-mar-25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2,005.90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48.39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3.43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14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0 </a:t>
                      </a:r>
                      <a:endParaRPr lang="es-AR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052" marR="6052" marT="6052" marB="0" anchor="b"/>
                </a:tc>
                <a:extLst>
                  <a:ext uri="{0D108BD9-81ED-4DB2-BD59-A6C34878D82A}">
                    <a16:rowId xmlns:a16="http://schemas.microsoft.com/office/drawing/2014/main" val="13974600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57295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DBEFF-19CB-7BBC-8AE6-E3E43BE85D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47888" y="713232"/>
            <a:ext cx="3364992" cy="3227832"/>
          </a:xfrm>
        </p:spPr>
        <p:txBody>
          <a:bodyPr anchor="t">
            <a:normAutofit/>
          </a:bodyPr>
          <a:lstStyle/>
          <a:p>
            <a:r>
              <a:rPr lang="es-AR" noProof="0" dirty="0"/>
              <a:t>Aprendizaje de máquina</a:t>
            </a:r>
          </a:p>
        </p:txBody>
      </p:sp>
      <p:pic>
        <p:nvPicPr>
          <p:cNvPr id="11" name="Picture 10" descr="A forest fire with trees and smoke&#10;&#10;AI-generated content may be incorrect.">
            <a:extLst>
              <a:ext uri="{FF2B5EF4-FFF2-40B4-BE49-F238E27FC236}">
                <a16:creationId xmlns:a16="http://schemas.microsoft.com/office/drawing/2014/main" id="{55988DD8-72F5-619D-0D71-230C6D8C11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16" r="1712" b="-1"/>
          <a:stretch>
            <a:fillRect/>
          </a:stretch>
        </p:blipFill>
        <p:spPr>
          <a:xfrm>
            <a:off x="20" y="10"/>
            <a:ext cx="7548431" cy="68579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79357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CECC28B-3976-B444-4DB9-A0435487FD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" y="193462"/>
            <a:ext cx="9336024" cy="546277"/>
          </a:xfrm>
        </p:spPr>
        <p:txBody>
          <a:bodyPr>
            <a:normAutofit/>
          </a:bodyPr>
          <a:lstStyle/>
          <a:p>
            <a:r>
              <a:rPr lang="es-AR" sz="3200" noProof="0" dirty="0"/>
              <a:t>Selección de modelos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70B9DE-23EF-659D-52DF-EAAC97B1DFC0}"/>
              </a:ext>
            </a:extLst>
          </p:cNvPr>
          <p:cNvSpPr txBox="1"/>
          <p:nvPr/>
        </p:nvSpPr>
        <p:spPr>
          <a:xfrm>
            <a:off x="181133" y="893851"/>
            <a:ext cx="11829733" cy="171438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AR" b="1" dirty="0" err="1"/>
              <a:t>Random</a:t>
            </a:r>
            <a:r>
              <a:rPr lang="es-AR" b="1" dirty="0"/>
              <a:t> Forest:</a:t>
            </a:r>
          </a:p>
          <a:p>
            <a:pPr algn="just">
              <a:lnSpc>
                <a:spcPct val="150000"/>
              </a:lnSpc>
            </a:pPr>
            <a:r>
              <a:rPr lang="es-AR" dirty="0"/>
              <a:t>Método de ensamble que opera construyendo </a:t>
            </a:r>
            <a:r>
              <a:rPr lang="es-AR" b="1" dirty="0"/>
              <a:t>múltiples árboles de decisión durante el entrenamiento</a:t>
            </a:r>
            <a:r>
              <a:rPr lang="es-AR" dirty="0"/>
              <a:t>. Su predicción final se basa </a:t>
            </a:r>
            <a:r>
              <a:rPr lang="es-AR" b="1" dirty="0"/>
              <a:t>en el "voto" de la mayoría de los árbole</a:t>
            </a:r>
            <a:r>
              <a:rPr lang="es-AR" dirty="0"/>
              <a:t>s, lo que mejora la precisión y reduce significativamente el sobreajuste en comparación con un solo árbol. Es robusto a la multicolinealidad.</a:t>
            </a:r>
            <a:endParaRPr lang="es-AR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8FFFB2-F540-B771-0DC8-3E3A03C7A71A}"/>
              </a:ext>
            </a:extLst>
          </p:cNvPr>
          <p:cNvSpPr txBox="1"/>
          <p:nvPr/>
        </p:nvSpPr>
        <p:spPr>
          <a:xfrm>
            <a:off x="181134" y="2762343"/>
            <a:ext cx="11829732" cy="171438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AR" b="1" dirty="0"/>
              <a:t>Extreme </a:t>
            </a:r>
            <a:r>
              <a:rPr lang="es-AR" b="1" dirty="0" err="1"/>
              <a:t>Gradient</a:t>
            </a:r>
            <a:r>
              <a:rPr lang="es-AR" b="1" dirty="0"/>
              <a:t> </a:t>
            </a:r>
            <a:r>
              <a:rPr lang="es-AR" b="1" dirty="0" err="1"/>
              <a:t>Boosting</a:t>
            </a:r>
            <a:r>
              <a:rPr lang="es-AR" b="1" dirty="0"/>
              <a:t>:</a:t>
            </a:r>
          </a:p>
          <a:p>
            <a:pPr algn="just">
              <a:lnSpc>
                <a:spcPct val="150000"/>
              </a:lnSpc>
            </a:pPr>
            <a:r>
              <a:rPr lang="es-AR" dirty="0"/>
              <a:t>Método de ensamble basado en árboles, pero que utiliza la técnica de </a:t>
            </a:r>
            <a:r>
              <a:rPr lang="es-AR" i="1" dirty="0" err="1"/>
              <a:t>Gradient</a:t>
            </a:r>
            <a:r>
              <a:rPr lang="es-AR" i="1" dirty="0"/>
              <a:t> </a:t>
            </a:r>
            <a:r>
              <a:rPr lang="es-AR" i="1" dirty="0" err="1"/>
              <a:t>Boosting</a:t>
            </a:r>
            <a:r>
              <a:rPr lang="es-AR" dirty="0"/>
              <a:t>. Consiste en la </a:t>
            </a:r>
            <a:r>
              <a:rPr lang="es-AR" b="1" dirty="0"/>
              <a:t>construcción de árboles en forma secuencial, donde cada nuevo árbol corrige los errores del anterior</a:t>
            </a:r>
            <a:r>
              <a:rPr lang="es-AR" dirty="0"/>
              <a:t>. Es altamente eficiente para gestionar el desbalanceo de clases.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8B0F8B-9742-2531-A140-FEF30DDF79F0}"/>
              </a:ext>
            </a:extLst>
          </p:cNvPr>
          <p:cNvSpPr txBox="1"/>
          <p:nvPr/>
        </p:nvSpPr>
        <p:spPr>
          <a:xfrm>
            <a:off x="181133" y="4630835"/>
            <a:ext cx="11829733" cy="171438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AR" b="1" dirty="0" err="1"/>
              <a:t>Support</a:t>
            </a:r>
            <a:r>
              <a:rPr lang="es-AR" b="1" dirty="0"/>
              <a:t> Vector Machine:</a:t>
            </a:r>
          </a:p>
          <a:p>
            <a:pPr lvl="0" algn="just">
              <a:lnSpc>
                <a:spcPct val="150000"/>
              </a:lnSpc>
            </a:pPr>
            <a:r>
              <a:rPr lang="es-AR" dirty="0"/>
              <a:t>Algoritmo que busca encontrar el </a:t>
            </a:r>
            <a:r>
              <a:rPr lang="es-AR" b="1" dirty="0"/>
              <a:t>hiperplano óptimo que mejor divide un conjunto de datos en clases</a:t>
            </a:r>
            <a:r>
              <a:rPr lang="es-AR" dirty="0"/>
              <a:t>. Es capaz de manejar relaciones no lineales al mapear los datos a un espacio de mayor dimensión. Es eficaz en espacios dimensionales altos, aunque puede ser sensible al desbalanceo si no se ajusta correctamente.</a:t>
            </a:r>
            <a:endParaRPr lang="es-AR" b="1" dirty="0"/>
          </a:p>
        </p:txBody>
      </p:sp>
    </p:spTree>
    <p:extLst>
      <p:ext uri="{BB962C8B-B14F-4D97-AF65-F5344CB8AC3E}">
        <p14:creationId xmlns:p14="http://schemas.microsoft.com/office/powerpoint/2010/main" val="5048659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63C1C-913F-76A4-ED9F-8A73D4E10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64C6A04-8194-C570-3523-47A633AAC5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" y="193462"/>
            <a:ext cx="9336024" cy="546277"/>
          </a:xfrm>
        </p:spPr>
        <p:txBody>
          <a:bodyPr>
            <a:normAutofit/>
          </a:bodyPr>
          <a:lstStyle/>
          <a:p>
            <a:r>
              <a:rPr lang="es-AR" sz="3200" noProof="0" dirty="0"/>
              <a:t>Aprendizaje supervisado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115592-8863-CE03-FE9B-B5C7872443BD}"/>
              </a:ext>
            </a:extLst>
          </p:cNvPr>
          <p:cNvSpPr txBox="1"/>
          <p:nvPr/>
        </p:nvSpPr>
        <p:spPr>
          <a:xfrm>
            <a:off x="181133" y="739740"/>
            <a:ext cx="11839631" cy="1714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AR" dirty="0"/>
              <a:t>En el aprendizaje supervisado, se entrenan algoritmos utilizando conjuntos de datos etiquetados con el fin de predecir resultados o reconocer patrones. Estos modelos aprenden de la relación entre los datos de entrada y las respuestas de salida correctas, lo que les permite realizar predicciones precisas (ya sean etiquetas de clase o probabilidades) sobre datos nuevos.</a:t>
            </a:r>
          </a:p>
        </p:txBody>
      </p:sp>
      <p:pic>
        <p:nvPicPr>
          <p:cNvPr id="12" name="Picture 11" descr="A diagram of a process&#10;&#10;AI-generated content may be incorrect.">
            <a:extLst>
              <a:ext uri="{FF2B5EF4-FFF2-40B4-BE49-F238E27FC236}">
                <a16:creationId xmlns:a16="http://schemas.microsoft.com/office/drawing/2014/main" id="{58693B85-8C8C-B1E6-6583-C81B2D7719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48883"/>
            <a:ext cx="12192000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9083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4561D-1EB5-96E1-A942-30A7C233F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9A9A8E0-B450-13D5-B1A5-77049DC34A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" y="193462"/>
            <a:ext cx="9336024" cy="546277"/>
          </a:xfrm>
        </p:spPr>
        <p:txBody>
          <a:bodyPr>
            <a:normAutofit/>
          </a:bodyPr>
          <a:lstStyle/>
          <a:p>
            <a:r>
              <a:rPr lang="es-AR" sz="3200" noProof="0" dirty="0"/>
              <a:t>Planteo de escenarios</a:t>
            </a:r>
          </a:p>
        </p:txBody>
      </p:sp>
    </p:spTree>
    <p:extLst>
      <p:ext uri="{BB962C8B-B14F-4D97-AF65-F5344CB8AC3E}">
        <p14:creationId xmlns:p14="http://schemas.microsoft.com/office/powerpoint/2010/main" val="31876770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99DE-78A0-E7BE-2B62-838D7ECD9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1">
            <a:extLst>
              <a:ext uri="{FF2B5EF4-FFF2-40B4-BE49-F238E27FC236}">
                <a16:creationId xmlns:a16="http://schemas.microsoft.com/office/drawing/2014/main" id="{164BC112-90C4-FE2E-8C56-C040A9C5A701}"/>
              </a:ext>
            </a:extLst>
          </p:cNvPr>
          <p:cNvSpPr txBox="1">
            <a:spLocks/>
          </p:cNvSpPr>
          <p:nvPr/>
        </p:nvSpPr>
        <p:spPr>
          <a:xfrm>
            <a:off x="658368" y="2103120"/>
            <a:ext cx="3666744" cy="262432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kern="12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s-AR" sz="4800" b="0" kern="1200" noProof="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Próximos pasos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FE1DC0A-B11C-1818-C7D9-7E5486E21104}"/>
              </a:ext>
            </a:extLst>
          </p:cNvPr>
          <p:cNvSpPr txBox="1"/>
          <p:nvPr/>
        </p:nvSpPr>
        <p:spPr>
          <a:xfrm>
            <a:off x="5684363" y="1923235"/>
            <a:ext cx="5349221" cy="30115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s-AR" sz="1600" noProof="0" dirty="0"/>
              <a:t>Desarrollo de base de datos para almacenamiento.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s-AR" sz="1600" noProof="0" dirty="0"/>
              <a:t>Desarrollo de interfaces:</a:t>
            </a:r>
          </a:p>
          <a:p>
            <a:pPr marL="800100" lvl="1" indent="-342900" algn="just">
              <a:lnSpc>
                <a:spcPct val="150000"/>
              </a:lnSpc>
              <a:buFont typeface="+mj-lt"/>
              <a:buAutoNum type="alphaLcPeriod"/>
            </a:pPr>
            <a:r>
              <a:rPr lang="es-AR" sz="1600" noProof="0" dirty="0"/>
              <a:t>Datos topográficos.</a:t>
            </a:r>
          </a:p>
          <a:p>
            <a:pPr marL="800100" lvl="1" indent="-342900" algn="just">
              <a:lnSpc>
                <a:spcPct val="150000"/>
              </a:lnSpc>
              <a:buFont typeface="+mj-lt"/>
              <a:buAutoNum type="alphaLcPeriod"/>
            </a:pPr>
            <a:r>
              <a:rPr lang="es-AR" sz="1600" noProof="0" dirty="0"/>
              <a:t>Datos específicos de vegetación.</a:t>
            </a:r>
          </a:p>
          <a:p>
            <a:pPr marL="800100" lvl="1" indent="-342900" algn="just">
              <a:lnSpc>
                <a:spcPct val="150000"/>
              </a:lnSpc>
              <a:buFont typeface="+mj-lt"/>
              <a:buAutoNum type="alphaLcPeriod"/>
            </a:pPr>
            <a:r>
              <a:rPr lang="es-AR" sz="1600" noProof="0" dirty="0"/>
              <a:t>Datos de impacto de rayos.</a:t>
            </a:r>
          </a:p>
          <a:p>
            <a:pPr marL="800100" lvl="1" indent="-342900" algn="just">
              <a:lnSpc>
                <a:spcPct val="150000"/>
              </a:lnSpc>
              <a:buFont typeface="+mj-lt"/>
              <a:buAutoNum type="alphaLcPeriod"/>
            </a:pPr>
            <a:r>
              <a:rPr lang="es-AR" sz="1600" noProof="0" dirty="0"/>
              <a:t>Datos de proximidad a sendas de acceso publico.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s-AR" sz="1600" noProof="0" dirty="0"/>
              <a:t>Actualización automática de registros en BBDD vía </a:t>
            </a:r>
            <a:r>
              <a:rPr lang="es-AR" sz="1600" noProof="0" dirty="0" err="1"/>
              <a:t>APIs</a:t>
            </a:r>
            <a:r>
              <a:rPr lang="es-AR" sz="1600" noProof="0" dirty="0"/>
              <a:t>.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s-AR" sz="1600" noProof="0" dirty="0"/>
              <a:t>Consolidación de datos vía </a:t>
            </a:r>
            <a:r>
              <a:rPr lang="es-AR" sz="1600" noProof="0" dirty="0" err="1"/>
              <a:t>queries</a:t>
            </a:r>
            <a:r>
              <a:rPr lang="es-AR" sz="1600" noProof="0" dirty="0"/>
              <a:t> a BBDD.</a:t>
            </a:r>
          </a:p>
        </p:txBody>
      </p:sp>
    </p:spTree>
    <p:extLst>
      <p:ext uri="{BB962C8B-B14F-4D97-AF65-F5344CB8AC3E}">
        <p14:creationId xmlns:p14="http://schemas.microsoft.com/office/powerpoint/2010/main" val="16917335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09E12D-2BC4-D403-EB86-DC6F62EA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2093976"/>
            <a:ext cx="6528816" cy="4178808"/>
          </a:xfrm>
        </p:spPr>
        <p:txBody>
          <a:bodyPr anchor="b">
            <a:normAutofit/>
          </a:bodyPr>
          <a:lstStyle/>
          <a:p>
            <a:r>
              <a:rPr lang="es-AR" noProof="0" dirty="0"/>
              <a:t>Muchas gracias.</a:t>
            </a:r>
          </a:p>
        </p:txBody>
      </p:sp>
    </p:spTree>
    <p:extLst>
      <p:ext uri="{BB962C8B-B14F-4D97-AF65-F5344CB8AC3E}">
        <p14:creationId xmlns:p14="http://schemas.microsoft.com/office/powerpoint/2010/main" val="2211116850"/>
      </p:ext>
    </p:extLst>
  </p:cSld>
  <p:clrMapOvr>
    <a:masterClrMapping/>
  </p:clrMapOvr>
</p:sld>
</file>

<file path=ppt/theme/theme1.xml><?xml version="1.0" encoding="utf-8"?>
<a:theme xmlns:a="http://schemas.openxmlformats.org/drawingml/2006/main" name="Chroma">
  <a:themeElements>
    <a:clrScheme name="Chroma">
      <a:dk1>
        <a:srgbClr val="131313"/>
      </a:dk1>
      <a:lt1>
        <a:sysClr val="window" lastClr="FFFFFF"/>
      </a:lt1>
      <a:dk2>
        <a:srgbClr val="0C233A"/>
      </a:dk2>
      <a:lt2>
        <a:srgbClr val="F5FAFD"/>
      </a:lt2>
      <a:accent1>
        <a:srgbClr val="4485DC"/>
      </a:accent1>
      <a:accent2>
        <a:srgbClr val="25AAD5"/>
      </a:accent2>
      <a:accent3>
        <a:srgbClr val="5BBEAC"/>
      </a:accent3>
      <a:accent4>
        <a:srgbClr val="6666E2"/>
      </a:accent4>
      <a:accent5>
        <a:srgbClr val="66C26C"/>
      </a:accent5>
      <a:accent6>
        <a:srgbClr val="10CF9B"/>
      </a:accent6>
      <a:hlink>
        <a:srgbClr val="4485DC"/>
      </a:hlink>
      <a:folHlink>
        <a:srgbClr val="25AAD5"/>
      </a:folHlink>
    </a:clrScheme>
    <a:fontScheme name="Custom 2">
      <a:majorFont>
        <a:latin typeface="Aptos Light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hroma" id="{DC2B181E-9B25-4FFB-A269-A81149E37B96}" vid="{FD28A279-D9A1-4F6C-9122-D382EE67827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3124</TotalTime>
  <Words>2559</Words>
  <Application>Microsoft Office PowerPoint</Application>
  <PresentationFormat>Widescreen</PresentationFormat>
  <Paragraphs>308</Paragraphs>
  <Slides>26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Aptos</vt:lpstr>
      <vt:lpstr>Aptos Light</vt:lpstr>
      <vt:lpstr>Aptos Narrow</vt:lpstr>
      <vt:lpstr>Arial</vt:lpstr>
      <vt:lpstr>Chroma</vt:lpstr>
      <vt:lpstr>Incendios forestales de la Patagonia Andina</vt:lpstr>
      <vt:lpstr>Temario</vt:lpstr>
      <vt:lpstr>Motivación</vt:lpstr>
      <vt:lpstr>Motivación</vt:lpstr>
      <vt:lpstr>PowerPoint Presentation</vt:lpstr>
      <vt:lpstr>PowerPoint Presentation</vt:lpstr>
      <vt:lpstr>Objetivos</vt:lpstr>
      <vt:lpstr>Datos</vt:lpstr>
      <vt:lpstr>Adquisición</vt:lpstr>
      <vt:lpstr>Tratamiento</vt:lpstr>
      <vt:lpstr>Meteorológicos</vt:lpstr>
      <vt:lpstr>Focos de calor</vt:lpstr>
      <vt:lpstr>Resultado</vt:lpstr>
      <vt:lpstr>Análisis exploratorio de conjunto consolidado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Aprendizaje de máquina</vt:lpstr>
      <vt:lpstr>Selección de modelos</vt:lpstr>
      <vt:lpstr>Aprendizaje supervisado</vt:lpstr>
      <vt:lpstr>Planteo de escenarios</vt:lpstr>
      <vt:lpstr>PowerPoint Presentation</vt:lpstr>
      <vt:lpstr>Muchas gracias.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Ezequiel Villagra Turco</dc:creator>
  <cp:lastModifiedBy>Ezequiel Villagra Turco</cp:lastModifiedBy>
  <cp:revision>33</cp:revision>
  <dcterms:created xsi:type="dcterms:W3CDTF">2025-10-28T15:55:22Z</dcterms:created>
  <dcterms:modified xsi:type="dcterms:W3CDTF">2025-11-24T14:56:06Z</dcterms:modified>
</cp:coreProperties>
</file>