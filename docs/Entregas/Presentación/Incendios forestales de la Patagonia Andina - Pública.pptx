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36"/>
  </p:notesMasterIdLst>
  <p:sldIdLst>
    <p:sldId id="256" r:id="rId2"/>
    <p:sldId id="257" r:id="rId3"/>
    <p:sldId id="258" r:id="rId4"/>
    <p:sldId id="263" r:id="rId5"/>
    <p:sldId id="259" r:id="rId6"/>
    <p:sldId id="290" r:id="rId7"/>
    <p:sldId id="260" r:id="rId8"/>
    <p:sldId id="264" r:id="rId9"/>
    <p:sldId id="262" r:id="rId10"/>
    <p:sldId id="272" r:id="rId11"/>
    <p:sldId id="273" r:id="rId12"/>
    <p:sldId id="274" r:id="rId13"/>
    <p:sldId id="292" r:id="rId14"/>
    <p:sldId id="277" r:id="rId15"/>
    <p:sldId id="282" r:id="rId16"/>
    <p:sldId id="283" r:id="rId17"/>
    <p:sldId id="293" r:id="rId18"/>
    <p:sldId id="294" r:id="rId19"/>
    <p:sldId id="296" r:id="rId20"/>
    <p:sldId id="298" r:id="rId21"/>
    <p:sldId id="299" r:id="rId22"/>
    <p:sldId id="301" r:id="rId23"/>
    <p:sldId id="300" r:id="rId24"/>
    <p:sldId id="302" r:id="rId25"/>
    <p:sldId id="304" r:id="rId26"/>
    <p:sldId id="305" r:id="rId27"/>
    <p:sldId id="306" r:id="rId28"/>
    <p:sldId id="307" r:id="rId29"/>
    <p:sldId id="308" r:id="rId30"/>
    <p:sldId id="309" r:id="rId31"/>
    <p:sldId id="310" r:id="rId32"/>
    <p:sldId id="286" r:id="rId33"/>
    <p:sldId id="311" r:id="rId34"/>
    <p:sldId id="287" r:id="rId3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8269A3-B64F-4A3C-97E0-51010BBB2E2A}" v="16" dt="2025-11-23T19:08:00.43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7914" autoAdjust="0"/>
  </p:normalViewPr>
  <p:slideViewPr>
    <p:cSldViewPr snapToGrid="0">
      <p:cViewPr varScale="1">
        <p:scale>
          <a:sx n="56" d="100"/>
          <a:sy n="56" d="100"/>
        </p:scale>
        <p:origin x="2712" y="2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16E74B-C055-4010-834E-8241D3B4B3B4}" type="datetimeFigureOut">
              <a:rPr lang="es-AR" smtClean="0"/>
              <a:t>27/11/2025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BD3CD-1211-4D73-8435-E387E60ABEAC}" type="slidenum">
              <a:rPr lang="es-AR" smtClean="0"/>
              <a:t>‹Nº›</a:t>
            </a:fld>
            <a:endParaRPr lang="es-AR"/>
          </a:p>
        </p:txBody>
      </p:sp>
    </p:spTree>
    <p:extLst>
      <p:ext uri="{BB962C8B-B14F-4D97-AF65-F5344CB8AC3E}">
        <p14:creationId xmlns:p14="http://schemas.microsoft.com/office/powerpoint/2010/main" val="346461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2400" b="1" kern="1200" dirty="0">
                <a:solidFill>
                  <a:schemeClr val="tx1"/>
                </a:solidFill>
                <a:effectLst/>
                <a:latin typeface="+mn-lt"/>
                <a:ea typeface="+mn-ea"/>
                <a:cs typeface="+mn-cs"/>
              </a:rPr>
              <a:t>INTRO</a:t>
            </a:r>
            <a:endParaRPr lang="es-AR" sz="2400" b="1" kern="1200" dirty="0">
              <a:solidFill>
                <a:schemeClr val="tx1"/>
              </a:solidFill>
              <a:effectLst/>
              <a:latin typeface="+mn-lt"/>
              <a:ea typeface="+mn-ea"/>
              <a:cs typeface="+mn-cs"/>
            </a:endParaRPr>
          </a:p>
          <a:p>
            <a:r>
              <a:rPr lang="es-ES" sz="2400" kern="1200" dirty="0">
                <a:solidFill>
                  <a:schemeClr val="tx1"/>
                </a:solidFill>
                <a:effectLst/>
                <a:latin typeface="+mn-lt"/>
                <a:ea typeface="+mn-ea"/>
                <a:cs typeface="+mn-cs"/>
              </a:rPr>
              <a:t>Buenas noches, soy Ezequiel y estoy participando de </a:t>
            </a:r>
            <a:r>
              <a:rPr lang="es-ES" sz="2400" kern="1200" dirty="0" err="1">
                <a:solidFill>
                  <a:schemeClr val="tx1"/>
                </a:solidFill>
                <a:effectLst/>
                <a:latin typeface="+mn-lt"/>
                <a:ea typeface="+mn-ea"/>
                <a:cs typeface="+mn-cs"/>
              </a:rPr>
              <a:t>ExpoData</a:t>
            </a:r>
            <a:r>
              <a:rPr lang="es-ES" sz="2400" kern="1200" dirty="0">
                <a:solidFill>
                  <a:schemeClr val="tx1"/>
                </a:solidFill>
                <a:effectLst/>
                <a:latin typeface="+mn-lt"/>
                <a:ea typeface="+mn-ea"/>
                <a:cs typeface="+mn-cs"/>
              </a:rPr>
              <a:t> para presentar mi trabajo realizado en Seminario Final y que también es punto de partida de un proyecto personal que tengo en mente desde hace mucho tiempo y que también es la razón por la cual decidí hacer esta carrera.</a:t>
            </a:r>
          </a:p>
          <a:p>
            <a:endParaRPr lang="es-AR" sz="2400" kern="1200" dirty="0">
              <a:solidFill>
                <a:schemeClr val="tx1"/>
              </a:solidFill>
              <a:effectLst/>
              <a:latin typeface="+mn-lt"/>
              <a:ea typeface="+mn-ea"/>
              <a:cs typeface="+mn-cs"/>
            </a:endParaRPr>
          </a:p>
          <a:p>
            <a:r>
              <a:rPr lang="es-ES" sz="2400" kern="1200" dirty="0">
                <a:solidFill>
                  <a:schemeClr val="tx1"/>
                </a:solidFill>
                <a:effectLst/>
                <a:latin typeface="+mn-lt"/>
                <a:ea typeface="+mn-ea"/>
                <a:cs typeface="+mn-cs"/>
              </a:rPr>
              <a:t>El título de mi proyecto es “</a:t>
            </a:r>
            <a:r>
              <a:rPr lang="es-ES" sz="2400" b="1" kern="1200" dirty="0">
                <a:solidFill>
                  <a:schemeClr val="tx1"/>
                </a:solidFill>
                <a:effectLst/>
                <a:latin typeface="+mn-lt"/>
                <a:ea typeface="+mn-ea"/>
                <a:cs typeface="+mn-cs"/>
              </a:rPr>
              <a:t>Incendios Forestales de la Patagonia Andina</a:t>
            </a:r>
            <a:r>
              <a:rPr lang="es-ES" sz="2400" kern="1200" dirty="0">
                <a:solidFill>
                  <a:schemeClr val="tx1"/>
                </a:solidFill>
                <a:effectLst/>
                <a:latin typeface="+mn-lt"/>
                <a:ea typeface="+mn-ea"/>
                <a:cs typeface="+mn-cs"/>
              </a:rPr>
              <a:t>”, teniendo como eje central el estudio de los incendios forestales en áreas protegidas de la Patagonia Argentina, más precisamente en los Bosques Andino-</a:t>
            </a:r>
            <a:r>
              <a:rPr lang="es-ES" sz="2400" kern="1200" dirty="0" err="1">
                <a:solidFill>
                  <a:schemeClr val="tx1"/>
                </a:solidFill>
                <a:effectLst/>
                <a:latin typeface="+mn-lt"/>
                <a:ea typeface="+mn-ea"/>
                <a:cs typeface="+mn-cs"/>
              </a:rPr>
              <a:t>Patagonicos</a:t>
            </a:r>
            <a:r>
              <a:rPr lang="es-ES" sz="2400" kern="1200" dirty="0">
                <a:solidFill>
                  <a:schemeClr val="tx1"/>
                </a:solidFill>
                <a:effectLst/>
                <a:latin typeface="+mn-lt"/>
                <a:ea typeface="+mn-ea"/>
                <a:cs typeface="+mn-cs"/>
              </a:rPr>
              <a:t>.</a:t>
            </a:r>
          </a:p>
          <a:p>
            <a:endParaRPr lang="es-ES" sz="2400" kern="1200" dirty="0">
              <a:solidFill>
                <a:schemeClr val="tx1"/>
              </a:solidFill>
              <a:effectLst/>
              <a:latin typeface="+mn-lt"/>
              <a:ea typeface="+mn-ea"/>
              <a:cs typeface="+mn-cs"/>
            </a:endParaRPr>
          </a:p>
          <a:p>
            <a:r>
              <a:rPr lang="es-ES" sz="2400" kern="1200" dirty="0">
                <a:solidFill>
                  <a:schemeClr val="tx1"/>
                </a:solidFill>
                <a:effectLst/>
                <a:latin typeface="+mn-lt"/>
                <a:ea typeface="+mn-ea"/>
                <a:cs typeface="+mn-cs"/>
              </a:rPr>
              <a:t>SI  SURGE:</a:t>
            </a:r>
          </a:p>
          <a:p>
            <a:r>
              <a:rPr lang="es-ES" sz="2400" kern="1200" dirty="0">
                <a:solidFill>
                  <a:schemeClr val="tx1"/>
                </a:solidFill>
                <a:effectLst/>
                <a:latin typeface="+mn-lt"/>
                <a:ea typeface="+mn-ea"/>
                <a:cs typeface="+mn-cs"/>
              </a:rPr>
              <a:t>Estudié la carrera para aplicar las herramientas adquiridas en temáticas de problemáticas ambientales, conservación natural y ese tipo de cosas.</a:t>
            </a:r>
          </a:p>
        </p:txBody>
      </p:sp>
      <p:sp>
        <p:nvSpPr>
          <p:cNvPr id="4" name="Slide Number Placeholder 3"/>
          <p:cNvSpPr>
            <a:spLocks noGrp="1"/>
          </p:cNvSpPr>
          <p:nvPr>
            <p:ph type="sldNum" sz="quarter" idx="5"/>
          </p:nvPr>
        </p:nvSpPr>
        <p:spPr/>
        <p:txBody>
          <a:bodyPr/>
          <a:lstStyle/>
          <a:p>
            <a:fld id="{5E8BD3CD-1211-4D73-8435-E387E60ABEAC}" type="slidenum">
              <a:rPr lang="es-AR" smtClean="0"/>
              <a:t>1</a:t>
            </a:fld>
            <a:endParaRPr lang="es-AR"/>
          </a:p>
        </p:txBody>
      </p:sp>
    </p:spTree>
    <p:extLst>
      <p:ext uri="{BB962C8B-B14F-4D97-AF65-F5344CB8AC3E}">
        <p14:creationId xmlns:p14="http://schemas.microsoft.com/office/powerpoint/2010/main" val="3226987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Un resumen de lo que estamos por presentar… OMITIR.</a:t>
            </a:r>
          </a:p>
        </p:txBody>
      </p:sp>
      <p:sp>
        <p:nvSpPr>
          <p:cNvPr id="4" name="Slide Number Placeholder 3"/>
          <p:cNvSpPr>
            <a:spLocks noGrp="1"/>
          </p:cNvSpPr>
          <p:nvPr>
            <p:ph type="sldNum" sz="quarter" idx="5"/>
          </p:nvPr>
        </p:nvSpPr>
        <p:spPr/>
        <p:txBody>
          <a:bodyPr/>
          <a:lstStyle/>
          <a:p>
            <a:fld id="{5E8BD3CD-1211-4D73-8435-E387E60ABEAC}" type="slidenum">
              <a:rPr lang="es-AR" smtClean="0"/>
              <a:t>2</a:t>
            </a:fld>
            <a:endParaRPr lang="es-AR"/>
          </a:p>
        </p:txBody>
      </p:sp>
    </p:spTree>
    <p:extLst>
      <p:ext uri="{BB962C8B-B14F-4D97-AF65-F5344CB8AC3E}">
        <p14:creationId xmlns:p14="http://schemas.microsoft.com/office/powerpoint/2010/main" val="924225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kern="1200" dirty="0">
                <a:solidFill>
                  <a:schemeClr val="tx1"/>
                </a:solidFill>
                <a:effectLst/>
                <a:latin typeface="+mn-lt"/>
                <a:ea typeface="+mn-ea"/>
                <a:cs typeface="+mn-cs"/>
              </a:rPr>
              <a:t>MOTIVACIÓN</a:t>
            </a:r>
          </a:p>
          <a:p>
            <a:pPr marL="228600" indent="-228600">
              <a:buFont typeface="+mj-lt"/>
              <a:buAutoNum type="arabicPeriod"/>
            </a:pPr>
            <a:r>
              <a:rPr lang="es-ES" sz="1200" b="0" kern="1200" dirty="0">
                <a:solidFill>
                  <a:schemeClr val="tx1"/>
                </a:solidFill>
                <a:effectLst/>
                <a:latin typeface="+mn-lt"/>
                <a:ea typeface="+mn-ea"/>
                <a:cs typeface="+mn-cs"/>
              </a:rPr>
              <a:t>La motivación del trabajo es netamente personal, por apego a la región, sus paisajes y la paz que encuentro en cada oportunidad que tengo de ir.</a:t>
            </a:r>
          </a:p>
          <a:p>
            <a:pPr marL="228600" indent="-228600">
              <a:buFont typeface="+mj-lt"/>
              <a:buAutoNum type="arabicPeriod"/>
            </a:pPr>
            <a:r>
              <a:rPr lang="es-ES" sz="1200" b="0" kern="1200" dirty="0">
                <a:solidFill>
                  <a:schemeClr val="tx1"/>
                </a:solidFill>
                <a:effectLst/>
                <a:latin typeface="+mn-lt"/>
                <a:ea typeface="+mn-ea"/>
                <a:cs typeface="+mn-cs"/>
              </a:rPr>
              <a:t>Además, e</a:t>
            </a:r>
            <a:r>
              <a:rPr lang="es-ES" sz="1200" kern="1200" dirty="0">
                <a:solidFill>
                  <a:schemeClr val="tx1"/>
                </a:solidFill>
                <a:effectLst/>
                <a:latin typeface="+mn-lt"/>
                <a:ea typeface="+mn-ea"/>
                <a:cs typeface="+mn-cs"/>
              </a:rPr>
              <a:t>l </a:t>
            </a:r>
            <a:r>
              <a:rPr lang="es-ES" sz="1200" b="1" kern="1200" dirty="0">
                <a:solidFill>
                  <a:schemeClr val="tx1"/>
                </a:solidFill>
                <a:effectLst/>
                <a:latin typeface="+mn-lt"/>
                <a:ea typeface="+mn-ea"/>
                <a:cs typeface="+mn-cs"/>
              </a:rPr>
              <a:t>articulo 1 de la ley n°5243 de la Prov. de Río Negro</a:t>
            </a:r>
            <a:r>
              <a:rPr lang="es-ES" sz="1200" kern="1200" dirty="0">
                <a:solidFill>
                  <a:schemeClr val="tx1"/>
                </a:solidFill>
                <a:effectLst/>
                <a:latin typeface="+mn-lt"/>
                <a:ea typeface="+mn-ea"/>
                <a:cs typeface="+mn-cs"/>
              </a:rPr>
              <a:t> declara de interés público la prevención y el combate de los incendios forestales como medio de protección de la vida y la preservación del patrimonio ambiental.</a:t>
            </a:r>
          </a:p>
          <a:p>
            <a:endParaRPr lang="es-AR" sz="1200" kern="1200" dirty="0">
              <a:solidFill>
                <a:schemeClr val="tx1"/>
              </a:solidFill>
              <a:effectLst/>
              <a:latin typeface="+mn-lt"/>
              <a:ea typeface="+mn-ea"/>
              <a:cs typeface="+mn-cs"/>
            </a:endParaRP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3</a:t>
            </a:fld>
            <a:endParaRPr lang="es-AR"/>
          </a:p>
        </p:txBody>
      </p:sp>
    </p:spTree>
    <p:extLst>
      <p:ext uri="{BB962C8B-B14F-4D97-AF65-F5344CB8AC3E}">
        <p14:creationId xmlns:p14="http://schemas.microsoft.com/office/powerpoint/2010/main" val="2552995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dirty="0">
                <a:solidFill>
                  <a:schemeClr val="tx1"/>
                </a:solidFill>
                <a:effectLst/>
                <a:latin typeface="+mn-lt"/>
                <a:ea typeface="+mn-ea"/>
                <a:cs typeface="+mn-cs"/>
              </a:rPr>
              <a:t>Alguna información de informes de Greenpeace mencionan que:</a:t>
            </a:r>
          </a:p>
          <a:p>
            <a:pPr marL="228600" indent="-228600">
              <a:buFont typeface="+mj-lt"/>
              <a:buAutoNum type="arabicPeriod"/>
            </a:pPr>
            <a:r>
              <a:rPr lang="es-ES" sz="1200" kern="1200" dirty="0">
                <a:solidFill>
                  <a:schemeClr val="tx1"/>
                </a:solidFill>
                <a:effectLst/>
                <a:latin typeface="+mn-lt"/>
                <a:ea typeface="+mn-ea"/>
                <a:cs typeface="+mn-cs"/>
              </a:rPr>
              <a:t>Para el periodo 24 - 25 la afectación de incendios en </a:t>
            </a:r>
            <a:r>
              <a:rPr lang="es-ES" sz="1200" kern="1200" dirty="0" err="1">
                <a:solidFill>
                  <a:schemeClr val="tx1"/>
                </a:solidFill>
                <a:effectLst/>
                <a:latin typeface="+mn-lt"/>
                <a:ea typeface="+mn-ea"/>
                <a:cs typeface="+mn-cs"/>
              </a:rPr>
              <a:t>bosqués</a:t>
            </a:r>
            <a:r>
              <a:rPr lang="es-ES" sz="1200" kern="1200" dirty="0">
                <a:solidFill>
                  <a:schemeClr val="tx1"/>
                </a:solidFill>
                <a:effectLst/>
                <a:latin typeface="+mn-lt"/>
                <a:ea typeface="+mn-ea"/>
                <a:cs typeface="+mn-cs"/>
              </a:rPr>
              <a:t> fue de 10.218 hectáreas.</a:t>
            </a:r>
          </a:p>
          <a:p>
            <a:pPr marL="228600" indent="-228600">
              <a:buFont typeface="+mj-lt"/>
              <a:buAutoNum type="arabicPeriod"/>
            </a:pPr>
            <a:r>
              <a:rPr lang="es-ES" sz="1200" kern="1200" dirty="0">
                <a:solidFill>
                  <a:schemeClr val="tx1"/>
                </a:solidFill>
                <a:effectLst/>
                <a:latin typeface="+mn-lt"/>
                <a:ea typeface="+mn-ea"/>
                <a:cs typeface="+mn-cs"/>
              </a:rPr>
              <a:t>Para el periodo 23 - 24 la afectación fue de 7.747 hectáreas. </a:t>
            </a:r>
          </a:p>
          <a:p>
            <a:pPr marL="228600" indent="-228600">
              <a:buFont typeface="+mj-lt"/>
              <a:buAutoNum type="arabicPeriod"/>
            </a:pPr>
            <a:r>
              <a:rPr lang="es-ES" sz="1200" kern="1200" dirty="0">
                <a:solidFill>
                  <a:schemeClr val="tx1"/>
                </a:solidFill>
                <a:effectLst/>
                <a:latin typeface="+mn-lt"/>
                <a:ea typeface="+mn-ea"/>
                <a:cs typeface="+mn-cs"/>
              </a:rPr>
              <a:t>En sólo dos temporadas, los incendios arrasaron un área equivalente a la Ciudad de Buenos Aires.</a:t>
            </a:r>
          </a:p>
        </p:txBody>
      </p:sp>
      <p:sp>
        <p:nvSpPr>
          <p:cNvPr id="4" name="Slide Number Placeholder 3"/>
          <p:cNvSpPr>
            <a:spLocks noGrp="1"/>
          </p:cNvSpPr>
          <p:nvPr>
            <p:ph type="sldNum" sz="quarter" idx="5"/>
          </p:nvPr>
        </p:nvSpPr>
        <p:spPr/>
        <p:txBody>
          <a:bodyPr/>
          <a:lstStyle/>
          <a:p>
            <a:fld id="{5E8BD3CD-1211-4D73-8435-E387E60ABEAC}" type="slidenum">
              <a:rPr lang="es-AR" smtClean="0"/>
              <a:t>4</a:t>
            </a:fld>
            <a:endParaRPr lang="es-AR"/>
          </a:p>
        </p:txBody>
      </p:sp>
    </p:spTree>
    <p:extLst>
      <p:ext uri="{BB962C8B-B14F-4D97-AF65-F5344CB8AC3E}">
        <p14:creationId xmlns:p14="http://schemas.microsoft.com/office/powerpoint/2010/main" val="178879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dirty="0">
                <a:solidFill>
                  <a:schemeClr val="tx1"/>
                </a:solidFill>
                <a:effectLst/>
                <a:latin typeface="+mn-lt"/>
                <a:ea typeface="+mn-ea"/>
                <a:cs typeface="+mn-cs"/>
              </a:rPr>
              <a:t>En el gráfico que estamos viendo representa la cantidad de observaciones del satélite Terra de la NASA, agrupadas en periodos de 5 años para la región de estudio utilizada para el proyecto.</a:t>
            </a:r>
          </a:p>
          <a:p>
            <a:endParaRPr lang="es-ES" sz="1200" kern="1200" dirty="0">
              <a:solidFill>
                <a:schemeClr val="tx1"/>
              </a:solidFill>
              <a:effectLst/>
              <a:latin typeface="+mn-lt"/>
              <a:ea typeface="+mn-ea"/>
              <a:cs typeface="+mn-cs"/>
            </a:endParaRPr>
          </a:p>
          <a:p>
            <a:pPr marL="228600" indent="-228600">
              <a:buFont typeface="+mj-lt"/>
              <a:buAutoNum type="arabicPeriod"/>
            </a:pPr>
            <a:r>
              <a:rPr lang="es-ES" sz="1200" kern="1200" dirty="0">
                <a:solidFill>
                  <a:schemeClr val="tx1"/>
                </a:solidFill>
                <a:effectLst/>
                <a:latin typeface="+mn-lt"/>
                <a:ea typeface="+mn-ea"/>
                <a:cs typeface="+mn-cs"/>
              </a:rPr>
              <a:t>A partir del 2020 esta problemática se multiplico por un factor de ocho (8) y escalo a un promedio de 117 focos observados por año.</a:t>
            </a:r>
          </a:p>
          <a:p>
            <a:pPr marL="228600" indent="-228600">
              <a:buFont typeface="+mj-lt"/>
              <a:buAutoNum type="arabicPeriod"/>
            </a:pPr>
            <a:r>
              <a:rPr lang="es-ES" sz="1200" kern="1200" dirty="0">
                <a:solidFill>
                  <a:schemeClr val="tx1"/>
                </a:solidFill>
                <a:effectLst/>
                <a:latin typeface="+mn-lt"/>
                <a:ea typeface="+mn-ea"/>
                <a:cs typeface="+mn-cs"/>
              </a:rPr>
              <a:t>En 2025 se tuvo casi la misma cantidad de observaciones que hubo entre el 2020 y el 2024, llevando el promedio a 425 focos observados en sólo un año.</a:t>
            </a:r>
          </a:p>
          <a:p>
            <a:pPr marL="228600" indent="-228600">
              <a:buFont typeface="+mj-lt"/>
              <a:buAutoNum type="arabicPeriod"/>
            </a:pPr>
            <a:r>
              <a:rPr lang="es-ES" sz="1200" kern="1200" dirty="0">
                <a:solidFill>
                  <a:schemeClr val="tx1"/>
                </a:solidFill>
                <a:effectLst/>
                <a:latin typeface="+mn-lt"/>
                <a:ea typeface="+mn-ea"/>
                <a:cs typeface="+mn-cs"/>
              </a:rPr>
              <a:t>Según datos oficiales, entre 2001 y 2023 la pérdida de Bosques Andino Patagónicos (toda la región patagónica) fue de 115.140 hectáreas.</a:t>
            </a:r>
          </a:p>
          <a:p>
            <a:pPr marL="228600" indent="-228600">
              <a:buFont typeface="+mj-lt"/>
              <a:buAutoNum type="arabicPeriod"/>
            </a:pPr>
            <a:endParaRPr lang="es-ES" sz="1200" kern="1200" dirty="0">
              <a:solidFill>
                <a:schemeClr val="tx1"/>
              </a:solidFill>
              <a:effectLst/>
              <a:latin typeface="+mn-lt"/>
              <a:ea typeface="+mn-ea"/>
              <a:cs typeface="+mn-cs"/>
            </a:endParaRPr>
          </a:p>
          <a:p>
            <a:pPr marL="228600" indent="-228600">
              <a:buFont typeface="+mj-lt"/>
              <a:buAutoNum type="arabicPeriod"/>
            </a:pPr>
            <a:r>
              <a:rPr lang="es-ES" sz="1200" kern="1200" dirty="0">
                <a:solidFill>
                  <a:schemeClr val="tx1"/>
                </a:solidFill>
                <a:effectLst/>
                <a:latin typeface="+mn-lt"/>
                <a:ea typeface="+mn-ea"/>
                <a:cs typeface="+mn-cs"/>
              </a:rPr>
              <a:t>En el incendio de Corrientes que tuvo lugar en 21-22, según el ministerio de producción de la provincia, entre fines de diciembre y enero se incendiaron más de 115mil hectáreas.</a:t>
            </a:r>
          </a:p>
        </p:txBody>
      </p:sp>
      <p:sp>
        <p:nvSpPr>
          <p:cNvPr id="4" name="Slide Number Placeholder 3"/>
          <p:cNvSpPr>
            <a:spLocks noGrp="1"/>
          </p:cNvSpPr>
          <p:nvPr>
            <p:ph type="sldNum" sz="quarter" idx="5"/>
          </p:nvPr>
        </p:nvSpPr>
        <p:spPr/>
        <p:txBody>
          <a:bodyPr/>
          <a:lstStyle/>
          <a:p>
            <a:fld id="{5E8BD3CD-1211-4D73-8435-E387E60ABEAC}" type="slidenum">
              <a:rPr lang="es-AR" smtClean="0"/>
              <a:t>5</a:t>
            </a:fld>
            <a:endParaRPr lang="es-AR"/>
          </a:p>
        </p:txBody>
      </p:sp>
    </p:spTree>
    <p:extLst>
      <p:ext uri="{BB962C8B-B14F-4D97-AF65-F5344CB8AC3E}">
        <p14:creationId xmlns:p14="http://schemas.microsoft.com/office/powerpoint/2010/main" val="4120141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200" kern="1200" dirty="0">
                <a:solidFill>
                  <a:schemeClr val="tx1"/>
                </a:solidFill>
                <a:effectLst/>
                <a:latin typeface="+mn-lt"/>
                <a:ea typeface="+mn-ea"/>
                <a:cs typeface="+mn-cs"/>
              </a:rPr>
              <a:t>Aquí confirmamos el patrón observado con el instrumento más moderno a bordo del satélite </a:t>
            </a:r>
            <a:r>
              <a:rPr lang="es-AR" sz="1200" kern="1200" dirty="0" err="1">
                <a:solidFill>
                  <a:schemeClr val="tx1"/>
                </a:solidFill>
                <a:effectLst/>
                <a:latin typeface="+mn-lt"/>
                <a:ea typeface="+mn-ea"/>
                <a:cs typeface="+mn-cs"/>
              </a:rPr>
              <a:t>Suomi</a:t>
            </a:r>
            <a:r>
              <a:rPr lang="es-AR" sz="1200" kern="1200" dirty="0">
                <a:solidFill>
                  <a:schemeClr val="tx1"/>
                </a:solidFill>
                <a:effectLst/>
                <a:latin typeface="+mn-lt"/>
                <a:ea typeface="+mn-ea"/>
                <a:cs typeface="+mn-cs"/>
              </a:rPr>
              <a:t>-NPP.</a:t>
            </a:r>
          </a:p>
          <a:p>
            <a:endParaRPr lang="es-AR"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En el gráfico que estamos viendo representa la cantidad de observaciones del satélite Terra de la NASA, agrupadas en periodos de 5 años para la región de estudio utilizada para el proyecto.</a:t>
            </a:r>
          </a:p>
          <a:p>
            <a:endParaRPr lang="es-ES" sz="1200" kern="1200" dirty="0">
              <a:solidFill>
                <a:schemeClr val="tx1"/>
              </a:solidFill>
              <a:effectLst/>
              <a:latin typeface="+mn-lt"/>
              <a:ea typeface="+mn-ea"/>
              <a:cs typeface="+mn-cs"/>
            </a:endParaRPr>
          </a:p>
          <a:p>
            <a:pPr marL="228600" indent="-228600">
              <a:buFont typeface="+mj-lt"/>
              <a:buAutoNum type="arabicPeriod"/>
            </a:pPr>
            <a:r>
              <a:rPr lang="es-ES" sz="1200" kern="1200" dirty="0">
                <a:solidFill>
                  <a:schemeClr val="tx1"/>
                </a:solidFill>
                <a:effectLst/>
                <a:latin typeface="+mn-lt"/>
                <a:ea typeface="+mn-ea"/>
                <a:cs typeface="+mn-cs"/>
              </a:rPr>
              <a:t>A partir del 2020 esta problemática se multiplico por un factor de ocho (8) y escalo a un promedio de 117 focos observados por año.</a:t>
            </a:r>
          </a:p>
          <a:p>
            <a:pPr marL="228600" indent="-228600">
              <a:buFont typeface="+mj-lt"/>
              <a:buAutoNum type="arabicPeriod"/>
            </a:pPr>
            <a:r>
              <a:rPr lang="es-ES" sz="1200" kern="1200" dirty="0">
                <a:solidFill>
                  <a:schemeClr val="tx1"/>
                </a:solidFill>
                <a:effectLst/>
                <a:latin typeface="+mn-lt"/>
                <a:ea typeface="+mn-ea"/>
                <a:cs typeface="+mn-cs"/>
              </a:rPr>
              <a:t>En 2025 se tuvo casi la misma cantidad de observaciones que hubo entre el 2020 y el 2024, llevando el promedio a 425 focos observados en sólo un año.</a:t>
            </a:r>
          </a:p>
          <a:p>
            <a:pPr marL="228600" indent="-228600">
              <a:buFont typeface="+mj-lt"/>
              <a:buAutoNum type="arabicPeriod"/>
            </a:pPr>
            <a:r>
              <a:rPr lang="es-ES" sz="1200" kern="1200" dirty="0">
                <a:solidFill>
                  <a:schemeClr val="tx1"/>
                </a:solidFill>
                <a:effectLst/>
                <a:latin typeface="+mn-lt"/>
                <a:ea typeface="+mn-ea"/>
                <a:cs typeface="+mn-cs"/>
              </a:rPr>
              <a:t>Según datos oficiales, entre 2001 y 2023 la pérdida de Bosques Andino Patagónicos (toda la región patagónica) fue de 115.140 hectáreas.</a:t>
            </a:r>
          </a:p>
          <a:p>
            <a:pPr marL="228600" indent="-228600">
              <a:buFont typeface="+mj-lt"/>
              <a:buAutoNum type="arabicPeriod"/>
            </a:pPr>
            <a:endParaRPr lang="es-ES" sz="1200" kern="1200" dirty="0">
              <a:solidFill>
                <a:schemeClr val="tx1"/>
              </a:solidFill>
              <a:effectLst/>
              <a:latin typeface="+mn-lt"/>
              <a:ea typeface="+mn-ea"/>
              <a:cs typeface="+mn-cs"/>
            </a:endParaRPr>
          </a:p>
          <a:p>
            <a:pPr marL="228600" indent="-228600">
              <a:buFont typeface="+mj-lt"/>
              <a:buAutoNum type="arabicPeriod"/>
            </a:pPr>
            <a:r>
              <a:rPr lang="es-ES" sz="1200" kern="1200" dirty="0">
                <a:solidFill>
                  <a:schemeClr val="tx1"/>
                </a:solidFill>
                <a:effectLst/>
                <a:latin typeface="+mn-lt"/>
                <a:ea typeface="+mn-ea"/>
                <a:cs typeface="+mn-cs"/>
              </a:rPr>
              <a:t>En el incendio de Corrientes que tuvo lugar en 21-22, según el ministerio de producción de la provincia, entre fines de diciembre y enero se incendiaron más de 115mil hectáreas.</a:t>
            </a:r>
          </a:p>
          <a:p>
            <a:endParaRPr lang="es-AR"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E8BD3CD-1211-4D73-8435-E387E60ABEAC}" type="slidenum">
              <a:rPr lang="es-AR" smtClean="0"/>
              <a:t>6</a:t>
            </a:fld>
            <a:endParaRPr lang="es-AR"/>
          </a:p>
        </p:txBody>
      </p:sp>
    </p:spTree>
    <p:extLst>
      <p:ext uri="{BB962C8B-B14F-4D97-AF65-F5344CB8AC3E}">
        <p14:creationId xmlns:p14="http://schemas.microsoft.com/office/powerpoint/2010/main" val="1955133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kern="1200" dirty="0">
                <a:solidFill>
                  <a:schemeClr val="tx1"/>
                </a:solidFill>
                <a:effectLst/>
                <a:latin typeface="+mn-lt"/>
                <a:ea typeface="+mn-ea"/>
                <a:cs typeface="+mn-cs"/>
              </a:rPr>
              <a:t>OBJETIVOS</a:t>
            </a:r>
            <a:endParaRPr lang="es-AR" sz="1200" b="1"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Estudiar y comprender los incendios forestales.</a:t>
            </a:r>
            <a:endParaRPr lang="es-AR" sz="1200"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Recopilar y sistematizar la obtención de datos.</a:t>
            </a:r>
            <a:endParaRPr lang="es-AR" sz="1200"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Procesar y consolidar información.</a:t>
            </a:r>
            <a:endParaRPr lang="es-AR" sz="1200"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Analizar de forma exploratoria la información.</a:t>
            </a:r>
            <a:endParaRPr lang="es-AR" sz="1200"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Implementar modelos de aprendizaje automático para determinar probabilidad de presencia de focos de calor.</a:t>
            </a:r>
            <a:endParaRPr lang="es-AR" sz="1200" kern="1200" dirty="0">
              <a:solidFill>
                <a:schemeClr val="tx1"/>
              </a:solidFill>
              <a:effectLst/>
              <a:latin typeface="+mn-lt"/>
              <a:ea typeface="+mn-ea"/>
              <a:cs typeface="+mn-cs"/>
            </a:endParaRPr>
          </a:p>
          <a:p>
            <a:pPr marL="228600" lvl="0" indent="-228600">
              <a:buFont typeface="+mj-lt"/>
              <a:buAutoNum type="arabicPeriod"/>
            </a:pPr>
            <a:r>
              <a:rPr lang="es-ES" sz="1200" kern="1200" dirty="0">
                <a:solidFill>
                  <a:schemeClr val="tx1"/>
                </a:solidFill>
                <a:effectLst/>
                <a:latin typeface="+mn-lt"/>
                <a:ea typeface="+mn-ea"/>
                <a:cs typeface="+mn-cs"/>
              </a:rPr>
              <a:t>Evaluar efectividad de punto 5.</a:t>
            </a:r>
            <a:endParaRPr lang="es-AR" dirty="0"/>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7</a:t>
            </a:fld>
            <a:endParaRPr lang="es-AR"/>
          </a:p>
        </p:txBody>
      </p:sp>
    </p:spTree>
    <p:extLst>
      <p:ext uri="{BB962C8B-B14F-4D97-AF65-F5344CB8AC3E}">
        <p14:creationId xmlns:p14="http://schemas.microsoft.com/office/powerpoint/2010/main" val="1312603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Detalles del área de estudio:</a:t>
            </a:r>
          </a:p>
          <a:p>
            <a:pPr marL="228600" indent="-228600">
              <a:buFont typeface="+mj-lt"/>
              <a:buAutoNum type="arabicPeriod"/>
            </a:pPr>
            <a:r>
              <a:rPr lang="es-AR" dirty="0"/>
              <a:t>Región oeste de Río Negro, comprendida entre Bariloche al Norte y El Bolsón hacia el Sur.</a:t>
            </a:r>
          </a:p>
          <a:p>
            <a:pPr marL="228600" indent="-228600">
              <a:buFont typeface="+mj-lt"/>
              <a:buAutoNum type="arabicPeriod"/>
            </a:pPr>
            <a:r>
              <a:rPr lang="es-AR" dirty="0"/>
              <a:t>Un área total </a:t>
            </a:r>
            <a:r>
              <a:rPr lang="es-AR" dirty="0" err="1"/>
              <a:t>prox</a:t>
            </a:r>
            <a:r>
              <a:rPr lang="es-AR" dirty="0"/>
              <a:t>. de 9200kms^2</a:t>
            </a:r>
          </a:p>
          <a:p>
            <a:endParaRPr lang="es-AR" dirty="0"/>
          </a:p>
          <a:p>
            <a:r>
              <a:rPr lang="es-AR" b="1" dirty="0"/>
              <a:t>NOTA ADICIONAL: </a:t>
            </a:r>
            <a:r>
              <a:rPr lang="es-AR" dirty="0"/>
              <a:t>Diferencia entre </a:t>
            </a:r>
            <a:r>
              <a:rPr lang="es-AR" dirty="0" err="1"/>
              <a:t>long</a:t>
            </a:r>
            <a:r>
              <a:rPr lang="es-AR" dirty="0"/>
              <a:t> y </a:t>
            </a:r>
            <a:r>
              <a:rPr lang="es-AR" dirty="0" err="1"/>
              <a:t>lati</a:t>
            </a:r>
            <a:r>
              <a:rPr lang="es-AR" dirty="0"/>
              <a:t>: </a:t>
            </a:r>
            <a:r>
              <a:rPr lang="es-ES" sz="1200" b="1" i="0" kern="1200" dirty="0">
                <a:solidFill>
                  <a:schemeClr val="tx1"/>
                </a:solidFill>
                <a:effectLst/>
                <a:latin typeface="+mn-lt"/>
                <a:ea typeface="+mn-ea"/>
                <a:cs typeface="+mn-cs"/>
              </a:rPr>
              <a:t>longitud disminuye a medida que se acerca a los polos</a:t>
            </a:r>
            <a:r>
              <a:rPr lang="es-ES" sz="1200" b="0" i="0" kern="1200" dirty="0">
                <a:solidFill>
                  <a:schemeClr val="tx1"/>
                </a:solidFill>
                <a:effectLst/>
                <a:latin typeface="+mn-lt"/>
                <a:ea typeface="+mn-ea"/>
                <a:cs typeface="+mn-cs"/>
              </a:rPr>
              <a:t>, </a:t>
            </a:r>
            <a:r>
              <a:rPr lang="es-ES" sz="1200" b="0" i="0" u="sng" kern="1200" dirty="0">
                <a:solidFill>
                  <a:schemeClr val="tx1"/>
                </a:solidFill>
                <a:effectLst/>
                <a:latin typeface="+mn-lt"/>
                <a:ea typeface="+mn-ea"/>
                <a:cs typeface="+mn-cs"/>
              </a:rPr>
              <a:t>mientras</a:t>
            </a:r>
            <a:r>
              <a:rPr lang="es-ES" sz="1200" b="0" i="0" kern="1200" dirty="0">
                <a:solidFill>
                  <a:schemeClr val="tx1"/>
                </a:solidFill>
                <a:effectLst/>
                <a:latin typeface="+mn-lt"/>
                <a:ea typeface="+mn-ea"/>
                <a:cs typeface="+mn-cs"/>
              </a:rPr>
              <a:t> que la latitud es aproximadamente constante, con una pequeña variación debido a que la Tierra es un esferoide achatado</a:t>
            </a:r>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8</a:t>
            </a:fld>
            <a:endParaRPr lang="es-AR"/>
          </a:p>
        </p:txBody>
      </p:sp>
    </p:spTree>
    <p:extLst>
      <p:ext uri="{BB962C8B-B14F-4D97-AF65-F5344CB8AC3E}">
        <p14:creationId xmlns:p14="http://schemas.microsoft.com/office/powerpoint/2010/main" val="66288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s-ES" sz="1200" kern="1200" dirty="0">
                <a:solidFill>
                  <a:schemeClr val="tx1"/>
                </a:solidFill>
                <a:effectLst/>
                <a:latin typeface="+mn-lt"/>
                <a:ea typeface="+mn-ea"/>
                <a:cs typeface="+mn-cs"/>
              </a:rPr>
              <a:t>El punto de inicio fue la adquisición de datos, para esto se evaluaron diversas fuentes y se determino que las mejores son:</a:t>
            </a:r>
          </a:p>
          <a:p>
            <a:pPr marL="228600" marR="0" lvl="0" indent="-228600" algn="just" defTabSz="914400" rtl="0" eaLnBrk="1" fontAlgn="auto" latinLnBrk="0" hangingPunct="1">
              <a:lnSpc>
                <a:spcPct val="150000"/>
              </a:lnSpc>
              <a:spcBef>
                <a:spcPts val="0"/>
              </a:spcBef>
              <a:spcAft>
                <a:spcPts val="0"/>
              </a:spcAft>
              <a:buClrTx/>
              <a:buSzTx/>
              <a:buFont typeface="+mj-lt"/>
              <a:buAutoNum type="arabicPeriod"/>
              <a:tabLst/>
              <a:defRPr/>
            </a:pPr>
            <a:r>
              <a:rPr lang="es-ES" sz="1200" kern="1200" dirty="0">
                <a:solidFill>
                  <a:schemeClr val="tx1"/>
                </a:solidFill>
                <a:effectLst/>
                <a:latin typeface="+mn-lt"/>
                <a:ea typeface="+mn-ea"/>
                <a:cs typeface="+mn-cs"/>
              </a:rPr>
              <a:t>Datos meteorológicos el programa </a:t>
            </a:r>
            <a:r>
              <a:rPr lang="es-ES" sz="1200" b="1" kern="1200" dirty="0" err="1">
                <a:solidFill>
                  <a:schemeClr val="tx1"/>
                </a:solidFill>
                <a:effectLst/>
                <a:latin typeface="+mn-lt"/>
                <a:ea typeface="+mn-ea"/>
                <a:cs typeface="+mn-cs"/>
              </a:rPr>
              <a:t>Copernicus</a:t>
            </a:r>
            <a:r>
              <a:rPr lang="es-ES" sz="1200" b="1" kern="1200" dirty="0">
                <a:solidFill>
                  <a:schemeClr val="tx1"/>
                </a:solidFill>
                <a:effectLst/>
                <a:latin typeface="+mn-lt"/>
                <a:ea typeface="+mn-ea"/>
                <a:cs typeface="+mn-cs"/>
              </a:rPr>
              <a:t> de la </a:t>
            </a:r>
            <a:r>
              <a:rPr lang="es-ES" sz="1200" b="1" kern="1200" dirty="0" err="1">
                <a:solidFill>
                  <a:schemeClr val="tx1"/>
                </a:solidFill>
                <a:effectLst/>
                <a:latin typeface="+mn-lt"/>
                <a:ea typeface="+mn-ea"/>
                <a:cs typeface="+mn-cs"/>
              </a:rPr>
              <a:t>Union</a:t>
            </a:r>
            <a:r>
              <a:rPr lang="es-ES" sz="1200" b="1" kern="1200" dirty="0">
                <a:solidFill>
                  <a:schemeClr val="tx1"/>
                </a:solidFill>
                <a:effectLst/>
                <a:latin typeface="+mn-lt"/>
                <a:ea typeface="+mn-ea"/>
                <a:cs typeface="+mn-cs"/>
              </a:rPr>
              <a:t> Europea.</a:t>
            </a:r>
            <a:r>
              <a:rPr lang="es-ES" sz="1200" kern="1200" dirty="0">
                <a:solidFill>
                  <a:schemeClr val="tx1"/>
                </a:solidFill>
                <a:effectLst/>
                <a:latin typeface="+mn-lt"/>
                <a:ea typeface="+mn-ea"/>
                <a:cs typeface="+mn-cs"/>
              </a:rPr>
              <a:t> S</a:t>
            </a:r>
            <a:r>
              <a:rPr lang="es-AR" sz="1200" kern="1200" dirty="0">
                <a:solidFill>
                  <a:schemeClr val="tx1"/>
                </a:solidFill>
                <a:effectLst/>
                <a:latin typeface="+mn-lt"/>
                <a:ea typeface="+mn-ea"/>
                <a:cs typeface="+mn-cs"/>
              </a:rPr>
              <a:t>e obtiene </a:t>
            </a:r>
            <a:r>
              <a:rPr lang="es-AR" noProof="0" dirty="0"/>
              <a:t>un </a:t>
            </a:r>
            <a:r>
              <a:rPr lang="es-AR" b="1" noProof="0" dirty="0"/>
              <a:t>conjunto de datos de reanálisis</a:t>
            </a:r>
            <a:r>
              <a:rPr lang="es-AR" noProof="0" dirty="0"/>
              <a:t> llamado ERA5-Land que </a:t>
            </a:r>
            <a:r>
              <a:rPr lang="es-AR" sz="1200" kern="1200" dirty="0">
                <a:solidFill>
                  <a:schemeClr val="tx1"/>
                </a:solidFill>
                <a:effectLst/>
                <a:latin typeface="+mn-lt"/>
                <a:ea typeface="+mn-ea"/>
                <a:cs typeface="+mn-cs"/>
              </a:rPr>
              <a:t>es un producto producido por el Centro Europeo de Pronósticos Meteorológicos a Medio Plazo (ECMWF), y proporciona una descripción consistente y detallada de las variables de la superficie (temperatura, viento, precipitaciones, etc.) con una </a:t>
            </a:r>
            <a:r>
              <a:rPr lang="es-AR" sz="1200" b="1" kern="1200" dirty="0">
                <a:solidFill>
                  <a:schemeClr val="tx1"/>
                </a:solidFill>
                <a:effectLst/>
                <a:latin typeface="+mn-lt"/>
                <a:ea typeface="+mn-ea"/>
                <a:cs typeface="+mn-cs"/>
              </a:rPr>
              <a:t>frecuencia</a:t>
            </a:r>
            <a:r>
              <a:rPr lang="es-AR" b="1" noProof="0" dirty="0"/>
              <a:t> de datos diaria y resolución de 10x10 kilómetros. </a:t>
            </a:r>
            <a:endParaRPr lang="es-AR" sz="1200" b="1" kern="1200" noProof="0" dirty="0">
              <a:solidFill>
                <a:schemeClr val="tx1"/>
              </a:solidFill>
              <a:effectLst/>
              <a:latin typeface="+mn-lt"/>
              <a:ea typeface="+mn-ea"/>
              <a:cs typeface="+mn-cs"/>
            </a:endParaRPr>
          </a:p>
          <a:p>
            <a:pPr marL="228600" marR="0" lvl="0" indent="-228600" algn="just" defTabSz="914400" rtl="0" eaLnBrk="1" fontAlgn="auto" latinLnBrk="0" hangingPunct="1">
              <a:lnSpc>
                <a:spcPct val="150000"/>
              </a:lnSpc>
              <a:spcBef>
                <a:spcPts val="0"/>
              </a:spcBef>
              <a:spcAft>
                <a:spcPts val="0"/>
              </a:spcAft>
              <a:buClrTx/>
              <a:buSzTx/>
              <a:buFont typeface="+mj-lt"/>
              <a:buAutoNum type="arabicPeriod"/>
              <a:tabLst/>
              <a:defRPr/>
            </a:pPr>
            <a:endParaRPr lang="es-ES" sz="1200" kern="1200" dirty="0">
              <a:solidFill>
                <a:schemeClr val="tx1"/>
              </a:solidFill>
              <a:effectLst/>
              <a:latin typeface="+mn-lt"/>
              <a:ea typeface="+mn-ea"/>
              <a:cs typeface="+mn-cs"/>
            </a:endParaRPr>
          </a:p>
          <a:p>
            <a:pPr marL="228600" marR="0" lvl="0" indent="-228600" algn="just" defTabSz="914400" rtl="0" eaLnBrk="1" fontAlgn="auto" latinLnBrk="0" hangingPunct="1">
              <a:lnSpc>
                <a:spcPct val="150000"/>
              </a:lnSpc>
              <a:spcBef>
                <a:spcPts val="0"/>
              </a:spcBef>
              <a:spcAft>
                <a:spcPts val="0"/>
              </a:spcAft>
              <a:buClrTx/>
              <a:buSzTx/>
              <a:buFont typeface="+mj-lt"/>
              <a:buAutoNum type="arabicPeriod"/>
              <a:tabLst/>
              <a:defRPr/>
            </a:pPr>
            <a:r>
              <a:rPr lang="es-ES" sz="1200" kern="1200" dirty="0">
                <a:solidFill>
                  <a:schemeClr val="tx1"/>
                </a:solidFill>
                <a:effectLst/>
                <a:latin typeface="+mn-lt"/>
                <a:ea typeface="+mn-ea"/>
                <a:cs typeface="+mn-cs"/>
              </a:rPr>
              <a:t>Datos históricos de focos de calor tomados de la </a:t>
            </a:r>
            <a:r>
              <a:rPr lang="es-ES" sz="1200" b="1" kern="1200" dirty="0">
                <a:solidFill>
                  <a:schemeClr val="tx1"/>
                </a:solidFill>
                <a:effectLst/>
                <a:latin typeface="+mn-lt"/>
                <a:ea typeface="+mn-ea"/>
                <a:cs typeface="+mn-cs"/>
              </a:rPr>
              <a:t>NASA</a:t>
            </a:r>
            <a:r>
              <a:rPr lang="es-ES" sz="1200" kern="1200" dirty="0">
                <a:solidFill>
                  <a:schemeClr val="tx1"/>
                </a:solidFill>
                <a:effectLst/>
                <a:latin typeface="+mn-lt"/>
                <a:ea typeface="+mn-ea"/>
                <a:cs typeface="+mn-cs"/>
              </a:rPr>
              <a:t> mediante el </a:t>
            </a:r>
            <a:r>
              <a:rPr lang="es-ES" sz="1200" b="1" kern="1200" dirty="0">
                <a:solidFill>
                  <a:schemeClr val="tx1"/>
                </a:solidFill>
                <a:effectLst/>
                <a:latin typeface="+mn-lt"/>
                <a:ea typeface="+mn-ea"/>
                <a:cs typeface="+mn-cs"/>
              </a:rPr>
              <a:t>Sistema de Información sobre Incendios para la Gestión de Recursos (FIRMS),</a:t>
            </a:r>
            <a:r>
              <a:rPr lang="es-ES" sz="1200" kern="1200" dirty="0">
                <a:solidFill>
                  <a:schemeClr val="tx1"/>
                </a:solidFill>
                <a:effectLst/>
                <a:latin typeface="+mn-lt"/>
                <a:ea typeface="+mn-ea"/>
                <a:cs typeface="+mn-cs"/>
              </a:rPr>
              <a:t> Más precisamente del </a:t>
            </a:r>
            <a:r>
              <a:rPr lang="es-ES" sz="1200" b="1" kern="1200" dirty="0">
                <a:solidFill>
                  <a:schemeClr val="tx1"/>
                </a:solidFill>
                <a:effectLst/>
                <a:latin typeface="+mn-lt"/>
                <a:ea typeface="+mn-ea"/>
                <a:cs typeface="+mn-cs"/>
              </a:rPr>
              <a:t>Conjunto de Radiómetros de Imágenes en el Infrarrojo Visible (VIIRS)</a:t>
            </a:r>
            <a:r>
              <a:rPr lang="es-ES" sz="1200" kern="1200" dirty="0">
                <a:solidFill>
                  <a:schemeClr val="tx1"/>
                </a:solidFill>
                <a:effectLst/>
                <a:latin typeface="+mn-lt"/>
                <a:ea typeface="+mn-ea"/>
                <a:cs typeface="+mn-cs"/>
              </a:rPr>
              <a:t> a bordo del satélite meteorológico </a:t>
            </a:r>
            <a:r>
              <a:rPr lang="es-ES" sz="1200" b="1" kern="1200" dirty="0" err="1">
                <a:solidFill>
                  <a:schemeClr val="tx1"/>
                </a:solidFill>
                <a:effectLst/>
                <a:latin typeface="+mn-lt"/>
                <a:ea typeface="+mn-ea"/>
                <a:cs typeface="+mn-cs"/>
              </a:rPr>
              <a:t>Suomi</a:t>
            </a:r>
            <a:r>
              <a:rPr lang="es-ES" sz="1200" b="1" kern="1200" dirty="0">
                <a:solidFill>
                  <a:schemeClr val="tx1"/>
                </a:solidFill>
                <a:effectLst/>
                <a:latin typeface="+mn-lt"/>
                <a:ea typeface="+mn-ea"/>
                <a:cs typeface="+mn-cs"/>
              </a:rPr>
              <a:t> NPP lanzado en 2011 para la recopilación de datos ambientales </a:t>
            </a:r>
            <a:r>
              <a:rPr lang="es-ES" sz="1200" kern="1200" dirty="0">
                <a:solidFill>
                  <a:schemeClr val="tx1"/>
                </a:solidFill>
                <a:effectLst/>
                <a:latin typeface="+mn-lt"/>
                <a:ea typeface="+mn-ea"/>
                <a:cs typeface="+mn-cs"/>
              </a:rPr>
              <a:t>para el monitoreo a largo plazo del clima y el estudio del cambio climático. Se </a:t>
            </a:r>
            <a:r>
              <a:rPr lang="es-AR" sz="1200" noProof="0" dirty="0"/>
              <a:t>obtienen las observaciones de focos de calor en la región. Frecuencia según observación y resolución de 0,375x0,375 metros.</a:t>
            </a:r>
          </a:p>
          <a:p>
            <a:pPr algn="just">
              <a:lnSpc>
                <a:spcPct val="150000"/>
              </a:lnSpc>
            </a:pPr>
            <a:endParaRPr lang="es-ES" sz="1200" kern="1200" dirty="0">
              <a:solidFill>
                <a:schemeClr val="tx1"/>
              </a:solidFill>
              <a:effectLst/>
              <a:latin typeface="+mn-lt"/>
              <a:ea typeface="+mn-ea"/>
              <a:cs typeface="+mn-cs"/>
            </a:endParaRPr>
          </a:p>
          <a:p>
            <a:pPr algn="just">
              <a:lnSpc>
                <a:spcPct val="150000"/>
              </a:lnSpc>
            </a:pPr>
            <a:r>
              <a:rPr lang="es-ES" sz="1200" b="1" u="sng" kern="1200" dirty="0">
                <a:solidFill>
                  <a:schemeClr val="tx1"/>
                </a:solidFill>
                <a:effectLst/>
                <a:latin typeface="+mn-lt"/>
                <a:ea typeface="+mn-ea"/>
                <a:cs typeface="+mn-cs"/>
              </a:rPr>
              <a:t>NOTA ADICIONAL: </a:t>
            </a:r>
            <a:r>
              <a:rPr lang="es-ES" sz="1200" kern="1200" dirty="0">
                <a:solidFill>
                  <a:schemeClr val="tx1"/>
                </a:solidFill>
                <a:effectLst/>
                <a:latin typeface="+mn-lt"/>
                <a:ea typeface="+mn-ea"/>
                <a:cs typeface="+mn-cs"/>
              </a:rPr>
              <a:t>La información fue obtenida mediante el uso de las </a:t>
            </a:r>
            <a:r>
              <a:rPr lang="es-ES" sz="1200" b="1" kern="1200" dirty="0" err="1">
                <a:solidFill>
                  <a:schemeClr val="tx1"/>
                </a:solidFill>
                <a:effectLst/>
                <a:latin typeface="+mn-lt"/>
                <a:ea typeface="+mn-ea"/>
                <a:cs typeface="+mn-cs"/>
              </a:rPr>
              <a:t>APIs</a:t>
            </a:r>
            <a:r>
              <a:rPr lang="es-ES" sz="1200" b="1" kern="1200" dirty="0">
                <a:solidFill>
                  <a:schemeClr val="tx1"/>
                </a:solidFill>
                <a:effectLst/>
                <a:latin typeface="+mn-lt"/>
                <a:ea typeface="+mn-ea"/>
                <a:cs typeface="+mn-cs"/>
              </a:rPr>
              <a:t> (Interfaces de Programación de Aplicaciones)</a:t>
            </a:r>
            <a:r>
              <a:rPr lang="es-ES" sz="1200" kern="1200" dirty="0">
                <a:solidFill>
                  <a:schemeClr val="tx1"/>
                </a:solidFill>
                <a:effectLst/>
                <a:latin typeface="+mn-lt"/>
                <a:ea typeface="+mn-ea"/>
                <a:cs typeface="+mn-cs"/>
              </a:rPr>
              <a:t> provistas por los administradores de información. Estas </a:t>
            </a:r>
            <a:r>
              <a:rPr lang="es-ES" sz="1200" kern="1200" dirty="0" err="1">
                <a:solidFill>
                  <a:schemeClr val="tx1"/>
                </a:solidFill>
                <a:effectLst/>
                <a:latin typeface="+mn-lt"/>
                <a:ea typeface="+mn-ea"/>
                <a:cs typeface="+mn-cs"/>
              </a:rPr>
              <a:t>APIs</a:t>
            </a:r>
            <a:r>
              <a:rPr lang="es-ES" sz="1200" kern="1200" dirty="0">
                <a:solidFill>
                  <a:schemeClr val="tx1"/>
                </a:solidFill>
                <a:effectLst/>
                <a:latin typeface="+mn-lt"/>
                <a:ea typeface="+mn-ea"/>
                <a:cs typeface="+mn-cs"/>
              </a:rPr>
              <a:t> habilitan la comunicación entre varios sistemas a fin de compartir información y funcionalidades.</a:t>
            </a:r>
            <a:endParaRPr lang="es-AR" dirty="0"/>
          </a:p>
          <a:p>
            <a:pPr algn="just">
              <a:lnSpc>
                <a:spcPct val="150000"/>
              </a:lnSpc>
            </a:pPr>
            <a:endParaRPr lang="es-A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E8BD3CD-1211-4D73-8435-E387E60ABEAC}" type="slidenum">
              <a:rPr lang="es-AR" smtClean="0"/>
              <a:t>9</a:t>
            </a:fld>
            <a:endParaRPr lang="es-AR"/>
          </a:p>
        </p:txBody>
      </p:sp>
    </p:spTree>
    <p:extLst>
      <p:ext uri="{BB962C8B-B14F-4D97-AF65-F5344CB8AC3E}">
        <p14:creationId xmlns:p14="http://schemas.microsoft.com/office/powerpoint/2010/main" val="370736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Una vez obtenida la información desde las fuentes seleccionadas, se procedió a tratar y adaptar la información en función del proyecto.</a:t>
            </a:r>
          </a:p>
        </p:txBody>
      </p:sp>
      <p:sp>
        <p:nvSpPr>
          <p:cNvPr id="4" name="Slide Number Placeholder 3"/>
          <p:cNvSpPr>
            <a:spLocks noGrp="1"/>
          </p:cNvSpPr>
          <p:nvPr>
            <p:ph type="sldNum" sz="quarter" idx="5"/>
          </p:nvPr>
        </p:nvSpPr>
        <p:spPr/>
        <p:txBody>
          <a:bodyPr/>
          <a:lstStyle/>
          <a:p>
            <a:fld id="{5E8BD3CD-1211-4D73-8435-E387E60ABEAC}" type="slidenum">
              <a:rPr lang="es-AR" smtClean="0"/>
              <a:t>10</a:t>
            </a:fld>
            <a:endParaRPr lang="es-AR"/>
          </a:p>
        </p:txBody>
      </p:sp>
    </p:spTree>
    <p:extLst>
      <p:ext uri="{BB962C8B-B14F-4D97-AF65-F5344CB8AC3E}">
        <p14:creationId xmlns:p14="http://schemas.microsoft.com/office/powerpoint/2010/main" val="3835750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200" kern="1200" dirty="0">
                <a:solidFill>
                  <a:schemeClr val="tx1"/>
                </a:solidFill>
                <a:effectLst/>
                <a:latin typeface="+mn-lt"/>
                <a:ea typeface="+mn-ea"/>
                <a:cs typeface="+mn-cs"/>
              </a:rPr>
              <a:t>A las variables meteorológicas no se tuvo que hacer mucho trabajo, salvo la transformación de unidades de medida (</a:t>
            </a:r>
            <a:r>
              <a:rPr lang="es-AR" sz="1200" kern="1200" dirty="0" err="1">
                <a:solidFill>
                  <a:schemeClr val="tx1"/>
                </a:solidFill>
                <a:effectLst/>
                <a:latin typeface="+mn-lt"/>
                <a:ea typeface="+mn-ea"/>
                <a:cs typeface="+mn-cs"/>
              </a:rPr>
              <a:t>Faren</a:t>
            </a:r>
            <a:r>
              <a:rPr lang="es-AR" sz="1200" kern="1200" dirty="0">
                <a:solidFill>
                  <a:schemeClr val="tx1"/>
                </a:solidFill>
                <a:effectLst/>
                <a:latin typeface="+mn-lt"/>
                <a:ea typeface="+mn-ea"/>
                <a:cs typeface="+mn-cs"/>
              </a:rPr>
              <a:t>. a </a:t>
            </a:r>
            <a:r>
              <a:rPr lang="es-AR" sz="1200" kern="1200" dirty="0" err="1">
                <a:solidFill>
                  <a:schemeClr val="tx1"/>
                </a:solidFill>
                <a:effectLst/>
                <a:latin typeface="+mn-lt"/>
                <a:ea typeface="+mn-ea"/>
                <a:cs typeface="+mn-cs"/>
              </a:rPr>
              <a:t>Cels</a:t>
            </a:r>
            <a:r>
              <a:rPr lang="es-AR" sz="1200" kern="1200" dirty="0">
                <a:solidFill>
                  <a:schemeClr val="tx1"/>
                </a:solidFill>
                <a:effectLst/>
                <a:latin typeface="+mn-lt"/>
                <a:ea typeface="+mn-ea"/>
                <a:cs typeface="+mn-cs"/>
              </a:rPr>
              <a:t>.). </a:t>
            </a:r>
            <a:r>
              <a:rPr lang="es-AR" sz="1200" b="1" kern="1200" dirty="0">
                <a:solidFill>
                  <a:schemeClr val="tx1"/>
                </a:solidFill>
                <a:effectLst/>
                <a:latin typeface="+mn-lt"/>
                <a:ea typeface="+mn-ea"/>
                <a:cs typeface="+mn-cs"/>
              </a:rPr>
              <a:t>El trabajo más importante fue el de la incorporación de variables derivadas correspondientes al sistema canadiense de índice meteorológico de incendios forestales (FWI)</a:t>
            </a:r>
            <a:r>
              <a:rPr lang="es-AR" sz="1200" kern="1200" dirty="0">
                <a:solidFill>
                  <a:schemeClr val="tx1"/>
                </a:solidFill>
                <a:effectLst/>
                <a:latin typeface="+mn-lt"/>
                <a:ea typeface="+mn-ea"/>
                <a:cs typeface="+mn-cs"/>
              </a:rPr>
              <a:t> que consta de </a:t>
            </a:r>
            <a:r>
              <a:rPr lang="es-AR" sz="1200" b="1" kern="1200" dirty="0">
                <a:solidFill>
                  <a:schemeClr val="tx1"/>
                </a:solidFill>
                <a:effectLst/>
                <a:latin typeface="+mn-lt"/>
                <a:ea typeface="+mn-ea"/>
                <a:cs typeface="+mn-cs"/>
              </a:rPr>
              <a:t>seis componentes que explican los efectos de la humedad del combustible y las condiciones climáticas sobre el comportamiento del fuego:</a:t>
            </a:r>
          </a:p>
          <a:p>
            <a:endParaRPr lang="es-AR" sz="1200" kern="1200" dirty="0">
              <a:solidFill>
                <a:schemeClr val="tx1"/>
              </a:solidFill>
              <a:effectLst/>
              <a:latin typeface="+mn-lt"/>
              <a:ea typeface="+mn-ea"/>
              <a:cs typeface="+mn-cs"/>
            </a:endParaRPr>
          </a:p>
          <a:p>
            <a:pPr marL="228600" lvl="0" indent="-228600">
              <a:buFont typeface="+mj-lt"/>
              <a:buAutoNum type="arabicPeriod"/>
            </a:pPr>
            <a:r>
              <a:rPr lang="es-AR" sz="1200" kern="1200" dirty="0">
                <a:solidFill>
                  <a:schemeClr val="tx1"/>
                </a:solidFill>
                <a:effectLst/>
                <a:latin typeface="+mn-lt"/>
                <a:ea typeface="+mn-ea"/>
                <a:cs typeface="+mn-cs"/>
              </a:rPr>
              <a:t>Los primeros tres componentes (FFMC, DMC, DC) son clasificaciones numéricas del contenido de humedad del suelo y otra materia orgánica muerta. Sus valores aumentan a medida que disminuye el contenido de humedad.</a:t>
            </a:r>
          </a:p>
          <a:p>
            <a:pPr marL="685800" lvl="1" indent="-228600">
              <a:buFont typeface="+mj-lt"/>
              <a:buAutoNum type="arabicPeriod"/>
            </a:pPr>
            <a:r>
              <a:rPr lang="es-AR" sz="1200" kern="1200" dirty="0">
                <a:solidFill>
                  <a:schemeClr val="tx1"/>
                </a:solidFill>
                <a:effectLst/>
                <a:latin typeface="+mn-lt"/>
                <a:ea typeface="+mn-ea"/>
                <a:cs typeface="+mn-cs"/>
              </a:rPr>
              <a:t>FFMC, humedad de la hojarasca y otros combustibles finos curados</a:t>
            </a:r>
          </a:p>
          <a:p>
            <a:pPr marL="685800" lvl="1" indent="-228600">
              <a:buFont typeface="+mj-lt"/>
              <a:buAutoNum type="arabicPeriod"/>
            </a:pPr>
            <a:r>
              <a:rPr lang="es-AR" sz="1200" kern="1200" dirty="0">
                <a:solidFill>
                  <a:schemeClr val="tx1"/>
                </a:solidFill>
                <a:effectLst/>
                <a:latin typeface="+mn-lt"/>
                <a:ea typeface="+mn-ea"/>
                <a:cs typeface="+mn-cs"/>
              </a:rPr>
              <a:t>DMC, contenido promedio de humedad en las capas orgánicas poco compactadas de profundidad moderada</a:t>
            </a:r>
          </a:p>
          <a:p>
            <a:pPr marL="685800" lvl="1" indent="-228600">
              <a:buFont typeface="+mj-lt"/>
              <a:buAutoNum type="arabicPeriod"/>
            </a:pPr>
            <a:r>
              <a:rPr lang="es-AR" sz="1200" kern="1200" dirty="0">
                <a:solidFill>
                  <a:schemeClr val="tx1"/>
                </a:solidFill>
                <a:effectLst/>
                <a:latin typeface="+mn-lt"/>
                <a:ea typeface="+mn-ea"/>
                <a:cs typeface="+mn-cs"/>
              </a:rPr>
              <a:t>DC, sequia general.</a:t>
            </a:r>
          </a:p>
          <a:p>
            <a:pPr marL="228600" lvl="0" indent="-228600">
              <a:buFont typeface="+mj-lt"/>
              <a:buAutoNum type="arabicPeriod"/>
            </a:pPr>
            <a:endParaRPr lang="es-AR" sz="1200" kern="1200" dirty="0">
              <a:solidFill>
                <a:schemeClr val="tx1"/>
              </a:solidFill>
              <a:effectLst/>
              <a:latin typeface="+mn-lt"/>
              <a:ea typeface="+mn-ea"/>
              <a:cs typeface="+mn-cs"/>
            </a:endParaRPr>
          </a:p>
          <a:p>
            <a:pPr marL="228600" lvl="0" indent="-228600">
              <a:buFont typeface="+mj-lt"/>
              <a:buAutoNum type="arabicPeriod"/>
            </a:pPr>
            <a:r>
              <a:rPr lang="es-AR" sz="1200" kern="1200" dirty="0">
                <a:solidFill>
                  <a:schemeClr val="tx1"/>
                </a:solidFill>
                <a:effectLst/>
                <a:latin typeface="+mn-lt"/>
                <a:ea typeface="+mn-ea"/>
                <a:cs typeface="+mn-cs"/>
              </a:rPr>
              <a:t>Los tres componentes restantes (ISI, BUI, FWI) son índices de comportamiento del fuego, que representan la tasa de propagación, el combustible disponible y la intensidad frontal. Estos valores aumentan a medida que aumenta el peligro de incendio.</a:t>
            </a:r>
          </a:p>
          <a:p>
            <a:pPr marL="685800" lvl="1" indent="-228600">
              <a:buFont typeface="+mj-lt"/>
              <a:buAutoNum type="arabicPeriod"/>
            </a:pPr>
            <a:r>
              <a:rPr lang="es-AR" sz="1200" kern="1200" dirty="0">
                <a:solidFill>
                  <a:schemeClr val="tx1"/>
                </a:solidFill>
                <a:effectLst/>
                <a:latin typeface="+mn-lt"/>
                <a:ea typeface="+mn-ea"/>
                <a:cs typeface="+mn-cs"/>
              </a:rPr>
              <a:t>ISI, velocidad de propagación prevista del incendio</a:t>
            </a:r>
          </a:p>
          <a:p>
            <a:pPr marL="685800" lvl="1" indent="-228600">
              <a:buFont typeface="+mj-lt"/>
              <a:buAutoNum type="arabicPeriod"/>
            </a:pPr>
            <a:r>
              <a:rPr lang="es-AR" sz="1200" kern="1200" dirty="0">
                <a:solidFill>
                  <a:schemeClr val="tx1"/>
                </a:solidFill>
                <a:effectLst/>
                <a:latin typeface="+mn-lt"/>
                <a:ea typeface="+mn-ea"/>
                <a:cs typeface="+mn-cs"/>
              </a:rPr>
              <a:t>BUI, </a:t>
            </a:r>
            <a:r>
              <a:rPr lang="es-AR" sz="1200" kern="1200" dirty="0" err="1">
                <a:solidFill>
                  <a:schemeClr val="tx1"/>
                </a:solidFill>
                <a:effectLst/>
                <a:latin typeface="+mn-lt"/>
                <a:ea typeface="+mn-ea"/>
                <a:cs typeface="+mn-cs"/>
              </a:rPr>
              <a:t>antidad</a:t>
            </a:r>
            <a:r>
              <a:rPr lang="es-AR" sz="1200" kern="1200" dirty="0">
                <a:solidFill>
                  <a:schemeClr val="tx1"/>
                </a:solidFill>
                <a:effectLst/>
                <a:latin typeface="+mn-lt"/>
                <a:ea typeface="+mn-ea"/>
                <a:cs typeface="+mn-cs"/>
              </a:rPr>
              <a:t> total de combustible disponible para la combustión</a:t>
            </a:r>
          </a:p>
          <a:p>
            <a:pPr marL="685800" lvl="1" indent="-228600">
              <a:buFont typeface="+mj-lt"/>
              <a:buAutoNum type="arabicPeriod"/>
            </a:pPr>
            <a:r>
              <a:rPr lang="es-AR" sz="1200" kern="1200" dirty="0">
                <a:solidFill>
                  <a:schemeClr val="tx1"/>
                </a:solidFill>
                <a:effectLst/>
                <a:latin typeface="+mn-lt"/>
                <a:ea typeface="+mn-ea"/>
                <a:cs typeface="+mn-cs"/>
              </a:rPr>
              <a:t>FWI, índice general de peligro de incendio</a:t>
            </a:r>
          </a:p>
          <a:p>
            <a:pPr lvl="0"/>
            <a:endParaRPr lang="es-AR" sz="1200" u="sng"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El FWI es </a:t>
            </a:r>
            <a:r>
              <a:rPr lang="es-AR" sz="1200" kern="1200" dirty="0">
                <a:solidFill>
                  <a:schemeClr val="tx1"/>
                </a:solidFill>
                <a:effectLst/>
                <a:latin typeface="+mn-lt"/>
                <a:ea typeface="+mn-ea"/>
                <a:cs typeface="+mn-cs"/>
              </a:rPr>
              <a:t>una clasificación numérica que estima el peligro de incendio forestal, basándose en variables meteorológicas como la temperatura, la humedad relativa, la velocidad del viento y las precipitaciones. Un valor de índice más alto indica condiciones más favorables para que se inicie y propague un incendio.</a:t>
            </a:r>
          </a:p>
        </p:txBody>
      </p:sp>
      <p:sp>
        <p:nvSpPr>
          <p:cNvPr id="4" name="Slide Number Placeholder 3"/>
          <p:cNvSpPr>
            <a:spLocks noGrp="1"/>
          </p:cNvSpPr>
          <p:nvPr>
            <p:ph type="sldNum" sz="quarter" idx="5"/>
          </p:nvPr>
        </p:nvSpPr>
        <p:spPr/>
        <p:txBody>
          <a:bodyPr/>
          <a:lstStyle/>
          <a:p>
            <a:fld id="{5E8BD3CD-1211-4D73-8435-E387E60ABEAC}" type="slidenum">
              <a:rPr lang="es-AR" smtClean="0"/>
              <a:t>11</a:t>
            </a:fld>
            <a:endParaRPr lang="es-AR"/>
          </a:p>
        </p:txBody>
      </p:sp>
    </p:spTree>
    <p:extLst>
      <p:ext uri="{BB962C8B-B14F-4D97-AF65-F5344CB8AC3E}">
        <p14:creationId xmlns:p14="http://schemas.microsoft.com/office/powerpoint/2010/main" val="3062447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200" kern="1200" dirty="0">
                <a:solidFill>
                  <a:schemeClr val="tx1"/>
                </a:solidFill>
                <a:effectLst/>
                <a:latin typeface="+mn-lt"/>
                <a:ea typeface="+mn-ea"/>
                <a:cs typeface="+mn-cs"/>
              </a:rPr>
              <a:t>Los </a:t>
            </a:r>
            <a:r>
              <a:rPr lang="es-AR" sz="1200" b="1" kern="1200" dirty="0">
                <a:solidFill>
                  <a:schemeClr val="tx1"/>
                </a:solidFill>
                <a:effectLst/>
                <a:latin typeface="+mn-lt"/>
                <a:ea typeface="+mn-ea"/>
                <a:cs typeface="+mn-cs"/>
              </a:rPr>
              <a:t>focos de incendio tampoco requirieron un tratamiento específico.</a:t>
            </a:r>
          </a:p>
          <a:p>
            <a:endParaRPr lang="es-AR" sz="1200" b="1" kern="1200" dirty="0">
              <a:solidFill>
                <a:schemeClr val="tx1"/>
              </a:solidFill>
              <a:effectLst/>
              <a:latin typeface="+mn-lt"/>
              <a:ea typeface="+mn-ea"/>
              <a:cs typeface="+mn-cs"/>
            </a:endParaRPr>
          </a:p>
          <a:p>
            <a:pPr marL="228600" indent="-228600">
              <a:buFont typeface="+mj-lt"/>
              <a:buAutoNum type="arabicPeriod"/>
            </a:pPr>
            <a:r>
              <a:rPr lang="es-AR" sz="1200" kern="1200" dirty="0">
                <a:solidFill>
                  <a:schemeClr val="tx1"/>
                </a:solidFill>
                <a:effectLst/>
                <a:latin typeface="+mn-lt"/>
                <a:ea typeface="+mn-ea"/>
                <a:cs typeface="+mn-cs"/>
              </a:rPr>
              <a:t>Filtro de registros con baja confianza.</a:t>
            </a:r>
          </a:p>
          <a:p>
            <a:pPr marL="228600" indent="-228600">
              <a:buFont typeface="+mj-lt"/>
              <a:buAutoNum type="arabicPeriod"/>
            </a:pPr>
            <a:r>
              <a:rPr lang="es-AR" sz="1200" kern="1200" dirty="0">
                <a:solidFill>
                  <a:schemeClr val="tx1"/>
                </a:solidFill>
                <a:effectLst/>
                <a:latin typeface="+mn-lt"/>
                <a:ea typeface="+mn-ea"/>
                <a:cs typeface="+mn-cs"/>
              </a:rPr>
              <a:t>Alineación de resolución geográfica y temporal (a fin de unificar a la información meteorológica y sus derivados).</a:t>
            </a:r>
          </a:p>
          <a:p>
            <a:endParaRPr lang="es-AR"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Proceso de unificación de datos que consistió en:</a:t>
            </a:r>
          </a:p>
          <a:p>
            <a:pPr marL="228600" indent="-228600">
              <a:buFont typeface="+mj-lt"/>
              <a:buAutoNum type="arabicPeriod"/>
            </a:pPr>
            <a:r>
              <a:rPr lang="es-AR" sz="1200" kern="1200" dirty="0">
                <a:solidFill>
                  <a:schemeClr val="tx1"/>
                </a:solidFill>
                <a:effectLst/>
                <a:latin typeface="+mn-lt"/>
                <a:ea typeface="+mn-ea"/>
                <a:cs typeface="+mn-cs"/>
              </a:rPr>
              <a:t>Redondear a un digito las variables de latitud y longitud.</a:t>
            </a:r>
          </a:p>
          <a:p>
            <a:pPr marL="228600" indent="-228600">
              <a:buFont typeface="+mj-lt"/>
              <a:buAutoNum type="arabicPeriod"/>
            </a:pPr>
            <a:r>
              <a:rPr lang="es-AR" sz="1200" kern="1200" dirty="0">
                <a:solidFill>
                  <a:schemeClr val="tx1"/>
                </a:solidFill>
                <a:effectLst/>
                <a:latin typeface="+mn-lt"/>
                <a:ea typeface="+mn-ea"/>
                <a:cs typeface="+mn-cs"/>
              </a:rPr>
              <a:t>Separar la información de fecha y horario para cada observación.</a:t>
            </a:r>
          </a:p>
          <a:p>
            <a:pPr marL="228600" indent="-228600">
              <a:buFont typeface="+mj-lt"/>
              <a:buAutoNum type="arabicPeriod"/>
            </a:pPr>
            <a:r>
              <a:rPr lang="es-AR" sz="1200" kern="1200" dirty="0">
                <a:solidFill>
                  <a:schemeClr val="tx1"/>
                </a:solidFill>
                <a:effectLst/>
                <a:latin typeface="+mn-lt"/>
                <a:ea typeface="+mn-ea"/>
                <a:cs typeface="+mn-cs"/>
              </a:rPr>
              <a:t>Se incorpora la información de focos de incendio con los registros meteorológicos, por medio de la fecha y la </a:t>
            </a:r>
            <a:r>
              <a:rPr lang="es-AR" sz="1200" u="none" kern="1200" dirty="0">
                <a:solidFill>
                  <a:schemeClr val="tx1"/>
                </a:solidFill>
                <a:effectLst/>
                <a:latin typeface="+mn-lt"/>
                <a:ea typeface="+mn-ea"/>
                <a:cs typeface="+mn-cs"/>
              </a:rPr>
              <a:t>ubicación</a:t>
            </a:r>
            <a:r>
              <a:rPr lang="es-AR" sz="1200" kern="1200" dirty="0">
                <a:solidFill>
                  <a:schemeClr val="tx1"/>
                </a:solidFill>
                <a:effectLst/>
                <a:latin typeface="+mn-lt"/>
                <a:ea typeface="+mn-ea"/>
                <a:cs typeface="+mn-cs"/>
              </a:rPr>
              <a:t> geográfica (clave compuesta de fecha, latitud y longitud). </a:t>
            </a:r>
          </a:p>
          <a:p>
            <a:pPr marL="228600" indent="-228600">
              <a:buFont typeface="+mj-lt"/>
              <a:buAutoNum type="arabicPeriod"/>
            </a:pPr>
            <a:r>
              <a:rPr lang="es-AR" sz="1200" kern="1200" dirty="0">
                <a:solidFill>
                  <a:schemeClr val="tx1"/>
                </a:solidFill>
                <a:effectLst/>
                <a:latin typeface="+mn-lt"/>
                <a:ea typeface="+mn-ea"/>
                <a:cs typeface="+mn-cs"/>
              </a:rPr>
              <a:t>Posteriormente se trabajo en solucionar los valores faltantes que aparecieron sobre las variables de incendio.</a:t>
            </a:r>
          </a:p>
        </p:txBody>
      </p:sp>
      <p:sp>
        <p:nvSpPr>
          <p:cNvPr id="4" name="Slide Number Placeholder 3"/>
          <p:cNvSpPr>
            <a:spLocks noGrp="1"/>
          </p:cNvSpPr>
          <p:nvPr>
            <p:ph type="sldNum" sz="quarter" idx="5"/>
          </p:nvPr>
        </p:nvSpPr>
        <p:spPr/>
        <p:txBody>
          <a:bodyPr/>
          <a:lstStyle/>
          <a:p>
            <a:fld id="{5E8BD3CD-1211-4D73-8435-E387E60ABEAC}" type="slidenum">
              <a:rPr lang="es-AR" smtClean="0"/>
              <a:t>12</a:t>
            </a:fld>
            <a:endParaRPr lang="es-AR"/>
          </a:p>
        </p:txBody>
      </p:sp>
    </p:spTree>
    <p:extLst>
      <p:ext uri="{BB962C8B-B14F-4D97-AF65-F5344CB8AC3E}">
        <p14:creationId xmlns:p14="http://schemas.microsoft.com/office/powerpoint/2010/main" val="1294696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sz="1200" kern="1200" dirty="0">
                <a:solidFill>
                  <a:schemeClr val="tx1"/>
                </a:solidFill>
                <a:effectLst/>
                <a:latin typeface="+mn-lt"/>
                <a:ea typeface="+mn-ea"/>
                <a:cs typeface="+mn-cs"/>
              </a:rPr>
              <a:t>Como resultado se obtiene que para cada celda de la grilla del área de estudio se logro contar con un registro por día con: </a:t>
            </a:r>
          </a:p>
          <a:p>
            <a:pPr marL="171450" indent="-171450">
              <a:buFont typeface="Arial" panose="020B0604020202020204" pitchFamily="34" charset="0"/>
              <a:buChar char="•"/>
            </a:pPr>
            <a:r>
              <a:rPr lang="es-AR" sz="1200" b="1" kern="1200" dirty="0">
                <a:solidFill>
                  <a:schemeClr val="tx1"/>
                </a:solidFill>
                <a:effectLst/>
                <a:latin typeface="+mn-lt"/>
                <a:ea typeface="+mn-ea"/>
                <a:cs typeface="+mn-cs"/>
              </a:rPr>
              <a:t>Las variables meteorológicas,</a:t>
            </a:r>
          </a:p>
          <a:p>
            <a:pPr marL="171450" indent="-171450">
              <a:buFont typeface="Arial" panose="020B0604020202020204" pitchFamily="34" charset="0"/>
              <a:buChar char="•"/>
            </a:pPr>
            <a:r>
              <a:rPr lang="es-AR" sz="1200" b="1" kern="1200" dirty="0">
                <a:solidFill>
                  <a:schemeClr val="tx1"/>
                </a:solidFill>
                <a:effectLst/>
                <a:latin typeface="+mn-lt"/>
                <a:ea typeface="+mn-ea"/>
                <a:cs typeface="+mn-cs"/>
              </a:rPr>
              <a:t>Las variables derivadas para la construcción del índice FWI, </a:t>
            </a:r>
          </a:p>
          <a:p>
            <a:pPr marL="171450" indent="-171450">
              <a:buFont typeface="Arial" panose="020B0604020202020204" pitchFamily="34" charset="0"/>
              <a:buChar char="•"/>
            </a:pPr>
            <a:r>
              <a:rPr lang="es-AR" sz="1200" b="1" kern="1200" dirty="0">
                <a:solidFill>
                  <a:schemeClr val="tx1"/>
                </a:solidFill>
                <a:effectLst/>
                <a:latin typeface="+mn-lt"/>
                <a:ea typeface="+mn-ea"/>
                <a:cs typeface="+mn-cs"/>
              </a:rPr>
              <a:t>La cantidad de observaciones de focos de calor y el FRP promedio</a:t>
            </a:r>
            <a:r>
              <a:rPr lang="es-AR" sz="1200" kern="1200" dirty="0">
                <a:solidFill>
                  <a:schemeClr val="tx1"/>
                </a:solidFill>
                <a:effectLst/>
                <a:latin typeface="+mn-lt"/>
                <a:ea typeface="+mn-ea"/>
                <a:cs typeface="+mn-cs"/>
              </a:rPr>
              <a:t> (</a:t>
            </a:r>
            <a:r>
              <a:rPr lang="es-ES" sz="1200" b="0" i="0" kern="1200" dirty="0">
                <a:solidFill>
                  <a:schemeClr val="tx1"/>
                </a:solidFill>
                <a:effectLst/>
                <a:latin typeface="+mn-lt"/>
                <a:ea typeface="+mn-ea"/>
                <a:cs typeface="+mn-cs"/>
              </a:rPr>
              <a:t>que es </a:t>
            </a:r>
            <a:r>
              <a:rPr lang="es-ES" sz="1200" b="0" i="0" u="none" kern="1200" dirty="0">
                <a:solidFill>
                  <a:schemeClr val="tx1"/>
                </a:solidFill>
                <a:effectLst/>
                <a:latin typeface="+mn-lt"/>
                <a:ea typeface="+mn-ea"/>
                <a:cs typeface="+mn-cs"/>
              </a:rPr>
              <a:t>una</a:t>
            </a:r>
            <a:r>
              <a:rPr lang="es-ES" sz="1200" b="0" i="0" kern="1200" dirty="0">
                <a:solidFill>
                  <a:schemeClr val="tx1"/>
                </a:solidFill>
                <a:effectLst/>
                <a:latin typeface="+mn-lt"/>
                <a:ea typeface="+mn-ea"/>
                <a:cs typeface="+mn-cs"/>
              </a:rPr>
              <a:t> medida de la energía térmica que emite un incendio</a:t>
            </a:r>
            <a:r>
              <a:rPr lang="es-AR"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5E8BD3CD-1211-4D73-8435-E387E60ABEAC}" type="slidenum">
              <a:rPr lang="es-AR" smtClean="0"/>
              <a:t>13</a:t>
            </a:fld>
            <a:endParaRPr lang="es-AR"/>
          </a:p>
        </p:txBody>
      </p:sp>
    </p:spTree>
    <p:extLst>
      <p:ext uri="{BB962C8B-B14F-4D97-AF65-F5344CB8AC3E}">
        <p14:creationId xmlns:p14="http://schemas.microsoft.com/office/powerpoint/2010/main" val="3955404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El siguiente paso, ya con la información preparada según la necesidad del proyecto, se hizo un análisis exploratorio para identificar correlaciones y patrones en la información.</a:t>
            </a:r>
          </a:p>
        </p:txBody>
      </p:sp>
      <p:sp>
        <p:nvSpPr>
          <p:cNvPr id="4" name="Slide Number Placeholder 3"/>
          <p:cNvSpPr>
            <a:spLocks noGrp="1"/>
          </p:cNvSpPr>
          <p:nvPr>
            <p:ph type="sldNum" sz="quarter" idx="5"/>
          </p:nvPr>
        </p:nvSpPr>
        <p:spPr/>
        <p:txBody>
          <a:bodyPr/>
          <a:lstStyle/>
          <a:p>
            <a:fld id="{5E8BD3CD-1211-4D73-8435-E387E60ABEAC}" type="slidenum">
              <a:rPr lang="es-AR" smtClean="0"/>
              <a:t>14</a:t>
            </a:fld>
            <a:endParaRPr lang="es-AR"/>
          </a:p>
        </p:txBody>
      </p:sp>
    </p:spTree>
    <p:extLst>
      <p:ext uri="{BB962C8B-B14F-4D97-AF65-F5344CB8AC3E}">
        <p14:creationId xmlns:p14="http://schemas.microsoft.com/office/powerpoint/2010/main" val="3270943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Para una celda determinada… representación gráfica de las variables meteorológicas y sus derivadas de FWI. Estos gráficos permiten ver la correcta interacción entre variables.</a:t>
            </a:r>
          </a:p>
        </p:txBody>
      </p:sp>
      <p:sp>
        <p:nvSpPr>
          <p:cNvPr id="4" name="Slide Number Placeholder 3"/>
          <p:cNvSpPr>
            <a:spLocks noGrp="1"/>
          </p:cNvSpPr>
          <p:nvPr>
            <p:ph type="sldNum" sz="quarter" idx="5"/>
          </p:nvPr>
        </p:nvSpPr>
        <p:spPr/>
        <p:txBody>
          <a:bodyPr/>
          <a:lstStyle/>
          <a:p>
            <a:fld id="{5E8BD3CD-1211-4D73-8435-E387E60ABEAC}" type="slidenum">
              <a:rPr lang="es-AR" smtClean="0"/>
              <a:t>15</a:t>
            </a:fld>
            <a:endParaRPr lang="es-AR"/>
          </a:p>
        </p:txBody>
      </p:sp>
    </p:spTree>
    <p:extLst>
      <p:ext uri="{BB962C8B-B14F-4D97-AF65-F5344CB8AC3E}">
        <p14:creationId xmlns:p14="http://schemas.microsoft.com/office/powerpoint/2010/main" val="857830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Su matriz de correlación permite ver como cada variable meteorológica incide en las derivadas del índice de riesgo. </a:t>
            </a:r>
          </a:p>
        </p:txBody>
      </p:sp>
      <p:sp>
        <p:nvSpPr>
          <p:cNvPr id="4" name="Slide Number Placeholder 3"/>
          <p:cNvSpPr>
            <a:spLocks noGrp="1"/>
          </p:cNvSpPr>
          <p:nvPr>
            <p:ph type="sldNum" sz="quarter" idx="5"/>
          </p:nvPr>
        </p:nvSpPr>
        <p:spPr/>
        <p:txBody>
          <a:bodyPr/>
          <a:lstStyle/>
          <a:p>
            <a:fld id="{5E8BD3CD-1211-4D73-8435-E387E60ABEAC}" type="slidenum">
              <a:rPr lang="es-AR" smtClean="0"/>
              <a:t>16</a:t>
            </a:fld>
            <a:endParaRPr lang="es-AR"/>
          </a:p>
        </p:txBody>
      </p:sp>
    </p:spTree>
    <p:extLst>
      <p:ext uri="{BB962C8B-B14F-4D97-AF65-F5344CB8AC3E}">
        <p14:creationId xmlns:p14="http://schemas.microsoft.com/office/powerpoint/2010/main" val="1128573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Como es la clasificación FWI en el conjunto de datos. Naturalmente, la categorización de registros es desbalanceada, lo que es fundamental de cara a la aplicación de modelos.</a:t>
            </a:r>
          </a:p>
        </p:txBody>
      </p:sp>
      <p:sp>
        <p:nvSpPr>
          <p:cNvPr id="4" name="Slide Number Placeholder 3"/>
          <p:cNvSpPr>
            <a:spLocks noGrp="1"/>
          </p:cNvSpPr>
          <p:nvPr>
            <p:ph type="sldNum" sz="quarter" idx="5"/>
          </p:nvPr>
        </p:nvSpPr>
        <p:spPr/>
        <p:txBody>
          <a:bodyPr/>
          <a:lstStyle/>
          <a:p>
            <a:fld id="{5E8BD3CD-1211-4D73-8435-E387E60ABEAC}" type="slidenum">
              <a:rPr lang="es-AR" smtClean="0"/>
              <a:t>17</a:t>
            </a:fld>
            <a:endParaRPr lang="es-AR"/>
          </a:p>
        </p:txBody>
      </p:sp>
    </p:spTree>
    <p:extLst>
      <p:ext uri="{BB962C8B-B14F-4D97-AF65-F5344CB8AC3E}">
        <p14:creationId xmlns:p14="http://schemas.microsoft.com/office/powerpoint/2010/main" val="1904079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En materia de focos de calor, no hay mucho que decir, salvo ver como evoluciono el incidente en el tiempo.</a:t>
            </a:r>
          </a:p>
        </p:txBody>
      </p:sp>
      <p:sp>
        <p:nvSpPr>
          <p:cNvPr id="4" name="Slide Number Placeholder 3"/>
          <p:cNvSpPr>
            <a:spLocks noGrp="1"/>
          </p:cNvSpPr>
          <p:nvPr>
            <p:ph type="sldNum" sz="quarter" idx="5"/>
          </p:nvPr>
        </p:nvSpPr>
        <p:spPr/>
        <p:txBody>
          <a:bodyPr/>
          <a:lstStyle/>
          <a:p>
            <a:fld id="{5E8BD3CD-1211-4D73-8435-E387E60ABEAC}" type="slidenum">
              <a:rPr lang="es-AR" smtClean="0"/>
              <a:t>18</a:t>
            </a:fld>
            <a:endParaRPr lang="es-AR"/>
          </a:p>
        </p:txBody>
      </p:sp>
    </p:spTree>
    <p:extLst>
      <p:ext uri="{BB962C8B-B14F-4D97-AF65-F5344CB8AC3E}">
        <p14:creationId xmlns:p14="http://schemas.microsoft.com/office/powerpoint/2010/main" val="1074687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Para una celda determinada… representación gráfica de las variables meteorológicas.</a:t>
            </a:r>
          </a:p>
        </p:txBody>
      </p:sp>
      <p:sp>
        <p:nvSpPr>
          <p:cNvPr id="4" name="Slide Number Placeholder 3"/>
          <p:cNvSpPr>
            <a:spLocks noGrp="1"/>
          </p:cNvSpPr>
          <p:nvPr>
            <p:ph type="sldNum" sz="quarter" idx="5"/>
          </p:nvPr>
        </p:nvSpPr>
        <p:spPr/>
        <p:txBody>
          <a:bodyPr/>
          <a:lstStyle/>
          <a:p>
            <a:fld id="{5E8BD3CD-1211-4D73-8435-E387E60ABEAC}" type="slidenum">
              <a:rPr lang="es-AR" smtClean="0"/>
              <a:t>19</a:t>
            </a:fld>
            <a:endParaRPr lang="es-AR"/>
          </a:p>
        </p:txBody>
      </p:sp>
    </p:spTree>
    <p:extLst>
      <p:ext uri="{BB962C8B-B14F-4D97-AF65-F5344CB8AC3E}">
        <p14:creationId xmlns:p14="http://schemas.microsoft.com/office/powerpoint/2010/main" val="1306149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s-AR" sz="1200" b="0" noProof="0" dirty="0"/>
              <a:t>Dado el análisis exploratorio, se obtuvieron observaciones de condiciones meteorológicas extremas:</a:t>
            </a:r>
          </a:p>
          <a:p>
            <a:pPr marL="742950" lvl="1" indent="-285750" algn="just">
              <a:buFont typeface="Arial" panose="020B0604020202020204" pitchFamily="34" charset="0"/>
              <a:buChar char="•"/>
            </a:pPr>
            <a:r>
              <a:rPr lang="es-AR" sz="1200" b="1" noProof="0" dirty="0"/>
              <a:t>Enero 2025 fue el mes con condiciones más extremas</a:t>
            </a:r>
            <a:r>
              <a:rPr lang="es-AR" sz="1200" noProof="0" dirty="0"/>
              <a:t>. Altas temperaturas y baja humedad.</a:t>
            </a:r>
          </a:p>
          <a:p>
            <a:pPr marL="742950" lvl="1" indent="-285750" algn="just">
              <a:buFont typeface="Arial" panose="020B0604020202020204" pitchFamily="34" charset="0"/>
              <a:buChar char="•"/>
            </a:pPr>
            <a:r>
              <a:rPr lang="es-AR" sz="1200" b="1" noProof="0" dirty="0"/>
              <a:t>30 de enero de 2025 combinó condiciones críticas: </a:t>
            </a:r>
            <a:r>
              <a:rPr lang="es-AR" sz="1200" noProof="0" dirty="0"/>
              <a:t>temperatura alta (31.75°C), humedad muy baja (11.56%) y FWI extremo (54.08).</a:t>
            </a:r>
          </a:p>
          <a:p>
            <a:pPr marL="742950" lvl="1" indent="-285750" algn="just">
              <a:buFont typeface="Arial" panose="020B0604020202020204" pitchFamily="34" charset="0"/>
              <a:buChar char="•"/>
            </a:pPr>
            <a:r>
              <a:rPr lang="es-AR" sz="1200" b="1" noProof="0" dirty="0"/>
              <a:t>Febrero 2025</a:t>
            </a:r>
            <a:r>
              <a:rPr lang="es-AR" sz="1200" noProof="0" dirty="0"/>
              <a:t> presentó los días con </a:t>
            </a:r>
            <a:r>
              <a:rPr lang="es-AR" sz="1200" b="1" noProof="0" dirty="0"/>
              <a:t>mayor acumulado de precipitación. </a:t>
            </a:r>
            <a:r>
              <a:rPr lang="es-AR" sz="1200" noProof="0" dirty="0"/>
              <a:t>Destacando la lluvia del 22 de Febrero que se encargo de apagar los focos y dar fin a la situación.</a:t>
            </a:r>
          </a:p>
          <a:p>
            <a:pPr marL="742950" lvl="1" indent="-285750" algn="just">
              <a:buFont typeface="Arial" panose="020B0604020202020204" pitchFamily="34" charset="0"/>
              <a:buChar char="•"/>
            </a:pPr>
            <a:r>
              <a:rPr lang="es-AR" sz="1200" b="1" noProof="0" dirty="0"/>
              <a:t>Los días más cálidos y secos coinciden con mayor actividad de incendios, </a:t>
            </a:r>
            <a:r>
              <a:rPr lang="es-AR" sz="1200" noProof="0" dirty="0"/>
              <a:t>destacando los periodos de fines de diciembre, fines de enero y 9 de febrero.</a:t>
            </a: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20</a:t>
            </a:fld>
            <a:endParaRPr lang="es-AR"/>
          </a:p>
        </p:txBody>
      </p:sp>
    </p:spTree>
    <p:extLst>
      <p:ext uri="{BB962C8B-B14F-4D97-AF65-F5344CB8AC3E}">
        <p14:creationId xmlns:p14="http://schemas.microsoft.com/office/powerpoint/2010/main" val="395251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Ya pasamos por la obtención, el tratamiento y el análisis exploratorio que permitió conocer un poco más a fondo el conjunto de datos generado.</a:t>
            </a:r>
          </a:p>
          <a:p>
            <a:endParaRPr lang="es-AR" dirty="0"/>
          </a:p>
          <a:p>
            <a:r>
              <a:rPr lang="es-AR" dirty="0"/>
              <a:t>A partir de este punto, la aplicación de modelos de aprendizaje de maquina es viable… para ello…</a:t>
            </a:r>
          </a:p>
        </p:txBody>
      </p:sp>
      <p:sp>
        <p:nvSpPr>
          <p:cNvPr id="4" name="Slide Number Placeholder 3"/>
          <p:cNvSpPr>
            <a:spLocks noGrp="1"/>
          </p:cNvSpPr>
          <p:nvPr>
            <p:ph type="sldNum" sz="quarter" idx="5"/>
          </p:nvPr>
        </p:nvSpPr>
        <p:spPr/>
        <p:txBody>
          <a:bodyPr/>
          <a:lstStyle/>
          <a:p>
            <a:fld id="{5E8BD3CD-1211-4D73-8435-E387E60ABEAC}" type="slidenum">
              <a:rPr lang="es-AR" smtClean="0"/>
              <a:t>21</a:t>
            </a:fld>
            <a:endParaRPr lang="es-AR"/>
          </a:p>
        </p:txBody>
      </p:sp>
    </p:spTree>
    <p:extLst>
      <p:ext uri="{BB962C8B-B14F-4D97-AF65-F5344CB8AC3E}">
        <p14:creationId xmlns:p14="http://schemas.microsoft.com/office/powerpoint/2010/main" val="2602422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CONCEPTO DE APRENDIZAJE SUPERVISADO</a:t>
            </a:r>
            <a:br>
              <a:rPr lang="es-AR" dirty="0"/>
            </a:br>
            <a:r>
              <a:rPr lang="es-AR" dirty="0"/>
              <a:t>En el aprendizaje supervisado, se entrenan algoritmos utilizando conjuntos de datos etiquetados con el fin de predecir resultados o reconocer patrones. Estos modelos aprenden de la relación entre los datos de entrada y las respuestas de salida correctas, lo que les permite realizar predicciones precisas (ya sean etiquetas de clase o probabilidades) sobre datos nuevos.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a:t>División de información para entrenamiento y evaluación.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a:t>Entrenamiento del modelo con respuestas.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a:t>Predicción del modelo sin las respuestas.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a:t>Salida: predicción de etiquetas (fuego / no fuego) y probabilidades.</a:t>
            </a: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22</a:t>
            </a:fld>
            <a:endParaRPr lang="es-AR"/>
          </a:p>
        </p:txBody>
      </p:sp>
    </p:spTree>
    <p:extLst>
      <p:ext uri="{BB962C8B-B14F-4D97-AF65-F5344CB8AC3E}">
        <p14:creationId xmlns:p14="http://schemas.microsoft.com/office/powerpoint/2010/main" val="2048485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Se han seleccionado, en función al trabajo inicial de investigación de antecedentes relacionados con la problemática y conociendo los problemas derivados del análisis exploratorio como el desbalanceo extremo de etiquetas de incendio y la no linealidad de la información, tres modelos….</a:t>
            </a:r>
          </a:p>
          <a:p>
            <a:endParaRPr lang="es-AR"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err="1"/>
              <a:t>Random</a:t>
            </a:r>
            <a:r>
              <a:rPr lang="es-AR" dirty="0"/>
              <a:t> </a:t>
            </a:r>
            <a:r>
              <a:rPr lang="es-AR" dirty="0" err="1"/>
              <a:t>forest</a:t>
            </a:r>
            <a:r>
              <a:rPr lang="es-AR" dirty="0"/>
              <a:t>, </a:t>
            </a:r>
            <a:r>
              <a:rPr lang="es-AR" sz="1200" kern="1200" dirty="0">
                <a:solidFill>
                  <a:schemeClr val="tx1"/>
                </a:solidFill>
                <a:effectLst/>
                <a:latin typeface="+mn-lt"/>
                <a:ea typeface="+mn-ea"/>
                <a:cs typeface="+mn-cs"/>
              </a:rPr>
              <a:t>método de ensamble que opera construyendo múltiples árboles de decisión durante el entrenamiento. Su predicción final se basa en el "voto" de la mayoría de los árboles, lo que mejora la precisión y reduce significativamente el sobreajuste (</a:t>
            </a:r>
            <a:r>
              <a:rPr lang="es-AR" sz="1200" kern="1200" dirty="0" err="1">
                <a:solidFill>
                  <a:schemeClr val="tx1"/>
                </a:solidFill>
                <a:effectLst/>
                <a:latin typeface="+mn-lt"/>
                <a:ea typeface="+mn-ea"/>
                <a:cs typeface="+mn-cs"/>
              </a:rPr>
              <a:t>overfitting</a:t>
            </a:r>
            <a:r>
              <a:rPr lang="es-AR" sz="1200" kern="1200" dirty="0">
                <a:solidFill>
                  <a:schemeClr val="tx1"/>
                </a:solidFill>
                <a:effectLst/>
                <a:latin typeface="+mn-lt"/>
                <a:ea typeface="+mn-ea"/>
                <a:cs typeface="+mn-cs"/>
              </a:rPr>
              <a:t>) en comparación con un solo árbol. Es robusto a la multicolinealidad.</a:t>
            </a:r>
          </a:p>
          <a:p>
            <a:pPr marL="228600" indent="-228600">
              <a:buFont typeface="+mj-lt"/>
              <a:buAutoNum type="arabicPeriod"/>
            </a:pPr>
            <a:endParaRPr lang="es-AR" dirty="0"/>
          </a:p>
          <a:p>
            <a:pPr marL="228600" indent="-228600">
              <a:buFont typeface="+mj-lt"/>
              <a:buAutoNum type="arabicPeriod"/>
            </a:pPr>
            <a:endParaRPr lang="es-AR" dirty="0"/>
          </a:p>
          <a:p>
            <a:pPr marL="228600" indent="-228600">
              <a:buFont typeface="+mj-lt"/>
              <a:buAutoNum type="arabicPeriod"/>
            </a:pPr>
            <a:r>
              <a:rPr lang="es-AR" dirty="0" err="1"/>
              <a:t>XGBoost</a:t>
            </a:r>
            <a:r>
              <a:rPr lang="es-AR" dirty="0"/>
              <a:t>,</a:t>
            </a:r>
            <a:r>
              <a:rPr lang="es-AR" sz="1200" kern="1200" dirty="0">
                <a:solidFill>
                  <a:schemeClr val="tx1"/>
                </a:solidFill>
                <a:effectLst/>
                <a:latin typeface="+mn-lt"/>
                <a:ea typeface="+mn-ea"/>
                <a:cs typeface="+mn-cs"/>
              </a:rPr>
              <a:t> método de ensamble basado en árboles, pero que utiliza la técnica de </a:t>
            </a:r>
            <a:r>
              <a:rPr lang="es-AR" sz="1200" i="1" kern="1200" dirty="0" err="1">
                <a:solidFill>
                  <a:schemeClr val="tx1"/>
                </a:solidFill>
                <a:effectLst/>
                <a:latin typeface="+mn-lt"/>
                <a:ea typeface="+mn-ea"/>
                <a:cs typeface="+mn-cs"/>
              </a:rPr>
              <a:t>Gradient</a:t>
            </a:r>
            <a:r>
              <a:rPr lang="es-AR" sz="1200" i="1" kern="1200" dirty="0">
                <a:solidFill>
                  <a:schemeClr val="tx1"/>
                </a:solidFill>
                <a:effectLst/>
                <a:latin typeface="+mn-lt"/>
                <a:ea typeface="+mn-ea"/>
                <a:cs typeface="+mn-cs"/>
              </a:rPr>
              <a:t> </a:t>
            </a:r>
            <a:r>
              <a:rPr lang="es-AR" sz="1200" i="1" kern="1200" dirty="0" err="1">
                <a:solidFill>
                  <a:schemeClr val="tx1"/>
                </a:solidFill>
                <a:effectLst/>
                <a:latin typeface="+mn-lt"/>
                <a:ea typeface="+mn-ea"/>
                <a:cs typeface="+mn-cs"/>
              </a:rPr>
              <a:t>Boosting</a:t>
            </a:r>
            <a:r>
              <a:rPr lang="es-AR" sz="1200" kern="1200" dirty="0">
                <a:solidFill>
                  <a:schemeClr val="tx1"/>
                </a:solidFill>
                <a:effectLst/>
                <a:latin typeface="+mn-lt"/>
                <a:ea typeface="+mn-ea"/>
                <a:cs typeface="+mn-cs"/>
              </a:rPr>
              <a:t>. Consiste en la construcción de árboles en forma secuencial, donde cada nuevo árbol corrige los errores del anterior. Es altamente eficiente ya que ofrece mecanismos nativos (como el parámetro </a:t>
            </a:r>
            <a:r>
              <a:rPr lang="es-AR" sz="1200" i="1" kern="1200" dirty="0" err="1">
                <a:solidFill>
                  <a:schemeClr val="tx1"/>
                </a:solidFill>
                <a:effectLst/>
                <a:latin typeface="+mn-lt"/>
                <a:ea typeface="+mn-ea"/>
                <a:cs typeface="+mn-cs"/>
              </a:rPr>
              <a:t>scale_pos_weight</a:t>
            </a:r>
            <a:r>
              <a:rPr lang="es-AR" sz="1200" kern="1200" dirty="0">
                <a:solidFill>
                  <a:schemeClr val="tx1"/>
                </a:solidFill>
                <a:effectLst/>
                <a:latin typeface="+mn-lt"/>
                <a:ea typeface="+mn-ea"/>
                <a:cs typeface="+mn-cs"/>
              </a:rPr>
              <a:t>) para gestionar el desbalanceo de clases.</a:t>
            </a:r>
            <a:endParaRPr lang="es-AR" dirty="0"/>
          </a:p>
          <a:p>
            <a:pPr marL="228600" indent="-228600">
              <a:buFont typeface="+mj-lt"/>
              <a:buAutoNum type="arabicPeriod"/>
            </a:pPr>
            <a:endParaRPr lang="es-AR"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s-AR" dirty="0"/>
              <a:t>SVM,</a:t>
            </a:r>
            <a:r>
              <a:rPr lang="es-AR" sz="1200" kern="1200" dirty="0">
                <a:solidFill>
                  <a:schemeClr val="tx1"/>
                </a:solidFill>
                <a:effectLst/>
                <a:latin typeface="+mn-lt"/>
                <a:ea typeface="+mn-ea"/>
                <a:cs typeface="+mn-cs"/>
              </a:rPr>
              <a:t> algoritmo que busca encontrar el hiperplano óptimo que mejor divide un conjunto de datos en clases. Es capaz de manejar relaciones no lineales al mapear los datos a un espacio de mayor dimensión. Es eficaz en espacios dimensionales altos, aunque puede ser sensible al desbalanceo si no se ajusta correctamente.</a:t>
            </a:r>
          </a:p>
          <a:p>
            <a:pPr marL="228600" indent="-228600">
              <a:buFont typeface="+mj-lt"/>
              <a:buAutoNum type="arabicPeriod"/>
            </a:pPr>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23</a:t>
            </a:fld>
            <a:endParaRPr lang="es-AR"/>
          </a:p>
        </p:txBody>
      </p:sp>
    </p:spTree>
    <p:extLst>
      <p:ext uri="{BB962C8B-B14F-4D97-AF65-F5344CB8AC3E}">
        <p14:creationId xmlns:p14="http://schemas.microsoft.com/office/powerpoint/2010/main" val="12916006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División automática de conjuntos de entrenamiento y evaluación con alto grado de desbalance en las clases.</a:t>
            </a:r>
          </a:p>
        </p:txBody>
      </p:sp>
      <p:sp>
        <p:nvSpPr>
          <p:cNvPr id="4" name="Slide Number Placeholder 3"/>
          <p:cNvSpPr>
            <a:spLocks noGrp="1"/>
          </p:cNvSpPr>
          <p:nvPr>
            <p:ph type="sldNum" sz="quarter" idx="5"/>
          </p:nvPr>
        </p:nvSpPr>
        <p:spPr/>
        <p:txBody>
          <a:bodyPr/>
          <a:lstStyle/>
          <a:p>
            <a:fld id="{5E8BD3CD-1211-4D73-8435-E387E60ABEAC}" type="slidenum">
              <a:rPr lang="es-AR" smtClean="0"/>
              <a:t>24</a:t>
            </a:fld>
            <a:endParaRPr lang="es-AR"/>
          </a:p>
        </p:txBody>
      </p:sp>
    </p:spTree>
    <p:extLst>
      <p:ext uri="{BB962C8B-B14F-4D97-AF65-F5344CB8AC3E}">
        <p14:creationId xmlns:p14="http://schemas.microsoft.com/office/powerpoint/2010/main" val="200158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División personalizada de los conjuntos de datos de entrenamiento y evaluación para subsanar el desbalance natural de clases.</a:t>
            </a:r>
          </a:p>
        </p:txBody>
      </p:sp>
      <p:sp>
        <p:nvSpPr>
          <p:cNvPr id="4" name="Slide Number Placeholder 3"/>
          <p:cNvSpPr>
            <a:spLocks noGrp="1"/>
          </p:cNvSpPr>
          <p:nvPr>
            <p:ph type="sldNum" sz="quarter" idx="5"/>
          </p:nvPr>
        </p:nvSpPr>
        <p:spPr/>
        <p:txBody>
          <a:bodyPr/>
          <a:lstStyle/>
          <a:p>
            <a:fld id="{5E8BD3CD-1211-4D73-8435-E387E60ABEAC}" type="slidenum">
              <a:rPr lang="es-AR" smtClean="0"/>
              <a:t>25</a:t>
            </a:fld>
            <a:endParaRPr lang="es-AR"/>
          </a:p>
        </p:txBody>
      </p:sp>
    </p:spTree>
    <p:extLst>
      <p:ext uri="{BB962C8B-B14F-4D97-AF65-F5344CB8AC3E}">
        <p14:creationId xmlns:p14="http://schemas.microsoft.com/office/powerpoint/2010/main" val="3617251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Resultados general: </a:t>
            </a:r>
          </a:p>
          <a:p>
            <a:endParaRPr lang="es-AR" dirty="0"/>
          </a:p>
          <a:p>
            <a:pPr lvl="0"/>
            <a:r>
              <a:rPr lang="es-AR" sz="1200" b="1" kern="1200" dirty="0" err="1">
                <a:solidFill>
                  <a:schemeClr val="tx1"/>
                </a:solidFill>
                <a:effectLst/>
                <a:latin typeface="+mn-lt"/>
                <a:ea typeface="+mn-ea"/>
                <a:cs typeface="+mn-cs"/>
              </a:rPr>
              <a:t>Accuracy</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proporción de predicciones correctas sobre el total de predicciones realizadas. Capacidad del modelo para clasificar correctamente.</a:t>
            </a:r>
          </a:p>
          <a:p>
            <a:pPr lvl="0"/>
            <a:r>
              <a:rPr lang="es-AR" sz="1200" b="1" kern="1200" dirty="0" err="1">
                <a:solidFill>
                  <a:schemeClr val="tx1"/>
                </a:solidFill>
                <a:effectLst/>
                <a:latin typeface="+mn-lt"/>
                <a:ea typeface="+mn-ea"/>
                <a:cs typeface="+mn-cs"/>
              </a:rPr>
              <a:t>Precision</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Proporción de verdaderos positivos en función de todas las predicciones positivas. Confiabilidad del modelo a la hora de predecir positivos verdaderos.</a:t>
            </a:r>
          </a:p>
          <a:p>
            <a:pPr lvl="0"/>
            <a:r>
              <a:rPr lang="es-AR" sz="1200" b="1" kern="1200" dirty="0" err="1">
                <a:solidFill>
                  <a:schemeClr val="tx1"/>
                </a:solidFill>
                <a:effectLst/>
                <a:latin typeface="+mn-lt"/>
                <a:ea typeface="+mn-ea"/>
                <a:cs typeface="+mn-cs"/>
              </a:rPr>
              <a:t>Recall</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Proporción de verdaderos positivos que se han clasificado correctamente. Capacidad del modelo para la detección de casos positivos verdaderos.</a:t>
            </a:r>
          </a:p>
          <a:p>
            <a:pPr lvl="0"/>
            <a:r>
              <a:rPr lang="es-AR" sz="1200" b="1" kern="1200" dirty="0">
                <a:solidFill>
                  <a:schemeClr val="tx1"/>
                </a:solidFill>
                <a:effectLst/>
                <a:latin typeface="+mn-lt"/>
                <a:ea typeface="+mn-ea"/>
                <a:cs typeface="+mn-cs"/>
              </a:rPr>
              <a:t>F1-Score:</a:t>
            </a:r>
            <a:r>
              <a:rPr lang="es-AR" sz="1200" kern="1200" dirty="0">
                <a:solidFill>
                  <a:schemeClr val="tx1"/>
                </a:solidFill>
                <a:effectLst/>
                <a:latin typeface="+mn-lt"/>
                <a:ea typeface="+mn-ea"/>
                <a:cs typeface="+mn-cs"/>
              </a:rPr>
              <a:t> La media entre las dos métricas anteriores. Balance entre la precisión y la capacidad de detección del modelo entrenado.</a:t>
            </a:r>
          </a:p>
          <a:p>
            <a:pPr lvl="0"/>
            <a:r>
              <a:rPr lang="es-AR" sz="1200" b="1" kern="1200" dirty="0" err="1">
                <a:solidFill>
                  <a:schemeClr val="tx1"/>
                </a:solidFill>
                <a:effectLst/>
                <a:latin typeface="+mn-lt"/>
                <a:ea typeface="+mn-ea"/>
                <a:cs typeface="+mn-cs"/>
              </a:rPr>
              <a:t>Balanced</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Accuracy</a:t>
            </a:r>
            <a:r>
              <a:rPr lang="es-AR" sz="1200" b="1" kern="1200" dirty="0">
                <a:solidFill>
                  <a:schemeClr val="tx1"/>
                </a:solidFill>
                <a:effectLst/>
                <a:latin typeface="+mn-lt"/>
                <a:ea typeface="+mn-ea"/>
                <a:cs typeface="+mn-cs"/>
              </a:rPr>
              <a:t> (Exactitud de Balanceo):</a:t>
            </a:r>
            <a:r>
              <a:rPr lang="es-AR" sz="1200" kern="1200" dirty="0">
                <a:solidFill>
                  <a:schemeClr val="tx1"/>
                </a:solidFill>
                <a:effectLst/>
                <a:latin typeface="+mn-lt"/>
                <a:ea typeface="+mn-ea"/>
                <a:cs typeface="+mn-cs"/>
              </a:rPr>
              <a:t> Promedio de </a:t>
            </a:r>
            <a:r>
              <a:rPr lang="es-AR" sz="1200" kern="1200" dirty="0" err="1">
                <a:solidFill>
                  <a:schemeClr val="tx1"/>
                </a:solidFill>
                <a:effectLst/>
                <a:latin typeface="+mn-lt"/>
                <a:ea typeface="+mn-ea"/>
                <a:cs typeface="+mn-cs"/>
              </a:rPr>
              <a:t>Recall</a:t>
            </a:r>
            <a:r>
              <a:rPr lang="es-AR" sz="1200" kern="1200" dirty="0">
                <a:solidFill>
                  <a:schemeClr val="tx1"/>
                </a:solidFill>
                <a:effectLst/>
                <a:latin typeface="+mn-lt"/>
                <a:ea typeface="+mn-ea"/>
                <a:cs typeface="+mn-cs"/>
              </a:rPr>
              <a:t> (tasa de verdaderos positivos) y especificidad (verdaderos negativos) obtenido en cada clase. Es una métrica robusta para evaluar el rendimiento general en escenarios con desbalanceo</a:t>
            </a:r>
          </a:p>
          <a:p>
            <a:endParaRPr lang="es-AR" dirty="0"/>
          </a:p>
          <a:p>
            <a:r>
              <a:rPr lang="es-AR" dirty="0" err="1"/>
              <a:t>Random</a:t>
            </a:r>
            <a:r>
              <a:rPr lang="es-AR" dirty="0"/>
              <a:t> Forest:</a:t>
            </a:r>
          </a:p>
          <a:p>
            <a:pPr marL="171450" indent="-171450">
              <a:buFont typeface="Arial" panose="020B0604020202020204" pitchFamily="34" charset="0"/>
              <a:buChar char="•"/>
            </a:pPr>
            <a:r>
              <a:rPr lang="es-AR" dirty="0"/>
              <a:t>El más robusto, F1 Score al 75%.</a:t>
            </a:r>
          </a:p>
          <a:p>
            <a:pPr marL="171450" indent="-171450">
              <a:buFont typeface="Arial" panose="020B0604020202020204" pitchFamily="34" charset="0"/>
              <a:buChar char="•"/>
            </a:pPr>
            <a:r>
              <a:rPr lang="es-AR" dirty="0" err="1"/>
              <a:t>Presición</a:t>
            </a:r>
            <a:r>
              <a:rPr lang="es-AR" dirty="0"/>
              <a:t> del 60% no es propenso a generar falsos positivos.</a:t>
            </a:r>
          </a:p>
          <a:p>
            <a:pPr marL="171450" indent="-171450">
              <a:buFont typeface="Arial" panose="020B0604020202020204" pitchFamily="34" charset="0"/>
              <a:buChar char="•"/>
            </a:pPr>
            <a:r>
              <a:rPr lang="es-AR" dirty="0" err="1"/>
              <a:t>Recall</a:t>
            </a:r>
            <a:r>
              <a:rPr lang="es-AR" dirty="0"/>
              <a:t> de 100% pudiendo identificar todos los casos positivos reales del conjunto.</a:t>
            </a:r>
          </a:p>
          <a:p>
            <a:pPr marL="171450" indent="-171450">
              <a:buFont typeface="Arial" panose="020B0604020202020204" pitchFamily="34" charset="0"/>
              <a:buChar char="•"/>
            </a:pPr>
            <a:r>
              <a:rPr lang="es-AR" dirty="0" err="1"/>
              <a:t>Accuracy</a:t>
            </a:r>
            <a:r>
              <a:rPr lang="es-AR" dirty="0"/>
              <a:t> alto dado que demuestra precisión en identificar la clase de no incendio.</a:t>
            </a:r>
          </a:p>
          <a:p>
            <a:pPr marL="171450" indent="-171450">
              <a:buFont typeface="Arial" panose="020B0604020202020204" pitchFamily="34" charset="0"/>
              <a:buChar char="•"/>
            </a:pPr>
            <a:endParaRPr lang="es-AR" dirty="0"/>
          </a:p>
          <a:p>
            <a:pPr marL="0" indent="0">
              <a:buFont typeface="Arial" panose="020B0604020202020204" pitchFamily="34" charset="0"/>
              <a:buNone/>
            </a:pPr>
            <a:r>
              <a:rPr lang="es-AR" dirty="0" err="1"/>
              <a:t>Xgboost</a:t>
            </a:r>
            <a:r>
              <a:rPr lang="es-AR" dirty="0"/>
              <a:t>:</a:t>
            </a:r>
          </a:p>
          <a:p>
            <a:pPr marL="171450" indent="-171450">
              <a:buFont typeface="Arial" panose="020B0604020202020204" pitchFamily="34" charset="0"/>
              <a:buChar char="•"/>
            </a:pPr>
            <a:r>
              <a:rPr lang="es-AR" dirty="0"/>
              <a:t>Caída considerable de F1 Score al casi 14%</a:t>
            </a:r>
          </a:p>
          <a:p>
            <a:pPr marL="171450" indent="-171450">
              <a:buFont typeface="Arial" panose="020B0604020202020204" pitchFamily="34" charset="0"/>
              <a:buChar char="•"/>
            </a:pPr>
            <a:r>
              <a:rPr lang="es-AR" dirty="0"/>
              <a:t>Precisión baja con alta detección de falsos positivos.</a:t>
            </a:r>
          </a:p>
          <a:p>
            <a:pPr marL="171450" indent="-171450">
              <a:buFont typeface="Arial" panose="020B0604020202020204" pitchFamily="34" charset="0"/>
              <a:buChar char="•"/>
            </a:pPr>
            <a:r>
              <a:rPr lang="es-AR" dirty="0" err="1"/>
              <a:t>Recall</a:t>
            </a:r>
            <a:r>
              <a:rPr lang="es-AR" dirty="0"/>
              <a:t> de 100% pudiendo identificar todos los casos positivos reales del conjunto.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err="1"/>
              <a:t>Accuracy</a:t>
            </a:r>
            <a:r>
              <a:rPr lang="es-AR" dirty="0"/>
              <a:t> alto dado que demuestra precisión en identificar la clase de no incendio.</a:t>
            </a:r>
          </a:p>
          <a:p>
            <a:pPr marL="171450" indent="-171450">
              <a:buFont typeface="Arial" panose="020B0604020202020204" pitchFamily="34" charset="0"/>
              <a:buChar char="•"/>
            </a:pPr>
            <a:endParaRPr lang="es-AR"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AR" dirty="0"/>
              <a:t>SVM: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a:t>El modelo no muestra ser apto para el escenario, todas las métricas en cero.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a:t>Imposibilidad de detectar los casos reales positivos y mucho menos predecir.</a:t>
            </a:r>
          </a:p>
          <a:p>
            <a:pPr marL="0" indent="0">
              <a:buFont typeface="Arial" panose="020B0604020202020204" pitchFamily="34" charset="0"/>
              <a:buNone/>
            </a:pPr>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26</a:t>
            </a:fld>
            <a:endParaRPr lang="es-AR"/>
          </a:p>
        </p:txBody>
      </p:sp>
    </p:spTree>
    <p:extLst>
      <p:ext uri="{BB962C8B-B14F-4D97-AF65-F5344CB8AC3E}">
        <p14:creationId xmlns:p14="http://schemas.microsoft.com/office/powerpoint/2010/main" val="1458511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Resultados general: </a:t>
            </a:r>
          </a:p>
          <a:p>
            <a:endParaRPr lang="es-AR" dirty="0"/>
          </a:p>
          <a:p>
            <a:r>
              <a:rPr lang="es-AR" dirty="0"/>
              <a:t>TENER EN CUENTA QUE </a:t>
            </a:r>
            <a:r>
              <a:rPr lang="es-AR" b="1" dirty="0"/>
              <a:t>SÓLO HABÍA 3 CASOS POSITIVOS</a:t>
            </a:r>
            <a:r>
              <a:rPr lang="es-AR" dirty="0"/>
              <a:t> EN EL CONJUNTO DE EVALUACIÓN</a:t>
            </a:r>
          </a:p>
          <a:p>
            <a:pPr marL="0" indent="0">
              <a:buFont typeface="Arial" panose="020B0604020202020204" pitchFamily="34" charset="0"/>
              <a:buNone/>
            </a:pPr>
            <a:endParaRPr lang="es-AR" dirty="0"/>
          </a:p>
          <a:p>
            <a:pPr marL="0" indent="0">
              <a:buFont typeface="Arial" panose="020B0604020202020204" pitchFamily="34" charset="0"/>
              <a:buNone/>
            </a:pPr>
            <a:r>
              <a:rPr lang="es-AR" dirty="0" err="1"/>
              <a:t>Xgboost</a:t>
            </a:r>
            <a:r>
              <a:rPr lang="es-AR" dirty="0"/>
              <a:t>:</a:t>
            </a:r>
          </a:p>
          <a:p>
            <a:pPr marL="171450" indent="-171450">
              <a:buFont typeface="Arial" panose="020B0604020202020204" pitchFamily="34" charset="0"/>
              <a:buChar char="•"/>
            </a:pPr>
            <a:r>
              <a:rPr lang="es-AR" dirty="0"/>
              <a:t>Caída considerable de F1 Score al casi 14%</a:t>
            </a:r>
          </a:p>
          <a:p>
            <a:pPr marL="171450" indent="-171450">
              <a:buFont typeface="Arial" panose="020B0604020202020204" pitchFamily="34" charset="0"/>
              <a:buChar char="•"/>
            </a:pPr>
            <a:r>
              <a:rPr lang="es-AR" dirty="0"/>
              <a:t>Precisión baja con alta detección de falsos positivos.</a:t>
            </a:r>
          </a:p>
          <a:p>
            <a:pPr marL="171450" indent="-171450">
              <a:buFont typeface="Arial" panose="020B0604020202020204" pitchFamily="34" charset="0"/>
              <a:buChar char="•"/>
            </a:pPr>
            <a:r>
              <a:rPr lang="es-AR" dirty="0" err="1"/>
              <a:t>Recall</a:t>
            </a:r>
            <a:r>
              <a:rPr lang="es-AR" dirty="0"/>
              <a:t> de 100% pudiendo identificar todos los casos positivos reales del conjunto.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err="1"/>
              <a:t>Accuracy</a:t>
            </a:r>
            <a:r>
              <a:rPr lang="es-AR" dirty="0"/>
              <a:t> alto dado que demuestra precisión en identificar la clase de no incendio.</a:t>
            </a: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27</a:t>
            </a:fld>
            <a:endParaRPr lang="es-AR"/>
          </a:p>
        </p:txBody>
      </p:sp>
    </p:spTree>
    <p:extLst>
      <p:ext uri="{BB962C8B-B14F-4D97-AF65-F5344CB8AC3E}">
        <p14:creationId xmlns:p14="http://schemas.microsoft.com/office/powerpoint/2010/main" val="2106406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Resultados general: </a:t>
            </a:r>
          </a:p>
          <a:p>
            <a:endParaRPr lang="es-AR" dirty="0"/>
          </a:p>
          <a:p>
            <a:r>
              <a:rPr lang="es-AR" dirty="0"/>
              <a:t>TENER EN CUENTA QUE </a:t>
            </a:r>
            <a:r>
              <a:rPr lang="es-AR" b="1" dirty="0"/>
              <a:t>SÓLO HABÍA 3 CASOS POSITIVOS</a:t>
            </a:r>
            <a:r>
              <a:rPr lang="es-AR" dirty="0"/>
              <a:t> EN EL CONJUNTO DE EVALUACIÓN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AR"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AR" dirty="0"/>
              <a:t>SVM: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a:t>El modelo no muestra ser apto para el escenario, todas las métricas en cero.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dirty="0"/>
              <a:t>Imposibilidad de detectar los casos reales positivos y mucho menos predecir.</a:t>
            </a: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28</a:t>
            </a:fld>
            <a:endParaRPr lang="es-AR"/>
          </a:p>
        </p:txBody>
      </p:sp>
    </p:spTree>
    <p:extLst>
      <p:ext uri="{BB962C8B-B14F-4D97-AF65-F5344CB8AC3E}">
        <p14:creationId xmlns:p14="http://schemas.microsoft.com/office/powerpoint/2010/main" val="1997841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dirty="0"/>
              <a:t>Resultados general:</a:t>
            </a:r>
          </a:p>
          <a:p>
            <a:endParaRPr lang="es-AR"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TENER EN CUENTA QUE </a:t>
            </a:r>
            <a:r>
              <a:rPr lang="es-AR" sz="1200" kern="1200" dirty="0">
                <a:solidFill>
                  <a:schemeClr val="tx1"/>
                </a:solidFill>
                <a:effectLst/>
                <a:latin typeface="+mn-lt"/>
                <a:ea typeface="+mn-ea"/>
                <a:cs typeface="+mn-cs"/>
              </a:rPr>
              <a:t>Si bien se manipuló el conjunto de entrenamiento para hacer frente al problema de desbalance en las clases, la distribución en el conjunto de evaluación sigue siendo severo.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AR" sz="1200" kern="1200" dirty="0" err="1">
                <a:solidFill>
                  <a:schemeClr val="tx1"/>
                </a:solidFill>
                <a:effectLst/>
                <a:latin typeface="+mn-lt"/>
                <a:ea typeface="+mn-ea"/>
                <a:cs typeface="+mn-cs"/>
              </a:rPr>
              <a:t>Random</a:t>
            </a:r>
            <a:r>
              <a:rPr lang="es-AR" sz="1200" kern="1200" dirty="0">
                <a:solidFill>
                  <a:schemeClr val="tx1"/>
                </a:solidFill>
                <a:effectLst/>
                <a:latin typeface="+mn-lt"/>
                <a:ea typeface="+mn-ea"/>
                <a:cs typeface="+mn-cs"/>
              </a:rPr>
              <a:t> Forest y </a:t>
            </a:r>
            <a:r>
              <a:rPr lang="es-AR" sz="1200" kern="1200" dirty="0" err="1">
                <a:solidFill>
                  <a:schemeClr val="tx1"/>
                </a:solidFill>
                <a:effectLst/>
                <a:latin typeface="+mn-lt"/>
                <a:ea typeface="+mn-ea"/>
                <a:cs typeface="+mn-cs"/>
              </a:rPr>
              <a:t>XGBoost</a:t>
            </a:r>
            <a:r>
              <a:rPr lang="es-AR" sz="120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Muy similar al resultado de </a:t>
            </a:r>
            <a:r>
              <a:rPr lang="es-AR" sz="1200" kern="1200" dirty="0" err="1">
                <a:solidFill>
                  <a:schemeClr val="tx1"/>
                </a:solidFill>
                <a:effectLst/>
                <a:latin typeface="+mn-lt"/>
                <a:ea typeface="+mn-ea"/>
                <a:cs typeface="+mn-cs"/>
              </a:rPr>
              <a:t>Xgboost</a:t>
            </a:r>
            <a:endParaRPr lang="es-AR"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Ambos priorizan la detección de focos, podría decirse que su entrenamiento los dejo muy “agresivos”.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Poseen </a:t>
            </a:r>
            <a:r>
              <a:rPr lang="es-AR" sz="1200" kern="1200" dirty="0" err="1">
                <a:solidFill>
                  <a:schemeClr val="tx1"/>
                </a:solidFill>
                <a:effectLst/>
                <a:latin typeface="+mn-lt"/>
                <a:ea typeface="+mn-ea"/>
                <a:cs typeface="+mn-cs"/>
              </a:rPr>
              <a:t>Recall</a:t>
            </a:r>
            <a:r>
              <a:rPr lang="es-AR" sz="1200" kern="1200" dirty="0">
                <a:solidFill>
                  <a:schemeClr val="tx1"/>
                </a:solidFill>
                <a:effectLst/>
                <a:latin typeface="+mn-lt"/>
                <a:ea typeface="+mn-ea"/>
                <a:cs typeface="+mn-cs"/>
              </a:rPr>
              <a:t> por encima del 50% identificando más de la mitad de casos positivos reales.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Esto se ve eclipsado por su </a:t>
            </a:r>
            <a:r>
              <a:rPr lang="es-AR" sz="1200" kern="1200" dirty="0" err="1">
                <a:solidFill>
                  <a:schemeClr val="tx1"/>
                </a:solidFill>
                <a:effectLst/>
                <a:latin typeface="+mn-lt"/>
                <a:ea typeface="+mn-ea"/>
                <a:cs typeface="+mn-cs"/>
              </a:rPr>
              <a:t>Precision</a:t>
            </a:r>
            <a:r>
              <a:rPr lang="es-AR" sz="1200" kern="1200" dirty="0">
                <a:solidFill>
                  <a:schemeClr val="tx1"/>
                </a:solidFill>
                <a:effectLst/>
                <a:latin typeface="+mn-lt"/>
                <a:ea typeface="+mn-ea"/>
                <a:cs typeface="+mn-cs"/>
              </a:rPr>
              <a:t> bajo, la cantidad de falsos positivos generados es exagerada.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err="1">
                <a:solidFill>
                  <a:schemeClr val="tx1"/>
                </a:solidFill>
                <a:effectLst/>
                <a:latin typeface="+mn-lt"/>
                <a:ea typeface="+mn-ea"/>
                <a:cs typeface="+mn-cs"/>
              </a:rPr>
              <a:t>Random</a:t>
            </a:r>
            <a:r>
              <a:rPr lang="es-AR" sz="1200" kern="1200" dirty="0">
                <a:solidFill>
                  <a:schemeClr val="tx1"/>
                </a:solidFill>
                <a:effectLst/>
                <a:latin typeface="+mn-lt"/>
                <a:ea typeface="+mn-ea"/>
                <a:cs typeface="+mn-cs"/>
              </a:rPr>
              <a:t> Forest, en función del </a:t>
            </a:r>
            <a:r>
              <a:rPr lang="es-AR" sz="1200" kern="1200" dirty="0" err="1">
                <a:solidFill>
                  <a:schemeClr val="tx1"/>
                </a:solidFill>
                <a:effectLst/>
                <a:latin typeface="+mn-lt"/>
                <a:ea typeface="+mn-ea"/>
                <a:cs typeface="+mn-cs"/>
              </a:rPr>
              <a:t>accuracy</a:t>
            </a:r>
            <a:r>
              <a:rPr lang="es-AR" sz="1200" kern="1200" dirty="0">
                <a:solidFill>
                  <a:schemeClr val="tx1"/>
                </a:solidFill>
                <a:effectLst/>
                <a:latin typeface="+mn-lt"/>
                <a:ea typeface="+mn-ea"/>
                <a:cs typeface="+mn-cs"/>
              </a:rPr>
              <a:t> balanceado, es el más equilibrado y de mejor desempeño.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AR" sz="1200" kern="1200" dirty="0">
                <a:solidFill>
                  <a:schemeClr val="tx1"/>
                </a:solidFill>
                <a:effectLst/>
                <a:latin typeface="+mn-lt"/>
                <a:ea typeface="+mn-ea"/>
                <a:cs typeface="+mn-cs"/>
              </a:rPr>
              <a:t>SVM: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Mejoro el resultado respecto al escenario anterior.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En relación a la detección de falsos negativos es el que mejor resultados dio.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AR" sz="1200" kern="1200" dirty="0">
                <a:solidFill>
                  <a:schemeClr val="tx1"/>
                </a:solidFill>
                <a:effectLst/>
                <a:latin typeface="+mn-lt"/>
                <a:ea typeface="+mn-ea"/>
                <a:cs typeface="+mn-cs"/>
              </a:rPr>
              <a:t>Sin embargo, el </a:t>
            </a:r>
            <a:r>
              <a:rPr lang="es-AR" sz="1200" kern="1200" dirty="0" err="1">
                <a:solidFill>
                  <a:schemeClr val="tx1"/>
                </a:solidFill>
                <a:effectLst/>
                <a:latin typeface="+mn-lt"/>
                <a:ea typeface="+mn-ea"/>
                <a:cs typeface="+mn-cs"/>
              </a:rPr>
              <a:t>Recall</a:t>
            </a:r>
            <a:r>
              <a:rPr lang="es-AR" sz="1200" kern="1200" dirty="0">
                <a:solidFill>
                  <a:schemeClr val="tx1"/>
                </a:solidFill>
                <a:effectLst/>
                <a:latin typeface="+mn-lt"/>
                <a:ea typeface="+mn-ea"/>
                <a:cs typeface="+mn-cs"/>
              </a:rPr>
              <a:t> es el más bajo, evidenciando su falla en detectar casos reales, positivos.</a:t>
            </a:r>
          </a:p>
          <a:p>
            <a:endParaRPr lang="es-AR" dirty="0"/>
          </a:p>
        </p:txBody>
      </p:sp>
      <p:sp>
        <p:nvSpPr>
          <p:cNvPr id="4" name="Slide Number Placeholder 3"/>
          <p:cNvSpPr>
            <a:spLocks noGrp="1"/>
          </p:cNvSpPr>
          <p:nvPr>
            <p:ph type="sldNum" sz="quarter" idx="5"/>
          </p:nvPr>
        </p:nvSpPr>
        <p:spPr/>
        <p:txBody>
          <a:bodyPr/>
          <a:lstStyle/>
          <a:p>
            <a:fld id="{5E8BD3CD-1211-4D73-8435-E387E60ABEAC}" type="slidenum">
              <a:rPr lang="es-AR" smtClean="0"/>
              <a:t>29</a:t>
            </a:fld>
            <a:endParaRPr lang="es-AR"/>
          </a:p>
        </p:txBody>
      </p:sp>
    </p:spTree>
    <p:extLst>
      <p:ext uri="{BB962C8B-B14F-4D97-AF65-F5344CB8AC3E}">
        <p14:creationId xmlns:p14="http://schemas.microsoft.com/office/powerpoint/2010/main" val="25790088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p:nvSpPr>
        <p:spPr>
          <a:xfrm>
            <a:off x="-1" y="0"/>
            <a:ext cx="1219200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1F71E75-F7A2-7C1F-EF86-C5186E904883}"/>
              </a:ext>
            </a:extLst>
          </p:cNvPr>
          <p:cNvSpPr/>
          <p:nvPr/>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AB4E0A7-C9D3-8408-2EE0-E46AF38E815F}"/>
              </a:ext>
            </a:extLst>
          </p:cNvPr>
          <p:cNvSpPr/>
          <p:nvPr/>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73CB42-010B-9ABE-75EF-F502B4A9F42C}"/>
              </a:ext>
            </a:extLst>
          </p:cNvPr>
          <p:cNvSpPr/>
          <p:nvPr/>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lvl1pPr>
              <a:defRPr>
                <a:solidFill>
                  <a:schemeClr val="bg1"/>
                </a:solidFill>
              </a:defRPr>
            </a:lvl1pPr>
          </a:lstStyle>
          <a:p>
            <a:fld id="{D29CF56E-D922-4450-9794-8B0E1451F6EB}" type="datetime1">
              <a:rPr lang="en-US" smtClean="0"/>
              <a:t>11/27/2025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lvl1pPr>
              <a:defRPr>
                <a:solidFill>
                  <a:schemeClr val="bg1"/>
                </a:solidFill>
              </a:defRPr>
            </a:lvl1p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dpi="0" rotWithShape="1">
            <a:blip r:embed="rId2">
              <a:alphaModFix amt="70000"/>
            </a:blip>
            <a:srcRect/>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66157353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95528"/>
          </a:xfrm>
        </p:spPr>
        <p:txBody>
          <a:bodyPr/>
          <a:lstStyle>
            <a:lvl1pPr>
              <a:defRPr>
                <a:gradFill>
                  <a:gsLst>
                    <a:gs pos="0">
                      <a:schemeClr val="accent5"/>
                    </a:gs>
                    <a:gs pos="100000">
                      <a:schemeClr val="accent2"/>
                    </a:gs>
                  </a:gsLst>
                  <a:lin ang="13800000" scaled="0"/>
                </a:gra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pPr algn="l"/>
            <a:r>
              <a:rPr lang="en-US"/>
              <a:t>Sample Footer Text</a:t>
            </a:r>
            <a:endParaRPr lang="en-US" dirty="0"/>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CBE1C96F-46D7-47BB-8945-9667BCB4F5BB}" type="datetime1">
              <a:rPr lang="en-US" smtClean="0"/>
              <a:t>11/27/2025</a:t>
            </a:fld>
            <a:endParaRPr lang="en-US" dirty="0"/>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9276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A6379DD5-AE65-4D02-9BCE-257CC17A63B7}" type="datetime1">
              <a:rPr lang="en-US" smtClean="0"/>
              <a:t>11/27/2025</a:t>
            </a:fld>
            <a:endParaRPr lang="en-US" dirty="0"/>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31213775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9DFFF819-4E26-4576-8A6D-DA055CFF682A}" type="datetime1">
              <a:rPr lang="en-US" smtClean="0"/>
              <a:t>11/27/2025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85848284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2602ACF4-9E47-4D03-8EA6-1CE7E20F9165}" type="datetime1">
              <a:rPr lang="en-US" smtClean="0"/>
              <a:t>11/27/2025</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9529127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FABB9A-1B5B-9306-B7B9-58E4E5E4EE0D}"/>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F155489-796B-CDF9-06C2-583941E589F7}"/>
              </a:ext>
            </a:extLst>
          </p:cNvPr>
          <p:cNvGrpSpPr/>
          <p:nvPr/>
        </p:nvGrpSpPr>
        <p:grpSpPr>
          <a:xfrm>
            <a:off x="0" y="0"/>
            <a:ext cx="12192000" cy="6867144"/>
            <a:chOff x="0" y="-7622"/>
            <a:chExt cx="12192000" cy="6894986"/>
          </a:xfrm>
        </p:grpSpPr>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6FE184C5-789F-C980-F425-AF26045C8F03}"/>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88000"/>
                  </a:schemeClr>
                </a:gs>
                <a:gs pos="56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anchor="b" anchorCtr="0">
            <a:normAutofit/>
          </a:bodyPr>
          <a:lstStyle>
            <a:lvl1pPr algn="ctr">
              <a:defRPr sz="4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p:txBody>
          <a:bodyPr/>
          <a:lstStyle>
            <a:lvl1pPr>
              <a:defRPr>
                <a:solidFill>
                  <a:schemeClr val="bg1"/>
                </a:solidFill>
              </a:defRPr>
            </a:lvl1pPr>
          </a:lstStyle>
          <a:p>
            <a:fld id="{3A82B809-8BB3-463C-8B5E-28962B4654D8}" type="datetime1">
              <a:rPr lang="en-US" smtClean="0"/>
              <a:t>11/27/2025</a:t>
            </a:fld>
            <a:endParaRPr lang="en-US" dirty="0"/>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07005441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2DB8F537-5E0E-4697-8198-FDF0E53F372F}" type="datetime1">
              <a:rPr lang="en-US" smtClean="0"/>
              <a:t>11/27/2025</a:t>
            </a:fld>
            <a:endParaRPr lang="en-US" dirty="0"/>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46119004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6999" y="-2667000"/>
            <a:ext cx="6857999"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bg1"/>
                </a:solidFill>
              </a:defRPr>
            </a:lvl1pPr>
          </a:lstStyle>
          <a:p>
            <a:fld id="{1D4E7D34-A495-4E23-B1D1-F5D651D22AFE}" type="datetime1">
              <a:rPr lang="en-US" smtClean="0"/>
              <a:t>11/27/2025</a:t>
            </a:fld>
            <a:endParaRPr lang="en-US" dirty="0"/>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782605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7" y="2093976"/>
            <a:ext cx="7271895"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pPr algn="l"/>
            <a:r>
              <a:rPr lang="en-US" dirty="0"/>
              <a:t>Sample Footer Text</a:t>
            </a:r>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85976A96-D1F6-4A74-B023-FDE16753EDD7}" type="datetime1">
              <a:rPr lang="en-US" smtClean="0"/>
              <a:t>11/27/2025</a:t>
            </a:fld>
            <a:endParaRPr lang="en-US" dirty="0"/>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2577075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62822" y="-2671180"/>
            <a:ext cx="6866356"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5"/>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vert="horz" lIns="91440" tIns="45720" rIns="91440" bIns="45720" rtlCol="0" anchor="b">
            <a:normAutofit/>
          </a:bodyPr>
          <a:lstStyle>
            <a:lvl1pPr>
              <a:defRPr lang="en-US" sz="6600" dirty="0">
                <a:solidFill>
                  <a:schemeClr val="bg1"/>
                </a:solidFill>
              </a:defRPr>
            </a:lvl1pPr>
          </a:lstStyle>
          <a:p>
            <a:pPr lvl="0"/>
            <a:r>
              <a:rPr lang="en-US" dirty="0"/>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bg1"/>
                </a:solidFill>
              </a:defRPr>
            </a:lvl1pPr>
          </a:lstStyle>
          <a:p>
            <a:fld id="{9C5C1F80-0989-4135-BEC0-53996BCA1D73}" type="datetime1">
              <a:rPr lang="en-US" smtClean="0"/>
              <a:t>11/27/2025</a:t>
            </a:fld>
            <a:endParaRPr lang="en-US" dirty="0"/>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2064214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pPr algn="l"/>
            <a:r>
              <a:rPr lang="en-US" dirty="0"/>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2B346B3B-D23C-46FC-82B4-EC936862EBB6}" type="datetime1">
              <a:rPr lang="en-US" smtClean="0"/>
              <a:t>11/27/2025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9283117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dirty="0"/>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pPr algn="l"/>
            <a:r>
              <a:rPr lang="en-US" dirty="0"/>
              <a:t>Sample Footer Text</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11039C6F-01AE-405F-93D2-431591D79461}" type="datetime1">
              <a:rPr lang="en-US" smtClean="0"/>
              <a:t>11/27/2025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43866053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pPr algn="l"/>
            <a:r>
              <a:rPr lang="en-US" dirty="0"/>
              <a:t>Sample Footer Text</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6AE82713-2685-4CB9-BD26-DD329F3C67A6}" type="datetime1">
              <a:rPr lang="en-US" smtClean="0"/>
              <a:t>11/27/2025</a:t>
            </a:fld>
            <a:endParaRPr lang="en-US" dirty="0"/>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86791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957926B3-CA5D-44FB-BC2D-6B05FBB97B04}" type="datetime1">
              <a:rPr lang="en-US" smtClean="0"/>
              <a:t>11/27/2025</a:t>
            </a:fld>
            <a:endParaRPr lang="en-US" dirty="0"/>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690590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pPr algn="l"/>
            <a:r>
              <a:rPr lang="en-US" dirty="0"/>
              <a:t>Sample Footer Text</a:t>
            </a:r>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7E009212-C305-41EC-8687-C39B36C09AF0}" type="datetime1">
              <a:rPr lang="en-US" smtClean="0"/>
              <a:t>11/27/2025</a:t>
            </a:fld>
            <a:endParaRPr lang="en-US" dirty="0"/>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3777344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CD886C8-FB0E-44DB-9413-26C9933623BA}" type="datetime1">
              <a:rPr lang="en-US" smtClean="0"/>
              <a:t>11/27/2025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78834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78A6864-E7E2-494F-A90A-ECC53613C6EC}" type="datetime1">
              <a:rPr lang="en-US" smtClean="0"/>
              <a:t>11/27/2025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493384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F4ED686-7864-484B-8047-F06E855FD995}" type="datetime1">
              <a:rPr lang="en-US" smtClean="0"/>
              <a:t>11/27/2025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0715037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B8F8C76-8E31-4D47-BC79-85F35E81929B}" type="datetime1">
              <a:rPr lang="en-US" smtClean="0"/>
              <a:t>11/27/2025</a:t>
            </a:fld>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855394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85640267-1344-46BE-B105-162E68855468}" type="datetime1">
              <a:rPr lang="en-US" smtClean="0"/>
              <a:t>11/27/2025</a:t>
            </a:fld>
            <a:endParaRPr lang="en-US" dirty="0"/>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912844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dirty="0"/>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1C45E567-307A-4358-87B7-AFD16C4C07D5}" type="datetime1">
              <a:rPr lang="en-US" smtClean="0"/>
              <a:t>11/27/2025</a:t>
            </a:fld>
            <a:endParaRPr lang="en-US" dirty="0"/>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18848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E016730A-3443-4D7F-BC47-3A3CDB3837FC}" type="datetime1">
              <a:rPr lang="en-US" smtClean="0"/>
              <a:t>11/27/2025</a:t>
            </a:fld>
            <a:endParaRPr lang="en-US" dirty="0"/>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a:blip r:embed="rId2">
              <a:alphaModFix amt="60000"/>
            </a:blip>
            <a:stretch>
              <a:fillRect/>
            </a:stretch>
          </a:blipFill>
        </p:spPr>
        <p:txBody>
          <a:bodyPr/>
          <a:lstStyle>
            <a:lvl1pPr marL="0" indent="0">
              <a:buNone/>
              <a:defRPr/>
            </a:lvl1pPr>
          </a:lstStyle>
          <a:p>
            <a:r>
              <a:rPr lang="en-US" dirty="0"/>
              <a:t>.</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661088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D9193AC5-F257-4C01-8A7B-A4CD87F22F04}" type="datetime1">
              <a:rPr lang="en-US" smtClean="0"/>
              <a:t>11/27/2025</a:t>
            </a:fld>
            <a:endParaRPr lang="en-US" dirty="0"/>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722204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A64EBB10-E93E-4729-97C4-FAB8DF4548E2}" type="datetime1">
              <a:rPr lang="en-US" smtClean="0"/>
              <a:t>11/27/2025</a:t>
            </a:fld>
            <a:endParaRPr lang="en-US" dirty="0"/>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CC057153-B650-4DEB-B370-79DDCFDCE934}" type="slidenum">
              <a:rPr lang="en-US" smtClean="0"/>
              <a:pPr/>
              <a:t>‹Nº›</a:t>
            </a:fld>
            <a:endParaRPr lang="en-US" dirty="0"/>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7281391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7040DD2C-7FC6-41A9-87A2-29E4EDD4A815}" type="datetime1">
              <a:rPr lang="en-US" smtClean="0"/>
              <a:t>11/27/2025</a:t>
            </a:fld>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CC057153-B650-4DEB-B370-79DDCFDCE934}" type="slidenum">
              <a:rPr lang="en-US" smtClean="0"/>
              <a:pPr/>
              <a:t>‹Nº›</a:t>
            </a:fld>
            <a:endParaRPr lang="en-US" dirty="0"/>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2095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dirty="0"/>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r>
              <a:rPr lang="en-US" dirty="0"/>
              <a:t>Sample Footer Text</a:t>
            </a:r>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C8E3A8ED-7C53-48B7-8E07-F767A8357B67}" type="datetime1">
              <a:rPr lang="en-US" smtClean="0"/>
              <a:t>11/27/2025</a:t>
            </a:fld>
            <a:endParaRPr lang="en-US" dirty="0"/>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865314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dirty="0"/>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81AC3B39-0D1D-4C0E-BE8E-C570B18D6B3B}" type="datetime1">
              <a:rPr lang="en-US" smtClean="0"/>
              <a:t>11/27/2025</a:t>
            </a:fld>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629278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0780F3AB-C899-4854-A4A4-B2E20F203358}" type="datetime1">
              <a:rPr lang="en-US" smtClean="0"/>
              <a:t>11/27/2025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CC057153-B650-4DEB-B370-79DDCFDCE934}" type="slidenum">
              <a:rPr lang="en-US" smtClean="0"/>
              <a:t>‹Nº›</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14231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1095A040-388D-41D5-A09F-3EC1A1D097A8}" type="datetime1">
              <a:rPr lang="en-US" smtClean="0"/>
              <a:t>11/27/2025</a:t>
            </a:fld>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963226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anchor="t">
            <a:normAutofit/>
          </a:bodyPr>
          <a:lstStyle>
            <a:lvl1pPr>
              <a:defRPr sz="3200"/>
            </a:lvl1pPr>
          </a:lstStyle>
          <a:p>
            <a:r>
              <a:rPr lang="en-US" dirty="0"/>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CB542C-378A-4AAF-83EE-A3767FF83605}" type="datetime1">
              <a:rPr lang="en-US" smtClean="0"/>
              <a:t>11/27/2025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229581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r>
              <a:rPr lang="en-US"/>
              <a:t>Sample Footer Text</a:t>
            </a:r>
            <a:endParaRPr lang="en-US" dirty="0"/>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16C6F251-EB74-4ADA-AD63-D85EC3A9D616}" type="datetime1">
              <a:rPr lang="en-US" smtClean="0"/>
              <a:t>11/27/2025</a:t>
            </a:fld>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561306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7015248" cy="4489704"/>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8252735" y="1801367"/>
            <a:ext cx="3314425" cy="448970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7305F46D-792E-48B7-9047-8A1672515077}" type="datetime1">
              <a:rPr lang="en-US" smtClean="0"/>
              <a:t>11/27/2025</a:t>
            </a:fld>
            <a:endParaRPr lang="en-US" dirty="0"/>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6568244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r>
              <a:rPr lang="en-US"/>
              <a:t>Sample Footer Text</a:t>
            </a:r>
            <a:endParaRPr lang="en-US" dirty="0"/>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8B53D3FE-D727-4B50-874D-41D5E635B20A}" type="datetime1">
              <a:rPr lang="en-US" smtClean="0"/>
              <a:t>11/27/2025</a:t>
            </a:fld>
            <a:endParaRPr lang="en-US" dirty="0"/>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9079590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FE942071-3A2D-4B86-82F9-428DB212BAF8}" type="datetime1">
              <a:rPr lang="en-US" smtClean="0"/>
              <a:t>11/27/2025</a:t>
            </a:fld>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5369898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bg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bg1"/>
                </a:solidFill>
              </a:defRPr>
            </a:lvl1pPr>
          </a:lstStyle>
          <a:p>
            <a:fld id="{040D1012-6B36-4753-8153-E5F982239567}" type="datetime1">
              <a:rPr lang="en-US" smtClean="0"/>
              <a:t>11/27/2025</a:t>
            </a:fld>
            <a:endParaRPr lang="en-US" dirty="0"/>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3248938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02E2BBBB-FE25-456C-89E4-A0303F0273E5}" type="datetime1">
              <a:rPr lang="en-US" smtClean="0"/>
              <a:t>11/27/2025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265039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1315EE4B-219D-4799-AB8D-57B100451C5D}" type="datetime1">
              <a:rPr lang="en-US" smtClean="0"/>
              <a:t>11/27/2025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945135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endParaRPr lang="en-US" dirty="0"/>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6499AFF4-C109-45E7-87CB-3A41EC6C3342}" type="datetime1">
              <a:rPr lang="en-US" smtClean="0"/>
              <a:t>11/27/2025</a:t>
            </a:fld>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4363180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bg1"/>
                </a:solidFill>
              </a:defRPr>
            </a:lvl1pPr>
            <a:lvl2pPr marL="228600" indent="0">
              <a:lnSpc>
                <a:spcPct val="100000"/>
              </a:lnSpc>
              <a:buNone/>
              <a:defRPr sz="5600" b="1">
                <a:solidFill>
                  <a:schemeClr val="bg1"/>
                </a:solidFill>
              </a:defRPr>
            </a:lvl2pPr>
            <a:lvl3pPr marL="457200" indent="0">
              <a:lnSpc>
                <a:spcPct val="100000"/>
              </a:lnSpc>
              <a:buNone/>
              <a:defRPr sz="5600" b="1">
                <a:solidFill>
                  <a:schemeClr val="bg1"/>
                </a:solidFill>
              </a:defRPr>
            </a:lvl3pPr>
            <a:lvl4pPr marL="685800" indent="0">
              <a:lnSpc>
                <a:spcPct val="100000"/>
              </a:lnSpc>
              <a:buNone/>
              <a:defRPr sz="5600" b="1">
                <a:solidFill>
                  <a:schemeClr val="bg1"/>
                </a:solidFill>
              </a:defRPr>
            </a:lvl4pPr>
            <a:lvl5pPr marL="914400" indent="0">
              <a:lnSpc>
                <a:spcPct val="100000"/>
              </a:lnSpc>
              <a:buNone/>
              <a:defRPr sz="5600" b="1">
                <a:solidFill>
                  <a:schemeClr val="bg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bg1"/>
                </a:solidFill>
              </a:defRPr>
            </a:lvl1pPr>
          </a:lstStyle>
          <a:p>
            <a:fld id="{50AFEFF9-BDF1-4CFA-B535-0413D62BE29A}" type="datetime1">
              <a:rPr lang="en-US" smtClean="0"/>
              <a:t>11/27/2025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300013651"/>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6E761A50-B070-4EAD-9EB9-92E4929324E7}" type="datetime1">
              <a:rPr lang="en-US" smtClean="0"/>
              <a:t>11/27/2025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618411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9A1CBA35-F376-4C5F-B8C5-4C103617FD91}" type="datetime1">
              <a:rPr lang="en-US" smtClean="0"/>
              <a:t>11/27/2025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4427898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bg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bg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BA89D600-DCDC-4EC3-BDD3-052C2836DAF2}" type="datetime1">
              <a:rPr lang="en-US" smtClean="0"/>
              <a:t>11/27/2025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7688227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DB2DB3-0A08-4E5B-8BB6-A488CF1C042F}" type="datetime1">
              <a:rPr lang="en-US" smtClean="0"/>
              <a:t>11/27/2025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1442782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133600"/>
            <a:ext cx="5166360" cy="4184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128115"/>
            <a:ext cx="5166360" cy="41903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A329DD1-6F17-4170-B2B1-1A76C32D62A1}" type="datetime1">
              <a:rPr lang="en-US" smtClean="0"/>
              <a:t>11/27/2025</a:t>
            </a:fld>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6886262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28111"/>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2810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pPr algn="l"/>
            <a:r>
              <a:rPr lang="en-US"/>
              <a:t>Sample Footer Text</a:t>
            </a:r>
            <a:endParaRPr lang="en-US" dirty="0"/>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BA7E6053-DA33-4DC9-86BB-0E52E5EB5B56}" type="datetime1">
              <a:rPr lang="en-US" smtClean="0"/>
              <a:t>11/27/2025</a:t>
            </a:fld>
            <a:endParaRPr lang="en-US" dirty="0"/>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6287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C72CE4D-D83F-44D4-ACB0-A88A6B9DB4F7}" type="datetime1">
              <a:rPr lang="en-US" smtClean="0"/>
              <a:t>11/27/2025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70032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62F981-1EE1-49F5-B605-4EA23F0307AC}" type="datetime1">
              <a:rPr lang="en-US" smtClean="0"/>
              <a:t>11/27/2025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430589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0B6493B-A447-4205-AC2D-AE2DEDAE4E3B}" type="datetime1">
              <a:rPr lang="en-US" smtClean="0"/>
              <a:t>11/27/2025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981509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r>
              <a:rPr lang="en-US"/>
              <a:t>Sample Footer Text</a:t>
            </a:r>
            <a:endParaRPr lang="en-US" dirty="0"/>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a:blip r:embed="rId2">
              <a:alphaModFix amt="60000"/>
            </a:blip>
            <a:stretch>
              <a:fillRect/>
            </a:stretch>
          </a:blipFill>
        </p:spPr>
        <p:txBody>
          <a:bodyPr/>
          <a:lstStyle>
            <a:lvl1pPr marL="0" indent="0">
              <a:buNone/>
              <a:defRPr/>
            </a:lvl1pPr>
          </a:lstStyle>
          <a:p>
            <a:r>
              <a:rPr lang="en-US" dirty="0"/>
              <a:t>.</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1F9A354F-9C13-4261-9BA4-DD76051C2429}" type="datetime1">
              <a:rPr lang="en-US" smtClean="0"/>
              <a:t>11/27/2025</a:t>
            </a:fld>
            <a:endParaRPr lang="en-US" dirty="0"/>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610190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D3A9CD26-23FE-488A-AF3B-5DDE99301C10}" type="datetime1">
              <a:rPr lang="en-US" smtClean="0"/>
              <a:t>11/27/2025</a:t>
            </a:fld>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47321651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C67263D-2536-4E2E-A4D6-BA89E45F00B0}" type="datetime1">
              <a:rPr lang="en-US" smtClean="0"/>
              <a:t>11/27/2025</a:t>
            </a:fld>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41581113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FD1C4689-B28D-4D3C-8B05-9ABB967E2A3E}" type="datetime1">
              <a:rPr lang="en-US" smtClean="0"/>
              <a:t>11/27/2025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5816283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 id="2147483837" r:id="rId33"/>
    <p:sldLayoutId id="2147483838" r:id="rId34"/>
    <p:sldLayoutId id="2147483839" r:id="rId35"/>
    <p:sldLayoutId id="2147483840" r:id="rId36"/>
    <p:sldLayoutId id="2147483841" r:id="rId37"/>
    <p:sldLayoutId id="2147483842" r:id="rId38"/>
    <p:sldLayoutId id="2147483843" r:id="rId39"/>
    <p:sldLayoutId id="2147483844" r:id="rId40"/>
    <p:sldLayoutId id="2147483845" r:id="rId41"/>
    <p:sldLayoutId id="2147483846" r:id="rId42"/>
    <p:sldLayoutId id="2147483847" r:id="rId43"/>
    <p:sldLayoutId id="2147483848" r:id="rId44"/>
    <p:sldLayoutId id="2147483849" r:id="rId45"/>
    <p:sldLayoutId id="2147483850" r:id="rId46"/>
    <p:sldLayoutId id="2147483851" r:id="rId47"/>
    <p:sldLayoutId id="2147483852" r:id="rId48"/>
    <p:sldLayoutId id="2147483853" r:id="rId49"/>
    <p:sldLayoutId id="2147483854" r:id="rId50"/>
    <p:sldLayoutId id="2147483855" r:id="rId51"/>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hyperlink" Target="https://www.greenpeace.org/static/planet4-argentina-stateless/2025/05/d5b627cc-reporteincendios-gp2025final.pdf" TargetMode="External"/><Relationship Id="rId4" Type="http://schemas.openxmlformats.org/officeDocument/2006/relationships/hyperlink" Target="https://www.greenpeace.org/static/planet4-argentina-stateless/2024/05/28537bfa-incendios-forestales-en-los-bosques-andino-patagonicos-2023-2024.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34.xml"/><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Logotipo&#10;&#10;El contenido generado por IA puede ser incorrecto.">
            <a:extLst>
              <a:ext uri="{FF2B5EF4-FFF2-40B4-BE49-F238E27FC236}">
                <a16:creationId xmlns:a16="http://schemas.microsoft.com/office/drawing/2014/main" id="{DEB40059-2AB1-5E5E-7EB3-16D1C21EFA43}"/>
              </a:ext>
            </a:extLst>
          </p:cNvPr>
          <p:cNvPicPr>
            <a:picLocks noChangeAspect="1"/>
          </p:cNvPicPr>
          <p:nvPr/>
        </p:nvPicPr>
        <p:blipFill>
          <a:blip r:embed="rId3" cstate="print">
            <a:alphaModFix amt="20000"/>
            <a:extLst>
              <a:ext uri="{28A0092B-C50C-407E-A947-70E740481C1C}">
                <a14:useLocalDpi xmlns:a14="http://schemas.microsoft.com/office/drawing/2010/main" val="0"/>
              </a:ext>
            </a:extLst>
          </a:blip>
          <a:stretch>
            <a:fillRect/>
          </a:stretch>
        </p:blipFill>
        <p:spPr>
          <a:xfrm>
            <a:off x="2709961" y="2612624"/>
            <a:ext cx="1657531" cy="1880534"/>
          </a:xfrm>
          <a:prstGeom prst="rect">
            <a:avLst/>
          </a:prstGeom>
        </p:spPr>
      </p:pic>
      <p:sp>
        <p:nvSpPr>
          <p:cNvPr id="2" name="Título 1">
            <a:extLst>
              <a:ext uri="{FF2B5EF4-FFF2-40B4-BE49-F238E27FC236}">
                <a16:creationId xmlns:a16="http://schemas.microsoft.com/office/drawing/2014/main" id="{2A8FBC49-9D93-6D6D-3174-7C77309CFDF0}"/>
              </a:ext>
            </a:extLst>
          </p:cNvPr>
          <p:cNvSpPr>
            <a:spLocks noGrp="1"/>
          </p:cNvSpPr>
          <p:nvPr>
            <p:ph type="ctrTitle"/>
          </p:nvPr>
        </p:nvSpPr>
        <p:spPr>
          <a:xfrm>
            <a:off x="252429" y="225184"/>
            <a:ext cx="6434697" cy="1076497"/>
          </a:xfrm>
        </p:spPr>
        <p:txBody>
          <a:bodyPr anchor="t">
            <a:normAutofit fontScale="90000"/>
          </a:bodyPr>
          <a:lstStyle/>
          <a:p>
            <a:r>
              <a:rPr lang="es-AR" b="1" dirty="0"/>
              <a:t>Incendios forestales de la Patagonia Andina</a:t>
            </a:r>
            <a:endParaRPr lang="es-AR" noProof="0" dirty="0"/>
          </a:p>
        </p:txBody>
      </p:sp>
      <p:sp>
        <p:nvSpPr>
          <p:cNvPr id="3" name="Subtítulo 2">
            <a:extLst>
              <a:ext uri="{FF2B5EF4-FFF2-40B4-BE49-F238E27FC236}">
                <a16:creationId xmlns:a16="http://schemas.microsoft.com/office/drawing/2014/main" id="{2ABC29BA-AD2E-5BC5-1C6A-2B1A95CF6A4F}"/>
              </a:ext>
            </a:extLst>
          </p:cNvPr>
          <p:cNvSpPr>
            <a:spLocks noGrp="1"/>
          </p:cNvSpPr>
          <p:nvPr>
            <p:ph type="subTitle" idx="1"/>
          </p:nvPr>
        </p:nvSpPr>
        <p:spPr>
          <a:xfrm>
            <a:off x="252429" y="1634835"/>
            <a:ext cx="4681728" cy="926315"/>
          </a:xfrm>
        </p:spPr>
        <p:txBody>
          <a:bodyPr anchor="ctr">
            <a:normAutofit/>
          </a:bodyPr>
          <a:lstStyle/>
          <a:p>
            <a:r>
              <a:rPr lang="es-AR" b="1" noProof="0" dirty="0"/>
              <a:t>Una aproximación con modelos de aprendizaje automático.</a:t>
            </a:r>
          </a:p>
        </p:txBody>
      </p:sp>
      <p:pic>
        <p:nvPicPr>
          <p:cNvPr id="10" name="Marcador de posición de imagen 9">
            <a:extLst>
              <a:ext uri="{FF2B5EF4-FFF2-40B4-BE49-F238E27FC236}">
                <a16:creationId xmlns:a16="http://schemas.microsoft.com/office/drawing/2014/main" id="{0241CF43-077C-82AA-0468-250129885206}"/>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29469" r="29469"/>
          <a:stretch/>
        </p:blipFill>
        <p:spPr>
          <a:xfrm>
            <a:off x="7537704" y="0"/>
            <a:ext cx="4654296" cy="6857778"/>
          </a:xfrm>
          <a:noFill/>
        </p:spPr>
      </p:pic>
      <p:sp>
        <p:nvSpPr>
          <p:cNvPr id="6" name="CuadroTexto 5">
            <a:extLst>
              <a:ext uri="{FF2B5EF4-FFF2-40B4-BE49-F238E27FC236}">
                <a16:creationId xmlns:a16="http://schemas.microsoft.com/office/drawing/2014/main" id="{CE8160AE-B65D-68D7-184F-EEB0EF36785E}"/>
              </a:ext>
            </a:extLst>
          </p:cNvPr>
          <p:cNvSpPr txBox="1"/>
          <p:nvPr/>
        </p:nvSpPr>
        <p:spPr>
          <a:xfrm>
            <a:off x="2011867" y="4575451"/>
            <a:ext cx="3053721" cy="2215991"/>
          </a:xfrm>
          <a:prstGeom prst="rect">
            <a:avLst/>
          </a:prstGeom>
          <a:noFill/>
        </p:spPr>
        <p:txBody>
          <a:bodyPr wrap="none" rtlCol="0">
            <a:spAutoFit/>
          </a:bodyPr>
          <a:lstStyle/>
          <a:p>
            <a:pPr algn="ctr">
              <a:lnSpc>
                <a:spcPct val="150000"/>
              </a:lnSpc>
            </a:pPr>
            <a:r>
              <a:rPr lang="es-AR" b="1" dirty="0"/>
              <a:t>Seminario Final </a:t>
            </a:r>
          </a:p>
          <a:p>
            <a:pPr algn="ctr">
              <a:lnSpc>
                <a:spcPct val="150000"/>
              </a:lnSpc>
            </a:pPr>
            <a:r>
              <a:rPr lang="es-AR" sz="1400" b="1" dirty="0"/>
              <a:t>Lic. en Ciencias de Datos</a:t>
            </a:r>
          </a:p>
          <a:p>
            <a:pPr algn="ctr">
              <a:lnSpc>
                <a:spcPct val="150000"/>
              </a:lnSpc>
            </a:pPr>
            <a:r>
              <a:rPr lang="es-AR" sz="1600" b="1" dirty="0"/>
              <a:t>Autor:</a:t>
            </a:r>
            <a:r>
              <a:rPr lang="es-AR" sz="1600" dirty="0"/>
              <a:t> Villagra Turco, Ezequiel</a:t>
            </a:r>
          </a:p>
          <a:p>
            <a:pPr algn="ctr">
              <a:lnSpc>
                <a:spcPct val="150000"/>
              </a:lnSpc>
            </a:pPr>
            <a:r>
              <a:rPr lang="es-AR" sz="1600" b="1" dirty="0"/>
              <a:t>Tutor: </a:t>
            </a:r>
            <a:r>
              <a:rPr lang="es-AR" sz="1600" dirty="0" err="1"/>
              <a:t>Gonzalez</a:t>
            </a:r>
            <a:r>
              <a:rPr lang="es-AR" sz="1600" dirty="0"/>
              <a:t>, Juan Domingo</a:t>
            </a:r>
          </a:p>
          <a:p>
            <a:pPr algn="ctr">
              <a:lnSpc>
                <a:spcPct val="150000"/>
              </a:lnSpc>
            </a:pPr>
            <a:r>
              <a:rPr lang="es-AR" sz="1600" dirty="0"/>
              <a:t>Noviembre 2025</a:t>
            </a:r>
          </a:p>
          <a:p>
            <a:endParaRPr lang="es-AR" dirty="0"/>
          </a:p>
        </p:txBody>
      </p:sp>
    </p:spTree>
    <p:extLst>
      <p:ext uri="{BB962C8B-B14F-4D97-AF65-F5344CB8AC3E}">
        <p14:creationId xmlns:p14="http://schemas.microsoft.com/office/powerpoint/2010/main" val="211068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B60CF-894E-E884-F59B-79EE32AF0AB9}"/>
              </a:ext>
            </a:extLst>
          </p:cNvPr>
          <p:cNvSpPr>
            <a:spLocks noGrp="1"/>
          </p:cNvSpPr>
          <p:nvPr>
            <p:ph type="title"/>
          </p:nvPr>
        </p:nvSpPr>
        <p:spPr>
          <a:xfrm>
            <a:off x="4706516" y="502920"/>
            <a:ext cx="6858000" cy="841248"/>
          </a:xfrm>
        </p:spPr>
        <p:txBody>
          <a:bodyPr anchor="b">
            <a:normAutofit/>
          </a:bodyPr>
          <a:lstStyle/>
          <a:p>
            <a:r>
              <a:rPr lang="es-AR" b="1" noProof="0" dirty="0"/>
              <a:t>Temario</a:t>
            </a:r>
          </a:p>
        </p:txBody>
      </p:sp>
      <p:pic>
        <p:nvPicPr>
          <p:cNvPr id="7" name="Marcador de posición de imagen 6">
            <a:extLst>
              <a:ext uri="{FF2B5EF4-FFF2-40B4-BE49-F238E27FC236}">
                <a16:creationId xmlns:a16="http://schemas.microsoft.com/office/drawing/2014/main" id="{1938CA97-CCBC-FE34-3A6B-EAD133F72246}"/>
              </a:ext>
            </a:extLst>
          </p:cNvPr>
          <p:cNvPicPr>
            <a:picLocks noGrp="1" noChangeAspect="1"/>
          </p:cNvPicPr>
          <p:nvPr>
            <p:ph type="pic" sz="quarter" idx="15"/>
          </p:nvPr>
        </p:nvPicPr>
        <p:blipFill>
          <a:blip r:embed="rId3">
            <a:alphaModFix amt="85000"/>
            <a:extLst>
              <a:ext uri="{28A0092B-C50C-407E-A947-70E740481C1C}">
                <a14:useLocalDpi xmlns:a14="http://schemas.microsoft.com/office/drawing/2010/main" val="0"/>
              </a:ext>
            </a:extLst>
          </a:blip>
          <a:srcRect l="32494" r="32494"/>
          <a:stretch/>
        </p:blipFill>
        <p:spPr>
          <a:xfrm>
            <a:off x="0" y="260"/>
            <a:ext cx="4084363" cy="6857479"/>
          </a:xfrm>
          <a:noFill/>
        </p:spPr>
      </p:pic>
      <p:graphicFrame>
        <p:nvGraphicFramePr>
          <p:cNvPr id="6" name="Marcador de contenido 5">
            <a:extLst>
              <a:ext uri="{FF2B5EF4-FFF2-40B4-BE49-F238E27FC236}">
                <a16:creationId xmlns:a16="http://schemas.microsoft.com/office/drawing/2014/main" id="{3322D8B2-B1F5-5A30-A079-383E5437BFF2}"/>
              </a:ext>
            </a:extLst>
          </p:cNvPr>
          <p:cNvGraphicFramePr>
            <a:graphicFrameLocks noGrp="1"/>
          </p:cNvGraphicFramePr>
          <p:nvPr>
            <p:ph sz="quarter" idx="14"/>
            <p:extLst>
              <p:ext uri="{D42A27DB-BD31-4B8C-83A1-F6EECF244321}">
                <p14:modId xmlns:p14="http://schemas.microsoft.com/office/powerpoint/2010/main" val="2775959040"/>
              </p:ext>
              <p:ext uri="{E7BDC344-281C-4309-B0C6-D0EE65EED2A8}">
                <p202:designPr xmlns:p202="http://schemas.microsoft.com/office/powerpoint/2020/02/main">
                  <p202:designTagLst>
                    <p202:designTag name="ARCH:1:CLS" val="StackedSequentialRowTable"/>
                  </p202:designTagLst>
                </p202:designPr>
              </p:ext>
            </p:extLst>
          </p:nvPr>
        </p:nvGraphicFramePr>
        <p:xfrm>
          <a:off x="5387536" y="1472183"/>
          <a:ext cx="5495960" cy="4782316"/>
        </p:xfrm>
        <a:graphic>
          <a:graphicData uri="http://schemas.openxmlformats.org/drawingml/2006/table">
            <a:tbl>
              <a:tblPr bandRow="1">
                <a:noFill/>
                <a:tableStyleId>{5C22544A-7EE6-4342-B048-85BDC9FD1C3A}</a:tableStyleId>
              </a:tblPr>
              <a:tblGrid>
                <a:gridCol w="1191010">
                  <a:extLst>
                    <a:ext uri="{9D8B030D-6E8A-4147-A177-3AD203B41FA5}">
                      <a16:colId xmlns:a16="http://schemas.microsoft.com/office/drawing/2014/main" val="1868535267"/>
                    </a:ext>
                  </a:extLst>
                </a:gridCol>
                <a:gridCol w="4304950">
                  <a:extLst>
                    <a:ext uri="{9D8B030D-6E8A-4147-A177-3AD203B41FA5}">
                      <a16:colId xmlns:a16="http://schemas.microsoft.com/office/drawing/2014/main" val="654858520"/>
                    </a:ext>
                  </a:extLst>
                </a:gridCol>
              </a:tblGrid>
              <a:tr h="683188">
                <a:tc>
                  <a:txBody>
                    <a:bodyPr/>
                    <a:lstStyle/>
                    <a:p>
                      <a:pPr algn="ctr">
                        <a:buNone/>
                      </a:pPr>
                      <a:r>
                        <a:rPr lang="es-AR" sz="2700" b="1" cap="none" spc="0" noProof="0" dirty="0">
                          <a:solidFill>
                            <a:schemeClr val="bg1"/>
                          </a:solidFill>
                        </a:rPr>
                        <a:t>01</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Motivación</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421214780"/>
                  </a:ext>
                </a:extLst>
              </a:tr>
              <a:tr h="683188">
                <a:tc>
                  <a:txBody>
                    <a:bodyPr/>
                    <a:lstStyle/>
                    <a:p>
                      <a:pPr algn="ctr">
                        <a:buNone/>
                      </a:pPr>
                      <a:r>
                        <a:rPr lang="es-AR" sz="2700" b="1" cap="none" spc="0" noProof="0" dirty="0">
                          <a:solidFill>
                            <a:schemeClr val="bg1"/>
                          </a:solidFill>
                        </a:rPr>
                        <a:t>02</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Datos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3714036038"/>
                  </a:ext>
                </a:extLst>
              </a:tr>
              <a:tr h="683188">
                <a:tc>
                  <a:txBody>
                    <a:bodyPr/>
                    <a:lstStyle/>
                    <a:p>
                      <a:pPr algn="ctr">
                        <a:buNone/>
                      </a:pPr>
                      <a:r>
                        <a:rPr lang="es-AR" sz="2700" b="1" cap="none" spc="0" noProof="0" dirty="0">
                          <a:solidFill>
                            <a:schemeClr val="bg1"/>
                          </a:solidFill>
                        </a:rPr>
                        <a:t>03</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Objetivos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549927137"/>
                  </a:ext>
                </a:extLst>
              </a:tr>
              <a:tr h="683188">
                <a:tc>
                  <a:txBody>
                    <a:bodyPr/>
                    <a:lstStyle/>
                    <a:p>
                      <a:pPr algn="ctr">
                        <a:buNone/>
                      </a:pPr>
                      <a:r>
                        <a:rPr lang="es-AR" sz="2700" b="1" cap="none" spc="0" noProof="0" dirty="0">
                          <a:solidFill>
                            <a:schemeClr val="bg1"/>
                          </a:solidFill>
                        </a:rPr>
                        <a:t>04</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Tratamiento</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42510349"/>
                  </a:ext>
                </a:extLst>
              </a:tr>
              <a:tr h="683188">
                <a:tc>
                  <a:txBody>
                    <a:bodyPr/>
                    <a:lstStyle/>
                    <a:p>
                      <a:pPr algn="ctr">
                        <a:buNone/>
                      </a:pPr>
                      <a:r>
                        <a:rPr lang="es-AR" sz="2700" b="1" cap="none" spc="0" noProof="0" dirty="0">
                          <a:solidFill>
                            <a:schemeClr val="bg1"/>
                          </a:solidFill>
                        </a:rPr>
                        <a:t>05</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Análisis exploratorio</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165124404"/>
                  </a:ext>
                </a:extLst>
              </a:tr>
              <a:tr h="683188">
                <a:tc>
                  <a:txBody>
                    <a:bodyPr/>
                    <a:lstStyle/>
                    <a:p>
                      <a:pPr algn="ctr">
                        <a:buNone/>
                      </a:pPr>
                      <a:r>
                        <a:rPr lang="es-AR" sz="2700" b="1" cap="none" spc="0" noProof="0" dirty="0">
                          <a:solidFill>
                            <a:schemeClr val="bg1"/>
                          </a:solidFill>
                        </a:rPr>
                        <a:t>06</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Machine </a:t>
                      </a:r>
                      <a:r>
                        <a:rPr lang="es-AR" sz="1700" b="0" cap="none" spc="0" noProof="0" dirty="0" err="1">
                          <a:solidFill>
                            <a:schemeClr val="tx1"/>
                          </a:solidFill>
                        </a:rPr>
                        <a:t>learning</a:t>
                      </a:r>
                      <a:endParaRPr lang="es-AR" sz="1700" b="0" cap="none" spc="0" noProof="0" dirty="0">
                        <a:solidFill>
                          <a:schemeClr val="tx1"/>
                        </a:solidFill>
                      </a:endParaRP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819754579"/>
                  </a:ext>
                </a:extLst>
              </a:tr>
              <a:tr h="683188">
                <a:tc>
                  <a:txBody>
                    <a:bodyPr/>
                    <a:lstStyle/>
                    <a:p>
                      <a:pPr algn="ctr">
                        <a:buNone/>
                      </a:pPr>
                      <a:r>
                        <a:rPr lang="es-AR" sz="2700" b="1" cap="none" spc="0" noProof="0" dirty="0">
                          <a:solidFill>
                            <a:schemeClr val="bg1"/>
                          </a:solidFill>
                        </a:rPr>
                        <a:t>07</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Resultados y conclusiones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373050990"/>
                  </a:ext>
                </a:extLst>
              </a:tr>
            </a:tbl>
          </a:graphicData>
        </a:graphic>
      </p:graphicFrame>
    </p:spTree>
    <p:extLst>
      <p:ext uri="{BB962C8B-B14F-4D97-AF65-F5344CB8AC3E}">
        <p14:creationId xmlns:p14="http://schemas.microsoft.com/office/powerpoint/2010/main" val="3874723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585BEA-FDD9-68AB-BD88-190AE215D070}"/>
              </a:ext>
            </a:extLst>
          </p:cNvPr>
          <p:cNvSpPr>
            <a:spLocks noGrp="1"/>
          </p:cNvSpPr>
          <p:nvPr>
            <p:ph type="title"/>
          </p:nvPr>
        </p:nvSpPr>
        <p:spPr>
          <a:xfrm>
            <a:off x="6272783" y="722376"/>
            <a:ext cx="5138927" cy="1581912"/>
          </a:xfrm>
        </p:spPr>
        <p:txBody>
          <a:bodyPr anchor="b">
            <a:normAutofit/>
          </a:bodyPr>
          <a:lstStyle/>
          <a:p>
            <a:r>
              <a:rPr lang="es-AR" noProof="0" dirty="0"/>
              <a:t>Motivación</a:t>
            </a:r>
          </a:p>
        </p:txBody>
      </p:sp>
      <p:pic>
        <p:nvPicPr>
          <p:cNvPr id="4" name="Imagen 3">
            <a:extLst>
              <a:ext uri="{FF2B5EF4-FFF2-40B4-BE49-F238E27FC236}">
                <a16:creationId xmlns:a16="http://schemas.microsoft.com/office/drawing/2014/main" id="{F161E7C1-2B95-E929-5DC8-2B34D918A345}"/>
              </a:ext>
            </a:extLst>
          </p:cNvPr>
          <p:cNvPicPr>
            <a:picLocks noChangeAspect="1"/>
          </p:cNvPicPr>
          <p:nvPr/>
        </p:nvPicPr>
        <p:blipFill>
          <a:blip r:embed="rId3">
            <a:extLst>
              <a:ext uri="{28A0092B-C50C-407E-A947-70E740481C1C}">
                <a14:useLocalDpi xmlns:a14="http://schemas.microsoft.com/office/drawing/2010/main" val="0"/>
              </a:ext>
            </a:extLst>
          </a:blip>
          <a:srcRect l="35183" r="12128" b="-1"/>
          <a:stretch>
            <a:fillRect/>
          </a:stretch>
        </p:blipFill>
        <p:spPr>
          <a:xfrm>
            <a:off x="119307" y="10"/>
            <a:ext cx="5413248" cy="6857990"/>
          </a:xfrm>
          <a:prstGeom prst="rect">
            <a:avLst/>
          </a:prstGeom>
          <a:noFill/>
        </p:spPr>
      </p:pic>
      <p:sp>
        <p:nvSpPr>
          <p:cNvPr id="9" name="Content Placeholder 2">
            <a:extLst>
              <a:ext uri="{FF2B5EF4-FFF2-40B4-BE49-F238E27FC236}">
                <a16:creationId xmlns:a16="http://schemas.microsoft.com/office/drawing/2014/main" id="{80B50146-BE55-3008-41D3-BB1489CBE74D}"/>
              </a:ext>
            </a:extLst>
          </p:cNvPr>
          <p:cNvSpPr>
            <a:spLocks noGrp="1"/>
          </p:cNvSpPr>
          <p:nvPr>
            <p:ph sz="quarter" idx="13"/>
          </p:nvPr>
        </p:nvSpPr>
        <p:spPr>
          <a:xfrm>
            <a:off x="6272784" y="2834640"/>
            <a:ext cx="5138928" cy="2999232"/>
          </a:xfrm>
        </p:spPr>
        <p:txBody>
          <a:bodyPr anchor="b">
            <a:normAutofit/>
          </a:bodyPr>
          <a:lstStyle/>
          <a:p>
            <a:pPr marL="0" indent="0">
              <a:buNone/>
            </a:pPr>
            <a:r>
              <a:rPr lang="es-AR" sz="1900" b="1" noProof="0" dirty="0"/>
              <a:t>"</a:t>
            </a:r>
            <a:r>
              <a:rPr lang="es-AR" sz="1900" b="1" i="1" noProof="0" dirty="0"/>
              <a:t>Declárase de interés público provincial la prevención, </a:t>
            </a:r>
            <a:r>
              <a:rPr lang="es-AR" sz="1900" b="1" i="1" noProof="0" dirty="0" err="1"/>
              <a:t>presupresión</a:t>
            </a:r>
            <a:r>
              <a:rPr lang="es-AR" sz="1900" b="1" i="1" noProof="0" dirty="0"/>
              <a:t> y combate de los incendios forestales y rurales, como medio tendiente a la protección de la vida y la seguridad de las personas y a la preservación del patrimonio ambiental y económico de la provincia.”</a:t>
            </a:r>
            <a:endParaRPr lang="es-AR" sz="1900" b="1" noProof="0" dirty="0"/>
          </a:p>
          <a:p>
            <a:pPr marL="0" indent="0">
              <a:buNone/>
            </a:pPr>
            <a:r>
              <a:rPr lang="es-AR" sz="1900" noProof="0" dirty="0"/>
              <a:t>Art. 1 - Ley </a:t>
            </a:r>
            <a:r>
              <a:rPr lang="es-AR" sz="1900" noProof="0" dirty="0" err="1"/>
              <a:t>N.°</a:t>
            </a:r>
            <a:r>
              <a:rPr lang="es-AR" sz="1900" noProof="0" dirty="0"/>
              <a:t> 5243 de la Provincia de Río Negro</a:t>
            </a:r>
          </a:p>
        </p:txBody>
      </p:sp>
    </p:spTree>
    <p:extLst>
      <p:ext uri="{BB962C8B-B14F-4D97-AF65-F5344CB8AC3E}">
        <p14:creationId xmlns:p14="http://schemas.microsoft.com/office/powerpoint/2010/main" val="4282985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E09C5-6633-07D7-BE96-7BB05F0915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436625-D318-59AF-B638-98080BC68D81}"/>
              </a:ext>
            </a:extLst>
          </p:cNvPr>
          <p:cNvSpPr>
            <a:spLocks noGrp="1"/>
          </p:cNvSpPr>
          <p:nvPr>
            <p:ph type="title"/>
          </p:nvPr>
        </p:nvSpPr>
        <p:spPr>
          <a:xfrm>
            <a:off x="219358" y="170098"/>
            <a:ext cx="4215384" cy="500462"/>
          </a:xfrm>
        </p:spPr>
        <p:txBody>
          <a:bodyPr anchor="t">
            <a:normAutofit fontScale="90000"/>
          </a:bodyPr>
          <a:lstStyle/>
          <a:p>
            <a:r>
              <a:rPr lang="es-AR" noProof="0" dirty="0"/>
              <a:t>Motivación</a:t>
            </a:r>
          </a:p>
        </p:txBody>
      </p:sp>
      <p:sp>
        <p:nvSpPr>
          <p:cNvPr id="5" name="Marcador de contenido 4">
            <a:extLst>
              <a:ext uri="{FF2B5EF4-FFF2-40B4-BE49-F238E27FC236}">
                <a16:creationId xmlns:a16="http://schemas.microsoft.com/office/drawing/2014/main" id="{0E671EAB-F101-F412-7316-9D5F7B6ED82F}"/>
              </a:ext>
            </a:extLst>
          </p:cNvPr>
          <p:cNvSpPr>
            <a:spLocks noGrp="1"/>
          </p:cNvSpPr>
          <p:nvPr>
            <p:ph sz="quarter" idx="13"/>
          </p:nvPr>
        </p:nvSpPr>
        <p:spPr>
          <a:xfrm>
            <a:off x="219358" y="640080"/>
            <a:ext cx="7007352" cy="5577840"/>
          </a:xfrm>
        </p:spPr>
        <p:txBody>
          <a:bodyPr>
            <a:noAutofit/>
          </a:bodyPr>
          <a:lstStyle/>
          <a:p>
            <a:pPr marL="0" indent="0" algn="just">
              <a:lnSpc>
                <a:spcPct val="150000"/>
              </a:lnSpc>
              <a:buNone/>
            </a:pPr>
            <a:r>
              <a:rPr lang="es-AR" sz="2400" noProof="0" dirty="0"/>
              <a:t>En el periodo octubre 2024 a marzo 2025 se cuadriplicó el área afectada por el fuego en la región, la superficie de Bosques Andino Patagónicos afectada por incendios forestales fue de </a:t>
            </a:r>
            <a:r>
              <a:rPr lang="es-AR" sz="2400" b="1" noProof="0" dirty="0"/>
              <a:t>10.218has</a:t>
            </a:r>
            <a:r>
              <a:rPr lang="es-AR" sz="2400" noProof="0" dirty="0"/>
              <a:t>, mientras que durante el mismo periodo 2023-2024 fue de </a:t>
            </a:r>
            <a:r>
              <a:rPr lang="es-AR" sz="2400" b="1" noProof="0" dirty="0"/>
              <a:t>7.747has</a:t>
            </a:r>
            <a:r>
              <a:rPr lang="es-AR" sz="2400" noProof="0" dirty="0"/>
              <a:t>. </a:t>
            </a:r>
          </a:p>
        </p:txBody>
      </p:sp>
      <p:pic>
        <p:nvPicPr>
          <p:cNvPr id="8" name="Imagen 7">
            <a:extLst>
              <a:ext uri="{FF2B5EF4-FFF2-40B4-BE49-F238E27FC236}">
                <a16:creationId xmlns:a16="http://schemas.microsoft.com/office/drawing/2014/main" id="{BD88CEEE-E646-8BE9-7EE5-68476F5C852D}"/>
              </a:ext>
            </a:extLst>
          </p:cNvPr>
          <p:cNvPicPr>
            <a:picLocks noChangeAspect="1"/>
          </p:cNvPicPr>
          <p:nvPr/>
        </p:nvPicPr>
        <p:blipFill>
          <a:blip r:embed="rId3"/>
          <a:stretch>
            <a:fillRect/>
          </a:stretch>
        </p:blipFill>
        <p:spPr>
          <a:xfrm>
            <a:off x="7374195" y="160019"/>
            <a:ext cx="4598448" cy="6427721"/>
          </a:xfrm>
          <a:prstGeom prst="rect">
            <a:avLst/>
          </a:prstGeom>
        </p:spPr>
      </p:pic>
      <p:sp>
        <p:nvSpPr>
          <p:cNvPr id="10" name="CuadroTexto 9">
            <a:extLst>
              <a:ext uri="{FF2B5EF4-FFF2-40B4-BE49-F238E27FC236}">
                <a16:creationId xmlns:a16="http://schemas.microsoft.com/office/drawing/2014/main" id="{8662095D-6514-2A96-4834-1E8EFC27E307}"/>
              </a:ext>
            </a:extLst>
          </p:cNvPr>
          <p:cNvSpPr txBox="1"/>
          <p:nvPr/>
        </p:nvSpPr>
        <p:spPr>
          <a:xfrm>
            <a:off x="219357" y="6217920"/>
            <a:ext cx="4862228" cy="369332"/>
          </a:xfrm>
          <a:prstGeom prst="rect">
            <a:avLst/>
          </a:prstGeom>
          <a:noFill/>
        </p:spPr>
        <p:txBody>
          <a:bodyPr wrap="none" rtlCol="0">
            <a:spAutoFit/>
          </a:bodyPr>
          <a:lstStyle/>
          <a:p>
            <a:pPr lvl="0"/>
            <a:r>
              <a:rPr lang="es-AR" sz="900" noProof="0" dirty="0"/>
              <a:t>Greenpeace. (2024, abril). </a:t>
            </a:r>
            <a:r>
              <a:rPr lang="es-AR" sz="900" i="1" noProof="0" dirty="0">
                <a:hlinkClick r:id="rId4"/>
              </a:rPr>
              <a:t>Incendios Forestales en los Bosques Andino Patagónicos de Argentina</a:t>
            </a:r>
            <a:r>
              <a:rPr lang="es-AR" sz="900" noProof="0" dirty="0"/>
              <a:t>.</a:t>
            </a:r>
          </a:p>
          <a:p>
            <a:pPr lvl="0"/>
            <a:r>
              <a:rPr lang="es-AR" sz="900" noProof="0" dirty="0"/>
              <a:t>Greenpeace. (2025, mayo). </a:t>
            </a:r>
            <a:r>
              <a:rPr lang="es-AR" sz="900" i="1" noProof="0" dirty="0">
                <a:hlinkClick r:id="rId5"/>
              </a:rPr>
              <a:t>Incendios Forestales en los Bosques Andino Patagónicos de Argentina</a:t>
            </a:r>
            <a:r>
              <a:rPr lang="es-AR" sz="900" noProof="0" dirty="0"/>
              <a:t>. </a:t>
            </a:r>
          </a:p>
        </p:txBody>
      </p:sp>
    </p:spTree>
    <p:extLst>
      <p:ext uri="{BB962C8B-B14F-4D97-AF65-F5344CB8AC3E}">
        <p14:creationId xmlns:p14="http://schemas.microsoft.com/office/powerpoint/2010/main" val="316750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558B-9388-C5AF-372E-42F977E23C9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4D79518A-F239-8343-F2B4-86B21F1CF6D9}"/>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120650" y="369236"/>
            <a:ext cx="11950700" cy="6005228"/>
          </a:xfrm>
          <a:prstGeom prst="rect">
            <a:avLst/>
          </a:prstGeom>
          <a:noFill/>
        </p:spPr>
      </p:pic>
    </p:spTree>
    <p:extLst>
      <p:ext uri="{BB962C8B-B14F-4D97-AF65-F5344CB8AC3E}">
        <p14:creationId xmlns:p14="http://schemas.microsoft.com/office/powerpoint/2010/main" val="368677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27B6C-1581-3F3B-0945-2A4ADFF1FE7A}"/>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3EA62E36-9345-19A3-5A74-06D63924D0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0885" y="369236"/>
            <a:ext cx="11950230" cy="6005228"/>
          </a:xfrm>
          <a:prstGeom prst="rect">
            <a:avLst/>
          </a:prstGeom>
          <a:noFill/>
        </p:spPr>
      </p:pic>
    </p:spTree>
    <p:extLst>
      <p:ext uri="{BB962C8B-B14F-4D97-AF65-F5344CB8AC3E}">
        <p14:creationId xmlns:p14="http://schemas.microsoft.com/office/powerpoint/2010/main" val="3063913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568FA-9E75-DB11-AFF2-94DE1F20AEF6}"/>
            </a:ext>
          </a:extLst>
        </p:cNvPr>
        <p:cNvGrpSpPr/>
        <p:nvPr/>
      </p:nvGrpSpPr>
      <p:grpSpPr>
        <a:xfrm>
          <a:off x="0" y="0"/>
          <a:ext cx="0" cy="0"/>
          <a:chOff x="0" y="0"/>
          <a:chExt cx="0" cy="0"/>
        </a:xfrm>
      </p:grpSpPr>
      <p:pic>
        <p:nvPicPr>
          <p:cNvPr id="15" name="Marcador de posición de imagen 14">
            <a:extLst>
              <a:ext uri="{FF2B5EF4-FFF2-40B4-BE49-F238E27FC236}">
                <a16:creationId xmlns:a16="http://schemas.microsoft.com/office/drawing/2014/main" id="{72C7C3F0-75DF-47A5-4E2F-96B8CE821BC3}"/>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4516" r="24516"/>
          <a:stretch>
            <a:fillRect/>
          </a:stretch>
        </p:blipFill>
        <p:spPr>
          <a:xfrm>
            <a:off x="264607" y="706297"/>
            <a:ext cx="3448141" cy="3805413"/>
          </a:xfrm>
        </p:spPr>
      </p:pic>
      <p:sp>
        <p:nvSpPr>
          <p:cNvPr id="5" name="Marcador de contenido 4">
            <a:extLst>
              <a:ext uri="{FF2B5EF4-FFF2-40B4-BE49-F238E27FC236}">
                <a16:creationId xmlns:a16="http://schemas.microsoft.com/office/drawing/2014/main" id="{FC270278-268D-2240-0CB2-F71B819C9A3E}"/>
              </a:ext>
            </a:extLst>
          </p:cNvPr>
          <p:cNvSpPr>
            <a:spLocks noGrp="1"/>
          </p:cNvSpPr>
          <p:nvPr>
            <p:ph sz="quarter" idx="14"/>
          </p:nvPr>
        </p:nvSpPr>
        <p:spPr>
          <a:xfrm>
            <a:off x="5223784" y="271456"/>
            <a:ext cx="6703101" cy="6490733"/>
          </a:xfrm>
        </p:spPr>
        <p:txBody>
          <a:bodyPr>
            <a:normAutofit fontScale="92500" lnSpcReduction="20000"/>
          </a:bodyPr>
          <a:lstStyle/>
          <a:p>
            <a:pPr marL="342900" indent="-342900" algn="just">
              <a:lnSpc>
                <a:spcPct val="150000"/>
              </a:lnSpc>
              <a:buFont typeface="+mj-lt"/>
              <a:buAutoNum type="arabicPeriod"/>
            </a:pPr>
            <a:r>
              <a:rPr lang="es-AR" noProof="0" dirty="0"/>
              <a:t>Estudiar y comprender los incendios forestales de la Patagonia Andina por medio de datos derivados de instrumentos de teledetección y preprocesados con modelos robustos de consolidación.</a:t>
            </a:r>
          </a:p>
          <a:p>
            <a:pPr marL="342900" indent="-342900" algn="just">
              <a:lnSpc>
                <a:spcPct val="150000"/>
              </a:lnSpc>
              <a:buFont typeface="+mj-lt"/>
              <a:buAutoNum type="arabicPeriod"/>
            </a:pPr>
            <a:r>
              <a:rPr lang="es-AR" noProof="0" dirty="0"/>
              <a:t>Recopilar y sistematizar la información necesaria y disponible para el desarrollo del proyecto, incluyendo datos satelitales, climatológicos y ambientales.</a:t>
            </a:r>
          </a:p>
          <a:p>
            <a:pPr marL="342900" indent="-342900" algn="just">
              <a:lnSpc>
                <a:spcPct val="150000"/>
              </a:lnSpc>
              <a:buFont typeface="+mj-lt"/>
              <a:buAutoNum type="arabicPeriod"/>
            </a:pPr>
            <a:r>
              <a:rPr lang="es-AR" noProof="0" dirty="0"/>
              <a:t>Realizar la limpieza y procesamiento de los datos recopilados para su consolidación.</a:t>
            </a:r>
          </a:p>
          <a:p>
            <a:pPr marL="342900" indent="-342900" algn="just">
              <a:lnSpc>
                <a:spcPct val="150000"/>
              </a:lnSpc>
              <a:buFont typeface="+mj-lt"/>
              <a:buAutoNum type="arabicPeriod"/>
            </a:pPr>
            <a:r>
              <a:rPr lang="es-AR" noProof="0" dirty="0"/>
              <a:t>Realizar un análisis exploratorio para identificar patrones y correlaciones entre las variables estudiadas y la ocurrencia de incendios.</a:t>
            </a:r>
          </a:p>
          <a:p>
            <a:pPr marL="342900" indent="-342900" algn="just">
              <a:lnSpc>
                <a:spcPct val="150000"/>
              </a:lnSpc>
              <a:buFont typeface="+mj-lt"/>
              <a:buAutoNum type="arabicPeriod"/>
            </a:pPr>
            <a:r>
              <a:rPr lang="es-AR" noProof="0" dirty="0"/>
              <a:t>Implementar modelos de Machine </a:t>
            </a:r>
            <a:r>
              <a:rPr lang="es-AR" noProof="0" dirty="0" err="1"/>
              <a:t>Learning</a:t>
            </a:r>
            <a:r>
              <a:rPr lang="es-AR" noProof="0" dirty="0"/>
              <a:t> que permitan predecir la probabilidad de nuevos focos en una región específica.</a:t>
            </a:r>
          </a:p>
          <a:p>
            <a:pPr marL="342900" indent="-342900" algn="just">
              <a:lnSpc>
                <a:spcPct val="150000"/>
              </a:lnSpc>
              <a:buFont typeface="+mj-lt"/>
              <a:buAutoNum type="arabicPeriod"/>
            </a:pPr>
            <a:r>
              <a:rPr lang="es-AR" noProof="0" dirty="0"/>
              <a:t>Evaluar la efectividad de los modelos desarrollados mediante la comparación de sus predicciones con datos históricos de incendios</a:t>
            </a:r>
            <a:r>
              <a:rPr lang="es-AR" sz="1500" noProof="0" dirty="0"/>
              <a:t>.</a:t>
            </a:r>
          </a:p>
          <a:p>
            <a:pPr marL="342900" indent="-342900">
              <a:lnSpc>
                <a:spcPct val="110000"/>
              </a:lnSpc>
              <a:buFont typeface="+mj-lt"/>
              <a:buAutoNum type="arabicPeriod"/>
            </a:pPr>
            <a:endParaRPr lang="es-AR" sz="1500" noProof="0" dirty="0"/>
          </a:p>
          <a:p>
            <a:pPr marL="342900" indent="-342900">
              <a:lnSpc>
                <a:spcPct val="110000"/>
              </a:lnSpc>
              <a:buFont typeface="+mj-lt"/>
              <a:buAutoNum type="arabicPeriod"/>
            </a:pPr>
            <a:endParaRPr lang="es-AR" sz="1500" noProof="0" dirty="0"/>
          </a:p>
          <a:p>
            <a:pPr marL="0" indent="0">
              <a:lnSpc>
                <a:spcPct val="110000"/>
              </a:lnSpc>
              <a:buNone/>
            </a:pPr>
            <a:endParaRPr lang="es-AR" sz="1500" noProof="0" dirty="0"/>
          </a:p>
          <a:p>
            <a:pPr>
              <a:lnSpc>
                <a:spcPct val="110000"/>
              </a:lnSpc>
            </a:pPr>
            <a:endParaRPr lang="es-AR" sz="1500" noProof="0" dirty="0"/>
          </a:p>
        </p:txBody>
      </p:sp>
      <p:pic>
        <p:nvPicPr>
          <p:cNvPr id="17" name="Imagen 16">
            <a:extLst>
              <a:ext uri="{FF2B5EF4-FFF2-40B4-BE49-F238E27FC236}">
                <a16:creationId xmlns:a16="http://schemas.microsoft.com/office/drawing/2014/main" id="{518D0673-0A83-D87C-6D92-3584E6256D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438" y="3516823"/>
            <a:ext cx="4133221" cy="3099916"/>
          </a:xfrm>
          <a:prstGeom prst="rect">
            <a:avLst/>
          </a:prstGeom>
        </p:spPr>
      </p:pic>
      <p:sp>
        <p:nvSpPr>
          <p:cNvPr id="21" name="Título 1">
            <a:extLst>
              <a:ext uri="{FF2B5EF4-FFF2-40B4-BE49-F238E27FC236}">
                <a16:creationId xmlns:a16="http://schemas.microsoft.com/office/drawing/2014/main" id="{E677125C-6613-63AB-C65B-17398D4015BB}"/>
              </a:ext>
            </a:extLst>
          </p:cNvPr>
          <p:cNvSpPr>
            <a:spLocks noGrp="1"/>
          </p:cNvSpPr>
          <p:nvPr>
            <p:ph type="title"/>
          </p:nvPr>
        </p:nvSpPr>
        <p:spPr>
          <a:xfrm>
            <a:off x="219358" y="170098"/>
            <a:ext cx="4215384" cy="500462"/>
          </a:xfrm>
        </p:spPr>
        <p:txBody>
          <a:bodyPr anchor="t">
            <a:noAutofit/>
          </a:bodyPr>
          <a:lstStyle/>
          <a:p>
            <a:r>
              <a:rPr lang="es-AR" sz="2900" noProof="0" dirty="0">
                <a:gradFill>
                  <a:gsLst>
                    <a:gs pos="0">
                      <a:schemeClr val="accent2"/>
                    </a:gs>
                    <a:gs pos="100000">
                      <a:schemeClr val="accent5"/>
                    </a:gs>
                  </a:gsLst>
                  <a:lin ang="12000000" scaled="0"/>
                </a:gradFill>
              </a:rPr>
              <a:t>Objetivos</a:t>
            </a:r>
          </a:p>
        </p:txBody>
      </p:sp>
    </p:spTree>
    <p:extLst>
      <p:ext uri="{BB962C8B-B14F-4D97-AF65-F5344CB8AC3E}">
        <p14:creationId xmlns:p14="http://schemas.microsoft.com/office/powerpoint/2010/main" val="1236893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094B2-8852-1248-18C6-22DF31E37212}"/>
              </a:ext>
            </a:extLst>
          </p:cNvPr>
          <p:cNvSpPr>
            <a:spLocks noGrp="1"/>
          </p:cNvSpPr>
          <p:nvPr>
            <p:ph type="ctrTitle"/>
          </p:nvPr>
        </p:nvSpPr>
        <p:spPr>
          <a:xfrm>
            <a:off x="256854" y="328260"/>
            <a:ext cx="5852160" cy="904639"/>
          </a:xfrm>
        </p:spPr>
        <p:txBody>
          <a:bodyPr anchor="t">
            <a:normAutofit/>
          </a:bodyPr>
          <a:lstStyle/>
          <a:p>
            <a:r>
              <a:rPr lang="es-AR" noProof="0" dirty="0"/>
              <a:t>Datos</a:t>
            </a:r>
          </a:p>
        </p:txBody>
      </p:sp>
      <p:sp>
        <p:nvSpPr>
          <p:cNvPr id="14" name="Subtitle 2">
            <a:extLst>
              <a:ext uri="{FF2B5EF4-FFF2-40B4-BE49-F238E27FC236}">
                <a16:creationId xmlns:a16="http://schemas.microsoft.com/office/drawing/2014/main" id="{6722B269-D6E4-0524-BE44-D29C4E10E452}"/>
              </a:ext>
            </a:extLst>
          </p:cNvPr>
          <p:cNvSpPr>
            <a:spLocks noGrp="1"/>
          </p:cNvSpPr>
          <p:nvPr>
            <p:ph type="subTitle" idx="1"/>
          </p:nvPr>
        </p:nvSpPr>
        <p:spPr>
          <a:xfrm>
            <a:off x="256853" y="2219218"/>
            <a:ext cx="5455577" cy="3916406"/>
          </a:xfrm>
        </p:spPr>
        <p:txBody>
          <a:bodyPr>
            <a:normAutofit/>
          </a:bodyPr>
          <a:lstStyle/>
          <a:p>
            <a:r>
              <a:rPr lang="es-AR" sz="2400" b="1" noProof="0" dirty="0"/>
              <a:t>Área de estudio: </a:t>
            </a:r>
          </a:p>
          <a:p>
            <a:pPr lvl="1"/>
            <a:r>
              <a:rPr lang="es-AR" sz="2000" noProof="0" dirty="0">
                <a:solidFill>
                  <a:schemeClr val="bg1"/>
                </a:solidFill>
              </a:rPr>
              <a:t>Extensión longitudinal: -72,00° E a -71,00° O</a:t>
            </a:r>
          </a:p>
          <a:p>
            <a:pPr lvl="1"/>
            <a:r>
              <a:rPr lang="es-AR" sz="2000" noProof="0" dirty="0">
                <a:solidFill>
                  <a:schemeClr val="bg1"/>
                </a:solidFill>
              </a:rPr>
              <a:t>Extensión latitudinal: -42,00° S a -41,00° N</a:t>
            </a:r>
          </a:p>
          <a:p>
            <a:pPr lvl="1"/>
            <a:r>
              <a:rPr lang="es-AR" sz="2000" noProof="0" dirty="0">
                <a:solidFill>
                  <a:schemeClr val="bg1"/>
                </a:solidFill>
              </a:rPr>
              <a:t>Área total: ~ 9200,0 km² (111kms x 83kms)</a:t>
            </a:r>
          </a:p>
          <a:p>
            <a:pPr lvl="1"/>
            <a:r>
              <a:rPr lang="es-AR" sz="2000" noProof="0" dirty="0">
                <a:solidFill>
                  <a:schemeClr val="bg1"/>
                </a:solidFill>
              </a:rPr>
              <a:t>Tamaño de grilla: 11 x 11</a:t>
            </a:r>
          </a:p>
        </p:txBody>
      </p:sp>
      <p:pic>
        <p:nvPicPr>
          <p:cNvPr id="5" name="Marcador de posición de imagen 4">
            <a:extLst>
              <a:ext uri="{FF2B5EF4-FFF2-40B4-BE49-F238E27FC236}">
                <a16:creationId xmlns:a16="http://schemas.microsoft.com/office/drawing/2014/main" id="{127C04C9-3BF6-C38E-93F2-3780A0B7180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6632" r="6632"/>
          <a:stretch/>
        </p:blipFill>
        <p:spPr>
          <a:xfrm>
            <a:off x="7534656" y="213"/>
            <a:ext cx="4654296" cy="6857573"/>
          </a:xfrm>
          <a:noFill/>
        </p:spPr>
      </p:pic>
      <p:pic>
        <p:nvPicPr>
          <p:cNvPr id="4" name="Picture 3">
            <a:extLst>
              <a:ext uri="{FF2B5EF4-FFF2-40B4-BE49-F238E27FC236}">
                <a16:creationId xmlns:a16="http://schemas.microsoft.com/office/drawing/2014/main" id="{494DC97F-3A3A-1E24-E69A-841EB0190831}"/>
              </a:ext>
            </a:extLst>
          </p:cNvPr>
          <p:cNvPicPr>
            <a:picLocks noChangeAspect="1"/>
          </p:cNvPicPr>
          <p:nvPr/>
        </p:nvPicPr>
        <p:blipFill>
          <a:blip r:embed="rId4"/>
          <a:stretch>
            <a:fillRect/>
          </a:stretch>
        </p:blipFill>
        <p:spPr>
          <a:xfrm>
            <a:off x="5969285" y="0"/>
            <a:ext cx="6219667" cy="6866680"/>
          </a:xfrm>
          <a:prstGeom prst="rect">
            <a:avLst/>
          </a:prstGeom>
        </p:spPr>
      </p:pic>
    </p:spTree>
    <p:extLst>
      <p:ext uri="{BB962C8B-B14F-4D97-AF65-F5344CB8AC3E}">
        <p14:creationId xmlns:p14="http://schemas.microsoft.com/office/powerpoint/2010/main" val="399222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46DE4-AEC5-6649-F9FC-1DDF58812C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3A9C41-2ED4-4FE0-3936-BA2E6B9C74AB}"/>
              </a:ext>
            </a:extLst>
          </p:cNvPr>
          <p:cNvSpPr>
            <a:spLocks noGrp="1"/>
          </p:cNvSpPr>
          <p:nvPr>
            <p:ph type="title"/>
          </p:nvPr>
        </p:nvSpPr>
        <p:spPr>
          <a:xfrm>
            <a:off x="219358" y="170098"/>
            <a:ext cx="4215384" cy="500462"/>
          </a:xfrm>
        </p:spPr>
        <p:txBody>
          <a:bodyPr anchor="t">
            <a:normAutofit fontScale="90000"/>
          </a:bodyPr>
          <a:lstStyle/>
          <a:p>
            <a:r>
              <a:rPr lang="es-AR" noProof="0" dirty="0"/>
              <a:t>Adquisición</a:t>
            </a:r>
          </a:p>
        </p:txBody>
      </p:sp>
      <p:sp>
        <p:nvSpPr>
          <p:cNvPr id="4" name="Marcador de contenido 3">
            <a:extLst>
              <a:ext uri="{FF2B5EF4-FFF2-40B4-BE49-F238E27FC236}">
                <a16:creationId xmlns:a16="http://schemas.microsoft.com/office/drawing/2014/main" id="{F2976714-2DAB-3DAA-4F27-B8DF32BBB7A9}"/>
              </a:ext>
            </a:extLst>
          </p:cNvPr>
          <p:cNvSpPr>
            <a:spLocks noGrp="1"/>
          </p:cNvSpPr>
          <p:nvPr>
            <p:ph sz="quarter" idx="13"/>
          </p:nvPr>
        </p:nvSpPr>
        <p:spPr>
          <a:xfrm>
            <a:off x="219358" y="640080"/>
            <a:ext cx="11753284" cy="2093288"/>
          </a:xfrm>
        </p:spPr>
        <p:txBody>
          <a:bodyPr>
            <a:normAutofit/>
          </a:bodyPr>
          <a:lstStyle/>
          <a:p>
            <a:pPr marL="0" indent="0" algn="just">
              <a:lnSpc>
                <a:spcPct val="150000"/>
              </a:lnSpc>
              <a:buNone/>
            </a:pPr>
            <a:r>
              <a:rPr lang="es-AR" sz="1600" noProof="0" dirty="0"/>
              <a:t>La adquisición de los datos se realiza mediante el uso de las </a:t>
            </a:r>
            <a:r>
              <a:rPr lang="es-AR" sz="1600" b="1" noProof="0" dirty="0"/>
              <a:t>Interfaces de Programación de Aplicaciones (API) </a:t>
            </a:r>
            <a:r>
              <a:rPr lang="es-AR" sz="1600" noProof="0" dirty="0"/>
              <a:t>provistas por los administradores de la información. Estas interfaces funcionan como piezas de código que permiten a dos aplicaciones comunicarse entre sí para compartir información y funcionalidades.</a:t>
            </a:r>
          </a:p>
          <a:p>
            <a:pPr marL="0" indent="0" algn="just">
              <a:lnSpc>
                <a:spcPct val="150000"/>
              </a:lnSpc>
              <a:buNone/>
            </a:pPr>
            <a:r>
              <a:rPr lang="es-AR" sz="1600" noProof="0" dirty="0"/>
              <a:t>La consulta programática a las API representa la capa de ingesta de datos del proyecto, los cuales son posteriormente tratados para su armonización e integración en el conjunto de datos consolidado.</a:t>
            </a:r>
          </a:p>
        </p:txBody>
      </p:sp>
      <p:pic>
        <p:nvPicPr>
          <p:cNvPr id="9" name="Imagen 8">
            <a:extLst>
              <a:ext uri="{FF2B5EF4-FFF2-40B4-BE49-F238E27FC236}">
                <a16:creationId xmlns:a16="http://schemas.microsoft.com/office/drawing/2014/main" id="{E1E3032C-73AD-D5E6-F5F1-9C17DD19C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8340" y="3203350"/>
            <a:ext cx="3328199" cy="2810950"/>
          </a:xfrm>
          <a:prstGeom prst="rect">
            <a:avLst/>
          </a:prstGeom>
        </p:spPr>
      </p:pic>
      <p:pic>
        <p:nvPicPr>
          <p:cNvPr id="1028" name="Picture 4" descr="Copernicus logo">
            <a:extLst>
              <a:ext uri="{FF2B5EF4-FFF2-40B4-BE49-F238E27FC236}">
                <a16:creationId xmlns:a16="http://schemas.microsoft.com/office/drawing/2014/main" id="{36E74F27-4147-84A7-80C1-8931BF672E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667433"/>
            <a:ext cx="4415174" cy="2478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274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E61B-FFEC-DA08-8469-9EC217354E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8E57C0-F926-044E-3936-D83B747A35E5}"/>
              </a:ext>
            </a:extLst>
          </p:cNvPr>
          <p:cNvSpPr>
            <a:spLocks noGrp="1"/>
          </p:cNvSpPr>
          <p:nvPr>
            <p:ph type="ctrTitle"/>
          </p:nvPr>
        </p:nvSpPr>
        <p:spPr>
          <a:xfrm>
            <a:off x="612648" y="502920"/>
            <a:ext cx="5852160" cy="2953512"/>
          </a:xfrm>
        </p:spPr>
        <p:txBody>
          <a:bodyPr anchor="t">
            <a:normAutofit/>
          </a:bodyPr>
          <a:lstStyle/>
          <a:p>
            <a:r>
              <a:rPr lang="es-AR" noProof="0" dirty="0"/>
              <a:t>Tratamiento</a:t>
            </a:r>
          </a:p>
        </p:txBody>
      </p:sp>
      <p:pic>
        <p:nvPicPr>
          <p:cNvPr id="5" name="Marcador de posición de imagen 4">
            <a:extLst>
              <a:ext uri="{FF2B5EF4-FFF2-40B4-BE49-F238E27FC236}">
                <a16:creationId xmlns:a16="http://schemas.microsoft.com/office/drawing/2014/main" id="{14DAB408-680B-8FD4-BDC2-320D26C9E52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0204" r="30204"/>
          <a:stretch/>
        </p:blipFill>
        <p:spPr>
          <a:xfrm>
            <a:off x="7534656" y="213"/>
            <a:ext cx="4654296" cy="6857573"/>
          </a:xfrm>
          <a:noFill/>
        </p:spPr>
      </p:pic>
      <p:sp>
        <p:nvSpPr>
          <p:cNvPr id="4" name="Subtítulo 3">
            <a:extLst>
              <a:ext uri="{FF2B5EF4-FFF2-40B4-BE49-F238E27FC236}">
                <a16:creationId xmlns:a16="http://schemas.microsoft.com/office/drawing/2014/main" id="{51D40DF9-57C6-CFDD-1C4B-B3A34A5602F6}"/>
              </a:ext>
            </a:extLst>
          </p:cNvPr>
          <p:cNvSpPr>
            <a:spLocks noGrp="1"/>
          </p:cNvSpPr>
          <p:nvPr>
            <p:ph type="subTitle" idx="1"/>
          </p:nvPr>
        </p:nvSpPr>
        <p:spPr/>
        <p:txBody>
          <a:bodyPr/>
          <a:lstStyle/>
          <a:p>
            <a:r>
              <a:rPr lang="es-AR" noProof="0" dirty="0"/>
              <a:t>Adaptación de datos crudos al propósito del proyecto.</a:t>
            </a:r>
          </a:p>
        </p:txBody>
      </p:sp>
    </p:spTree>
    <p:extLst>
      <p:ext uri="{BB962C8B-B14F-4D97-AF65-F5344CB8AC3E}">
        <p14:creationId xmlns:p14="http://schemas.microsoft.com/office/powerpoint/2010/main" val="34291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178C-86D1-C1EF-1CD0-7D47B6DA43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B34908-1061-D6EC-00C1-5913862528BC}"/>
              </a:ext>
            </a:extLst>
          </p:cNvPr>
          <p:cNvSpPr>
            <a:spLocks noGrp="1"/>
          </p:cNvSpPr>
          <p:nvPr>
            <p:ph type="title"/>
          </p:nvPr>
        </p:nvSpPr>
        <p:spPr>
          <a:xfrm>
            <a:off x="219358" y="170098"/>
            <a:ext cx="11753284" cy="500462"/>
          </a:xfrm>
        </p:spPr>
        <p:txBody>
          <a:bodyPr anchor="t">
            <a:normAutofit fontScale="90000"/>
          </a:bodyPr>
          <a:lstStyle/>
          <a:p>
            <a:r>
              <a:rPr lang="es-AR" noProof="0" dirty="0"/>
              <a:t>Meteorológicos</a:t>
            </a:r>
          </a:p>
        </p:txBody>
      </p:sp>
      <p:pic>
        <p:nvPicPr>
          <p:cNvPr id="6" name="Imagen 5">
            <a:extLst>
              <a:ext uri="{FF2B5EF4-FFF2-40B4-BE49-F238E27FC236}">
                <a16:creationId xmlns:a16="http://schemas.microsoft.com/office/drawing/2014/main" id="{F052BDC6-BAF0-61A3-C22E-530A95EF03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29951" y="338436"/>
            <a:ext cx="7562049" cy="6181128"/>
          </a:xfrm>
          <a:prstGeom prst="rect">
            <a:avLst/>
          </a:prstGeom>
          <a:noFill/>
          <a:ln>
            <a:noFill/>
          </a:ln>
        </p:spPr>
      </p:pic>
      <p:sp>
        <p:nvSpPr>
          <p:cNvPr id="7" name="CuadroTexto 6">
            <a:extLst>
              <a:ext uri="{FF2B5EF4-FFF2-40B4-BE49-F238E27FC236}">
                <a16:creationId xmlns:a16="http://schemas.microsoft.com/office/drawing/2014/main" id="{D01D790D-C3D9-7809-F097-1FB8092645E7}"/>
              </a:ext>
            </a:extLst>
          </p:cNvPr>
          <p:cNvSpPr txBox="1"/>
          <p:nvPr/>
        </p:nvSpPr>
        <p:spPr>
          <a:xfrm>
            <a:off x="219358" y="670560"/>
            <a:ext cx="4126611" cy="5849004"/>
          </a:xfrm>
          <a:prstGeom prst="rect">
            <a:avLst/>
          </a:prstGeom>
          <a:noFill/>
        </p:spPr>
        <p:txBody>
          <a:bodyPr wrap="square" rtlCol="0">
            <a:spAutoFit/>
          </a:bodyPr>
          <a:lstStyle/>
          <a:p>
            <a:pPr algn="just">
              <a:lnSpc>
                <a:spcPct val="150000"/>
              </a:lnSpc>
            </a:pPr>
            <a:r>
              <a:rPr lang="es-AR" sz="1600" noProof="0" dirty="0"/>
              <a:t>El sistema canadiense de índice meteorológico de incendios forestales (FWI) consta de </a:t>
            </a:r>
            <a:r>
              <a:rPr lang="es-AR" sz="1600" b="1" noProof="0" dirty="0"/>
              <a:t>seis componentes que explican los efectos de la humedad del combustible y las condiciones climáticas sobre el comportamiento del fuego:</a:t>
            </a:r>
            <a:endParaRPr lang="es-AR" sz="1600" noProof="0" dirty="0"/>
          </a:p>
          <a:p>
            <a:pPr marL="285750" indent="-285750" algn="just">
              <a:lnSpc>
                <a:spcPct val="150000"/>
              </a:lnSpc>
              <a:buFont typeface="Arial" panose="020B0604020202020204" pitchFamily="34" charset="0"/>
              <a:buChar char="•"/>
            </a:pPr>
            <a:r>
              <a:rPr lang="es-AR" sz="1400" noProof="0" dirty="0"/>
              <a:t>Los primeros tres componentes (FFMC, DMC, DC) son clasificaciones numéricas del contenido de humedad del suelo y otra materia orgánica muerta. Sus valores aumentan a medida que disminuye el contenido de humedad.</a:t>
            </a:r>
          </a:p>
          <a:p>
            <a:pPr marL="285750" indent="-285750" algn="just">
              <a:lnSpc>
                <a:spcPct val="150000"/>
              </a:lnSpc>
              <a:buFont typeface="Arial" panose="020B0604020202020204" pitchFamily="34" charset="0"/>
              <a:buChar char="•"/>
            </a:pPr>
            <a:r>
              <a:rPr lang="es-AR" sz="1400" noProof="0" dirty="0"/>
              <a:t>Los tres componentes restantes (ISI, BUI, FWI) son índices de comportamiento del fuego, que representan la tasa de propagación, el combustible disponible y la intensidad frontal. Estos valores aumentan a medida que aumenta el peligro de incendio.</a:t>
            </a:r>
          </a:p>
        </p:txBody>
      </p:sp>
      <p:sp>
        <p:nvSpPr>
          <p:cNvPr id="3" name="Rectángulo: esquinas redondeadas 2">
            <a:extLst>
              <a:ext uri="{FF2B5EF4-FFF2-40B4-BE49-F238E27FC236}">
                <a16:creationId xmlns:a16="http://schemas.microsoft.com/office/drawing/2014/main" id="{332445E5-2A29-A4BC-D69D-9595D9872B5A}"/>
              </a:ext>
            </a:extLst>
          </p:cNvPr>
          <p:cNvSpPr/>
          <p:nvPr/>
        </p:nvSpPr>
        <p:spPr>
          <a:xfrm>
            <a:off x="4498109" y="338436"/>
            <a:ext cx="7562049" cy="1102437"/>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sp>
        <p:nvSpPr>
          <p:cNvPr id="4" name="Rectángulo: esquinas redondeadas 3">
            <a:extLst>
              <a:ext uri="{FF2B5EF4-FFF2-40B4-BE49-F238E27FC236}">
                <a16:creationId xmlns:a16="http://schemas.microsoft.com/office/drawing/2014/main" id="{5CC6B7BF-AA4B-C7DC-F83A-12AAE21768E3}"/>
              </a:ext>
            </a:extLst>
          </p:cNvPr>
          <p:cNvSpPr/>
          <p:nvPr/>
        </p:nvSpPr>
        <p:spPr>
          <a:xfrm>
            <a:off x="4498108" y="1764145"/>
            <a:ext cx="7562049" cy="123767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sp>
        <p:nvSpPr>
          <p:cNvPr id="5" name="Rectángulo: esquinas redondeadas 4">
            <a:extLst>
              <a:ext uri="{FF2B5EF4-FFF2-40B4-BE49-F238E27FC236}">
                <a16:creationId xmlns:a16="http://schemas.microsoft.com/office/drawing/2014/main" id="{234074C5-579E-4050-18C3-F08DF6C25211}"/>
              </a:ext>
            </a:extLst>
          </p:cNvPr>
          <p:cNvSpPr/>
          <p:nvPr/>
        </p:nvSpPr>
        <p:spPr>
          <a:xfrm>
            <a:off x="4498109" y="3325090"/>
            <a:ext cx="7562048" cy="2964874"/>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67219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81B9-526A-B8CB-9881-6E687B5A0C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12F461-346B-EB2A-1BCB-71EE8E048BB2}"/>
              </a:ext>
            </a:extLst>
          </p:cNvPr>
          <p:cNvSpPr>
            <a:spLocks noGrp="1"/>
          </p:cNvSpPr>
          <p:nvPr>
            <p:ph type="title"/>
          </p:nvPr>
        </p:nvSpPr>
        <p:spPr>
          <a:xfrm>
            <a:off x="219358" y="170098"/>
            <a:ext cx="11753284" cy="500462"/>
          </a:xfrm>
        </p:spPr>
        <p:txBody>
          <a:bodyPr anchor="t">
            <a:normAutofit fontScale="90000"/>
          </a:bodyPr>
          <a:lstStyle/>
          <a:p>
            <a:r>
              <a:rPr lang="es-AR" noProof="0" dirty="0"/>
              <a:t>Focos de calor</a:t>
            </a:r>
          </a:p>
        </p:txBody>
      </p:sp>
      <p:sp>
        <p:nvSpPr>
          <p:cNvPr id="3" name="Rectangle: Rounded Corners 2">
            <a:extLst>
              <a:ext uri="{FF2B5EF4-FFF2-40B4-BE49-F238E27FC236}">
                <a16:creationId xmlns:a16="http://schemas.microsoft.com/office/drawing/2014/main" id="{C044A984-30E7-C257-2AD2-D4E295FAB13C}"/>
              </a:ext>
            </a:extLst>
          </p:cNvPr>
          <p:cNvSpPr/>
          <p:nvPr/>
        </p:nvSpPr>
        <p:spPr>
          <a:xfrm>
            <a:off x="219353" y="912442"/>
            <a:ext cx="11753284" cy="7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AR" b="1" noProof="0" dirty="0"/>
              <a:t>FILTRADO</a:t>
            </a:r>
            <a:endParaRPr lang="es-AR" noProof="0" dirty="0"/>
          </a:p>
          <a:p>
            <a:pPr algn="ctr"/>
            <a:r>
              <a:rPr lang="es-AR" noProof="0" dirty="0"/>
              <a:t>Registros de confianza baja.</a:t>
            </a:r>
          </a:p>
        </p:txBody>
      </p:sp>
      <p:sp>
        <p:nvSpPr>
          <p:cNvPr id="5" name="Rectangle: Rounded Corners 4">
            <a:extLst>
              <a:ext uri="{FF2B5EF4-FFF2-40B4-BE49-F238E27FC236}">
                <a16:creationId xmlns:a16="http://schemas.microsoft.com/office/drawing/2014/main" id="{68AF0836-6C70-2CF8-37C8-53B0093B243F}"/>
              </a:ext>
            </a:extLst>
          </p:cNvPr>
          <p:cNvSpPr/>
          <p:nvPr/>
        </p:nvSpPr>
        <p:spPr>
          <a:xfrm>
            <a:off x="219353" y="2043400"/>
            <a:ext cx="11753283" cy="7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AR" b="1" noProof="0" dirty="0"/>
              <a:t>RESOLUCIÓN ESPACIAL</a:t>
            </a:r>
          </a:p>
          <a:p>
            <a:pPr algn="ctr"/>
            <a:r>
              <a:rPr lang="es-AR" noProof="0" dirty="0"/>
              <a:t>De 375m a 10.000m</a:t>
            </a:r>
          </a:p>
        </p:txBody>
      </p:sp>
      <p:sp>
        <p:nvSpPr>
          <p:cNvPr id="6" name="Rectangle: Rounded Corners 5">
            <a:extLst>
              <a:ext uri="{FF2B5EF4-FFF2-40B4-BE49-F238E27FC236}">
                <a16:creationId xmlns:a16="http://schemas.microsoft.com/office/drawing/2014/main" id="{AA4EBE8C-3135-29D0-E339-C228CED2B1B0}"/>
              </a:ext>
            </a:extLst>
          </p:cNvPr>
          <p:cNvSpPr/>
          <p:nvPr/>
        </p:nvSpPr>
        <p:spPr>
          <a:xfrm>
            <a:off x="219352" y="3174358"/>
            <a:ext cx="11753282" cy="720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AR" b="1" noProof="0" dirty="0"/>
              <a:t>RESOLUCIÓN TEMPORAL</a:t>
            </a:r>
          </a:p>
          <a:p>
            <a:pPr algn="ctr"/>
            <a:r>
              <a:rPr lang="es-AR" noProof="0" dirty="0"/>
              <a:t>A observaciones diarias</a:t>
            </a:r>
          </a:p>
        </p:txBody>
      </p:sp>
      <p:sp>
        <p:nvSpPr>
          <p:cNvPr id="7" name="Rectangle: Rounded Corners 6">
            <a:extLst>
              <a:ext uri="{FF2B5EF4-FFF2-40B4-BE49-F238E27FC236}">
                <a16:creationId xmlns:a16="http://schemas.microsoft.com/office/drawing/2014/main" id="{201D637F-5FCB-4B60-1C6F-4FE2812C3C08}"/>
              </a:ext>
            </a:extLst>
          </p:cNvPr>
          <p:cNvSpPr/>
          <p:nvPr/>
        </p:nvSpPr>
        <p:spPr>
          <a:xfrm>
            <a:off x="219352" y="5436273"/>
            <a:ext cx="11753281" cy="71999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AR" b="1" noProof="0" dirty="0"/>
              <a:t>CONTEO DE FOCOS</a:t>
            </a:r>
          </a:p>
          <a:p>
            <a:pPr algn="ctr"/>
            <a:r>
              <a:rPr lang="es-AR" noProof="0" dirty="0" err="1"/>
              <a:t>Cant</a:t>
            </a:r>
            <a:r>
              <a:rPr lang="es-AR" noProof="0" dirty="0"/>
              <a:t>. de </a:t>
            </a:r>
            <a:r>
              <a:rPr lang="es-AR" noProof="0" dirty="0" err="1"/>
              <a:t>obs</a:t>
            </a:r>
            <a:r>
              <a:rPr lang="es-AR" noProof="0" dirty="0"/>
              <a:t>. por zona por día</a:t>
            </a:r>
          </a:p>
        </p:txBody>
      </p:sp>
      <p:sp>
        <p:nvSpPr>
          <p:cNvPr id="8" name="Rectangle: Rounded Corners 7">
            <a:extLst>
              <a:ext uri="{FF2B5EF4-FFF2-40B4-BE49-F238E27FC236}">
                <a16:creationId xmlns:a16="http://schemas.microsoft.com/office/drawing/2014/main" id="{3091B063-7B52-FB1D-E4D5-04A2D59DC719}"/>
              </a:ext>
            </a:extLst>
          </p:cNvPr>
          <p:cNvSpPr/>
          <p:nvPr/>
        </p:nvSpPr>
        <p:spPr>
          <a:xfrm>
            <a:off x="219352" y="4305316"/>
            <a:ext cx="11753282" cy="71999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s-AR" b="1" noProof="0" dirty="0"/>
              <a:t>ENERGIA EMITIDA</a:t>
            </a:r>
          </a:p>
          <a:p>
            <a:pPr algn="ctr"/>
            <a:r>
              <a:rPr lang="es-AR" noProof="0" dirty="0" err="1"/>
              <a:t>Prom</a:t>
            </a:r>
            <a:r>
              <a:rPr lang="es-AR" noProof="0" dirty="0"/>
              <a:t>. por zona por día</a:t>
            </a:r>
          </a:p>
        </p:txBody>
      </p:sp>
    </p:spTree>
    <p:extLst>
      <p:ext uri="{BB962C8B-B14F-4D97-AF65-F5344CB8AC3E}">
        <p14:creationId xmlns:p14="http://schemas.microsoft.com/office/powerpoint/2010/main" val="3087502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235F-FFC9-69D4-3B15-015A05B892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6EDB97-AC0F-FF81-CD29-7BF6759E9CBA}"/>
              </a:ext>
            </a:extLst>
          </p:cNvPr>
          <p:cNvSpPr>
            <a:spLocks noGrp="1"/>
          </p:cNvSpPr>
          <p:nvPr>
            <p:ph type="ctrTitle"/>
          </p:nvPr>
        </p:nvSpPr>
        <p:spPr>
          <a:xfrm>
            <a:off x="256854" y="328260"/>
            <a:ext cx="5852160" cy="904639"/>
          </a:xfrm>
        </p:spPr>
        <p:txBody>
          <a:bodyPr anchor="t">
            <a:normAutofit/>
          </a:bodyPr>
          <a:lstStyle/>
          <a:p>
            <a:r>
              <a:rPr lang="es-AR" noProof="0" dirty="0"/>
              <a:t>Resultado</a:t>
            </a:r>
          </a:p>
        </p:txBody>
      </p:sp>
      <p:pic>
        <p:nvPicPr>
          <p:cNvPr id="12" name="Picture 11" descr="A map of a land with red dots and numbers&#10;&#10;AI-generated content may be incorrect.">
            <a:extLst>
              <a:ext uri="{FF2B5EF4-FFF2-40B4-BE49-F238E27FC236}">
                <a16:creationId xmlns:a16="http://schemas.microsoft.com/office/drawing/2014/main" id="{EB7CC8BB-0755-7ECD-5537-2B3E6EE461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0246" y="0"/>
            <a:ext cx="6674069" cy="6858000"/>
          </a:xfrm>
          <a:prstGeom prst="rect">
            <a:avLst/>
          </a:prstGeom>
        </p:spPr>
      </p:pic>
      <p:sp>
        <p:nvSpPr>
          <p:cNvPr id="15" name="TextBox 14">
            <a:extLst>
              <a:ext uri="{FF2B5EF4-FFF2-40B4-BE49-F238E27FC236}">
                <a16:creationId xmlns:a16="http://schemas.microsoft.com/office/drawing/2014/main" id="{1F641F08-16C2-FB2D-D2BD-E5E0276B56C4}"/>
              </a:ext>
            </a:extLst>
          </p:cNvPr>
          <p:cNvSpPr txBox="1"/>
          <p:nvPr/>
        </p:nvSpPr>
        <p:spPr>
          <a:xfrm>
            <a:off x="256854" y="1157754"/>
            <a:ext cx="4931595" cy="4202945"/>
          </a:xfrm>
          <a:prstGeom prst="rect">
            <a:avLst/>
          </a:prstGeom>
          <a:noFill/>
        </p:spPr>
        <p:txBody>
          <a:bodyPr wrap="square">
            <a:spAutoFit/>
          </a:bodyPr>
          <a:lstStyle/>
          <a:p>
            <a:pPr marL="0" indent="0" algn="just">
              <a:lnSpc>
                <a:spcPct val="150000"/>
              </a:lnSpc>
              <a:buNone/>
            </a:pPr>
            <a:r>
              <a:rPr lang="es-AR" sz="2000" noProof="0" dirty="0">
                <a:solidFill>
                  <a:schemeClr val="bg2"/>
                </a:solidFill>
              </a:rPr>
              <a:t>En el conjunto consolidado cada fila representa una celda única de la grilla en un día específico con:</a:t>
            </a:r>
          </a:p>
          <a:p>
            <a:pPr marL="285750" indent="-285750" algn="just">
              <a:lnSpc>
                <a:spcPct val="150000"/>
              </a:lnSpc>
              <a:buFont typeface="Arial" panose="020B0604020202020204" pitchFamily="34" charset="0"/>
              <a:buChar char="•"/>
            </a:pPr>
            <a:r>
              <a:rPr lang="es-AR" sz="2000" b="1" noProof="0" dirty="0">
                <a:solidFill>
                  <a:schemeClr val="bg2"/>
                </a:solidFill>
              </a:rPr>
              <a:t>Predictores Meteorológicos: </a:t>
            </a:r>
            <a:r>
              <a:rPr lang="es-AR" sz="2000" noProof="0" dirty="0">
                <a:solidFill>
                  <a:schemeClr val="bg2"/>
                </a:solidFill>
              </a:rPr>
              <a:t>Información meteorológica más el conjunto de las 6 variables del FWI.</a:t>
            </a:r>
          </a:p>
          <a:p>
            <a:pPr marL="285750" indent="-285750" algn="just">
              <a:lnSpc>
                <a:spcPct val="150000"/>
              </a:lnSpc>
              <a:buFont typeface="Arial" panose="020B0604020202020204" pitchFamily="34" charset="0"/>
              <a:buChar char="•"/>
            </a:pPr>
            <a:r>
              <a:rPr lang="es-AR" sz="2000" b="1" noProof="0" dirty="0">
                <a:solidFill>
                  <a:schemeClr val="bg2"/>
                </a:solidFill>
              </a:rPr>
              <a:t>Variables Objetivo: </a:t>
            </a:r>
            <a:r>
              <a:rPr lang="es-AR" sz="2000" noProof="0" dirty="0">
                <a:solidFill>
                  <a:schemeClr val="bg2"/>
                </a:solidFill>
              </a:rPr>
              <a:t>El conteo de focos, el promedio de FRP y la etiqueta binaria, ya filtradas e interpoladas.</a:t>
            </a:r>
          </a:p>
        </p:txBody>
      </p:sp>
    </p:spTree>
    <p:extLst>
      <p:ext uri="{BB962C8B-B14F-4D97-AF65-F5344CB8AC3E}">
        <p14:creationId xmlns:p14="http://schemas.microsoft.com/office/powerpoint/2010/main" val="1061091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4E2D-D476-D6D4-921B-983525B4AA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6ABCE6-6CE4-A05E-0DEF-E93A1B6D2284}"/>
              </a:ext>
            </a:extLst>
          </p:cNvPr>
          <p:cNvSpPr>
            <a:spLocks noGrp="1"/>
          </p:cNvSpPr>
          <p:nvPr>
            <p:ph type="ctrTitle"/>
          </p:nvPr>
        </p:nvSpPr>
        <p:spPr>
          <a:xfrm>
            <a:off x="8247888" y="713232"/>
            <a:ext cx="3364992" cy="3227832"/>
          </a:xfrm>
        </p:spPr>
        <p:txBody>
          <a:bodyPr anchor="t">
            <a:normAutofit/>
          </a:bodyPr>
          <a:lstStyle/>
          <a:p>
            <a:r>
              <a:rPr lang="es-AR" noProof="0" dirty="0"/>
              <a:t>Análisis exploratorio de conjunto consolidado</a:t>
            </a:r>
          </a:p>
        </p:txBody>
      </p:sp>
      <p:sp>
        <p:nvSpPr>
          <p:cNvPr id="4" name="Subtítulo 3">
            <a:extLst>
              <a:ext uri="{FF2B5EF4-FFF2-40B4-BE49-F238E27FC236}">
                <a16:creationId xmlns:a16="http://schemas.microsoft.com/office/drawing/2014/main" id="{0C2BF488-1606-C1BC-D200-865AF087EF18}"/>
              </a:ext>
            </a:extLst>
          </p:cNvPr>
          <p:cNvSpPr>
            <a:spLocks noGrp="1"/>
          </p:cNvSpPr>
          <p:nvPr>
            <p:ph type="subTitle" idx="1"/>
          </p:nvPr>
        </p:nvSpPr>
        <p:spPr>
          <a:xfrm>
            <a:off x="8247888" y="5138927"/>
            <a:ext cx="3200400" cy="1197864"/>
          </a:xfrm>
        </p:spPr>
        <p:txBody>
          <a:bodyPr>
            <a:normAutofit/>
          </a:bodyPr>
          <a:lstStyle/>
          <a:p>
            <a:r>
              <a:rPr lang="es-AR" noProof="0" dirty="0"/>
              <a:t>Identificación de correlaciones y patrones en la información.</a:t>
            </a:r>
          </a:p>
        </p:txBody>
      </p:sp>
      <p:pic>
        <p:nvPicPr>
          <p:cNvPr id="5" name="Marcador de posición de imagen 4">
            <a:extLst>
              <a:ext uri="{FF2B5EF4-FFF2-40B4-BE49-F238E27FC236}">
                <a16:creationId xmlns:a16="http://schemas.microsoft.com/office/drawing/2014/main" id="{AF60A015-B7BB-B53B-08BF-06E2A8B2FD1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7194" r="10893"/>
          <a:stretch>
            <a:fillRect/>
          </a:stretch>
        </p:blipFill>
        <p:spPr>
          <a:xfrm>
            <a:off x="20" y="10"/>
            <a:ext cx="7548431" cy="6857990"/>
          </a:xfrm>
          <a:noFill/>
        </p:spPr>
      </p:pic>
    </p:spTree>
    <p:extLst>
      <p:ext uri="{BB962C8B-B14F-4D97-AF65-F5344CB8AC3E}">
        <p14:creationId xmlns:p14="http://schemas.microsoft.com/office/powerpoint/2010/main" val="1283197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63E4-FC90-FA57-9B34-84111CD7A34D}"/>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8F8003E4-EC70-A6CB-A249-631A18AB6F16}"/>
              </a:ext>
            </a:extLst>
          </p:cNvPr>
          <p:cNvSpPr txBox="1">
            <a:spLocks/>
          </p:cNvSpPr>
          <p:nvPr/>
        </p:nvSpPr>
        <p:spPr>
          <a:xfrm>
            <a:off x="119488" y="113016"/>
            <a:ext cx="10954512" cy="60752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spcAft>
                <a:spcPts val="600"/>
              </a:spcAft>
            </a:pPr>
            <a:r>
              <a:rPr lang="es-AR" b="0" kern="1200" noProof="0" dirty="0" err="1">
                <a:latin typeface="+mj-lt"/>
                <a:ea typeface="+mj-ea"/>
                <a:cs typeface="+mj-cs"/>
              </a:rPr>
              <a:t>Fire</a:t>
            </a:r>
            <a:r>
              <a:rPr lang="es-AR" b="0" kern="1200" noProof="0" dirty="0">
                <a:latin typeface="+mj-lt"/>
                <a:ea typeface="+mj-ea"/>
                <a:cs typeface="+mj-cs"/>
              </a:rPr>
              <a:t> </a:t>
            </a:r>
            <a:r>
              <a:rPr lang="es-AR" b="0" kern="1200" noProof="0" dirty="0" err="1">
                <a:latin typeface="+mj-lt"/>
                <a:ea typeface="+mj-ea"/>
                <a:cs typeface="+mj-cs"/>
              </a:rPr>
              <a:t>Weather</a:t>
            </a:r>
            <a:r>
              <a:rPr lang="es-AR" b="0" kern="1200" noProof="0" dirty="0">
                <a:latin typeface="+mj-lt"/>
                <a:ea typeface="+mj-ea"/>
                <a:cs typeface="+mj-cs"/>
              </a:rPr>
              <a:t> </a:t>
            </a:r>
            <a:r>
              <a:rPr lang="es-AR" b="0" kern="1200" noProof="0" dirty="0" err="1">
                <a:latin typeface="+mj-lt"/>
                <a:ea typeface="+mj-ea"/>
                <a:cs typeface="+mj-cs"/>
              </a:rPr>
              <a:t>Index</a:t>
            </a:r>
            <a:r>
              <a:rPr lang="es-AR" b="0" kern="1200" noProof="0" dirty="0">
                <a:latin typeface="+mj-lt"/>
                <a:ea typeface="+mj-ea"/>
                <a:cs typeface="+mj-cs"/>
              </a:rPr>
              <a:t> (FWI)</a:t>
            </a:r>
          </a:p>
        </p:txBody>
      </p:sp>
      <p:pic>
        <p:nvPicPr>
          <p:cNvPr id="9" name="Imagen 8">
            <a:extLst>
              <a:ext uri="{FF2B5EF4-FFF2-40B4-BE49-F238E27FC236}">
                <a16:creationId xmlns:a16="http://schemas.microsoft.com/office/drawing/2014/main" id="{1687A39C-E43F-03CC-634F-A2014AA7BC9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942975"/>
            <a:ext cx="12192000" cy="5451985"/>
          </a:xfrm>
          <a:prstGeom prst="rect">
            <a:avLst/>
          </a:prstGeom>
          <a:noFill/>
        </p:spPr>
      </p:pic>
    </p:spTree>
    <p:extLst>
      <p:ext uri="{BB962C8B-B14F-4D97-AF65-F5344CB8AC3E}">
        <p14:creationId xmlns:p14="http://schemas.microsoft.com/office/powerpoint/2010/main" val="3258857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DD0C-3A1A-B485-8DDD-E6B3958D541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D3B7EF1-91D1-B67F-19E0-DB880D001104}"/>
              </a:ext>
            </a:extLst>
          </p:cNvPr>
          <p:cNvPicPr>
            <a:picLocks noChangeAspect="1"/>
          </p:cNvPicPr>
          <p:nvPr/>
        </p:nvPicPr>
        <p:blipFill>
          <a:blip r:embed="rId3">
            <a:extLst>
              <a:ext uri="{28A0092B-C50C-407E-A947-70E740481C1C}">
                <a14:useLocalDpi xmlns:a14="http://schemas.microsoft.com/office/drawing/2010/main" val="0"/>
              </a:ext>
            </a:extLst>
          </a:blip>
          <a:srcRect t="4319" b="5681"/>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1490036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7E6CA-8421-46A6-64A6-F8359A41EC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84CFDC-D78A-A08C-DFBD-DB721C0CD967}"/>
              </a:ext>
            </a:extLst>
          </p:cNvPr>
          <p:cNvSpPr/>
          <p:nvPr/>
        </p:nvSpPr>
        <p:spPr>
          <a:xfrm>
            <a:off x="0" y="0"/>
            <a:ext cx="12192000" cy="685157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pic>
        <p:nvPicPr>
          <p:cNvPr id="6" name="Imagen 5">
            <a:extLst>
              <a:ext uri="{FF2B5EF4-FFF2-40B4-BE49-F238E27FC236}">
                <a16:creationId xmlns:a16="http://schemas.microsoft.com/office/drawing/2014/main" id="{63161228-2980-525B-2F37-46151089D7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4737" y="0"/>
            <a:ext cx="10962526" cy="6851579"/>
          </a:xfrm>
          <a:prstGeom prst="rect">
            <a:avLst/>
          </a:prstGeom>
        </p:spPr>
      </p:pic>
    </p:spTree>
    <p:extLst>
      <p:ext uri="{BB962C8B-B14F-4D97-AF65-F5344CB8AC3E}">
        <p14:creationId xmlns:p14="http://schemas.microsoft.com/office/powerpoint/2010/main" val="1332725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08AD9-D284-3A4E-CA73-1908DD78AE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748D2F-81E2-D5D4-9FDF-C460B7DC44D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285" y="1019514"/>
            <a:ext cx="12047430" cy="4818972"/>
          </a:xfrm>
          <a:prstGeom prst="rect">
            <a:avLst/>
          </a:prstGeom>
        </p:spPr>
      </p:pic>
      <p:sp>
        <p:nvSpPr>
          <p:cNvPr id="5" name="Título 1">
            <a:extLst>
              <a:ext uri="{FF2B5EF4-FFF2-40B4-BE49-F238E27FC236}">
                <a16:creationId xmlns:a16="http://schemas.microsoft.com/office/drawing/2014/main" id="{0919D15E-EA16-7E7E-F14F-6434E55ECC92}"/>
              </a:ext>
            </a:extLst>
          </p:cNvPr>
          <p:cNvSpPr txBox="1">
            <a:spLocks/>
          </p:cNvSpPr>
          <p:nvPr/>
        </p:nvSpPr>
        <p:spPr>
          <a:xfrm>
            <a:off x="119488" y="113016"/>
            <a:ext cx="10954512" cy="60752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spcAft>
                <a:spcPts val="600"/>
              </a:spcAft>
            </a:pPr>
            <a:r>
              <a:rPr lang="es-AR" b="0" kern="1200" noProof="0" dirty="0">
                <a:latin typeface="+mj-lt"/>
                <a:ea typeface="+mj-ea"/>
                <a:cs typeface="+mj-cs"/>
              </a:rPr>
              <a:t>Focos de calor</a:t>
            </a:r>
          </a:p>
        </p:txBody>
      </p:sp>
    </p:spTree>
    <p:extLst>
      <p:ext uri="{BB962C8B-B14F-4D97-AF65-F5344CB8AC3E}">
        <p14:creationId xmlns:p14="http://schemas.microsoft.com/office/powerpoint/2010/main" val="1365427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2F57-F4A3-2F8A-F4AC-256DCF74096C}"/>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64CF8A41-13A7-1541-50B0-4331793AC854}"/>
              </a:ext>
            </a:extLst>
          </p:cNvPr>
          <p:cNvSpPr txBox="1">
            <a:spLocks/>
          </p:cNvSpPr>
          <p:nvPr/>
        </p:nvSpPr>
        <p:spPr>
          <a:xfrm>
            <a:off x="1139952" y="5725479"/>
            <a:ext cx="9912096" cy="59436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lnSpc>
                <a:spcPct val="120000"/>
              </a:lnSpc>
              <a:spcAft>
                <a:spcPts val="600"/>
              </a:spcAft>
            </a:pPr>
            <a:r>
              <a:rPr lang="es-AR" sz="2800" b="0" kern="1200" noProof="0" dirty="0">
                <a:solidFill>
                  <a:schemeClr val="bg1"/>
                </a:solidFill>
                <a:latin typeface="+mj-lt"/>
                <a:ea typeface="+mj-ea"/>
                <a:cs typeface="+mj-cs"/>
              </a:rPr>
              <a:t>Meteorología</a:t>
            </a:r>
          </a:p>
        </p:txBody>
      </p:sp>
      <p:pic>
        <p:nvPicPr>
          <p:cNvPr id="7" name="Picture 6">
            <a:extLst>
              <a:ext uri="{FF2B5EF4-FFF2-40B4-BE49-F238E27FC236}">
                <a16:creationId xmlns:a16="http://schemas.microsoft.com/office/drawing/2014/main" id="{7C24C62D-017F-E201-8ACD-C16CDC101C2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200" y="-1"/>
            <a:ext cx="12332862" cy="5514975"/>
          </a:xfrm>
          <a:prstGeom prst="rect">
            <a:avLst/>
          </a:prstGeom>
          <a:noFill/>
        </p:spPr>
      </p:pic>
    </p:spTree>
    <p:extLst>
      <p:ext uri="{BB962C8B-B14F-4D97-AF65-F5344CB8AC3E}">
        <p14:creationId xmlns:p14="http://schemas.microsoft.com/office/powerpoint/2010/main" val="2230396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FF6E-3F10-CEF4-8709-9396511395FF}"/>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E73E933C-502A-95D5-E879-AF957FC98C12}"/>
              </a:ext>
            </a:extLst>
          </p:cNvPr>
          <p:cNvSpPr txBox="1">
            <a:spLocks/>
          </p:cNvSpPr>
          <p:nvPr/>
        </p:nvSpPr>
        <p:spPr>
          <a:xfrm>
            <a:off x="196031" y="2116836"/>
            <a:ext cx="4673920" cy="262432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spcAft>
                <a:spcPts val="600"/>
              </a:spcAft>
            </a:pPr>
            <a:r>
              <a:rPr lang="es-AR" sz="4800" b="0" kern="1200" noProof="0" dirty="0">
                <a:solidFill>
                  <a:schemeClr val="bg1"/>
                </a:solidFill>
                <a:latin typeface="+mj-lt"/>
                <a:ea typeface="+mj-ea"/>
                <a:cs typeface="+mj-cs"/>
              </a:rPr>
              <a:t>Resumen de condiciones extremas</a:t>
            </a:r>
          </a:p>
        </p:txBody>
      </p:sp>
      <p:graphicFrame>
        <p:nvGraphicFramePr>
          <p:cNvPr id="4" name="Table 3">
            <a:extLst>
              <a:ext uri="{FF2B5EF4-FFF2-40B4-BE49-F238E27FC236}">
                <a16:creationId xmlns:a16="http://schemas.microsoft.com/office/drawing/2014/main" id="{B26AC511-7DBB-EE2F-9F81-890504BA517F}"/>
              </a:ext>
            </a:extLst>
          </p:cNvPr>
          <p:cNvGraphicFramePr>
            <a:graphicFrameLocks noGrp="1"/>
          </p:cNvGraphicFramePr>
          <p:nvPr>
            <p:extLst>
              <p:ext uri="{D42A27DB-BD31-4B8C-83A1-F6EECF244321}">
                <p14:modId xmlns:p14="http://schemas.microsoft.com/office/powerpoint/2010/main" val="4246463503"/>
              </p:ext>
            </p:extLst>
          </p:nvPr>
        </p:nvGraphicFramePr>
        <p:xfrm>
          <a:off x="5506947" y="28114"/>
          <a:ext cx="6226139" cy="6801772"/>
        </p:xfrm>
        <a:graphic>
          <a:graphicData uri="http://schemas.openxmlformats.org/drawingml/2006/table">
            <a:tbl>
              <a:tblPr firstRow="1" bandRow="1">
                <a:tableStyleId>{8799B23B-EC83-4686-B30A-512413B5E67A}</a:tableStyleId>
              </a:tblPr>
              <a:tblGrid>
                <a:gridCol w="866098">
                  <a:extLst>
                    <a:ext uri="{9D8B030D-6E8A-4147-A177-3AD203B41FA5}">
                      <a16:colId xmlns:a16="http://schemas.microsoft.com/office/drawing/2014/main" val="2423190385"/>
                    </a:ext>
                  </a:extLst>
                </a:gridCol>
                <a:gridCol w="1496556">
                  <a:extLst>
                    <a:ext uri="{9D8B030D-6E8A-4147-A177-3AD203B41FA5}">
                      <a16:colId xmlns:a16="http://schemas.microsoft.com/office/drawing/2014/main" val="711153379"/>
                    </a:ext>
                  </a:extLst>
                </a:gridCol>
                <a:gridCol w="1560671">
                  <a:extLst>
                    <a:ext uri="{9D8B030D-6E8A-4147-A177-3AD203B41FA5}">
                      <a16:colId xmlns:a16="http://schemas.microsoft.com/office/drawing/2014/main" val="3214088404"/>
                    </a:ext>
                  </a:extLst>
                </a:gridCol>
                <a:gridCol w="874646">
                  <a:extLst>
                    <a:ext uri="{9D8B030D-6E8A-4147-A177-3AD203B41FA5}">
                      <a16:colId xmlns:a16="http://schemas.microsoft.com/office/drawing/2014/main" val="2599992967"/>
                    </a:ext>
                  </a:extLst>
                </a:gridCol>
                <a:gridCol w="1428168">
                  <a:extLst>
                    <a:ext uri="{9D8B030D-6E8A-4147-A177-3AD203B41FA5}">
                      <a16:colId xmlns:a16="http://schemas.microsoft.com/office/drawing/2014/main" val="4268028680"/>
                    </a:ext>
                  </a:extLst>
                </a:gridCol>
              </a:tblGrid>
              <a:tr h="210464">
                <a:tc gridSpan="5">
                  <a:txBody>
                    <a:bodyPr/>
                    <a:lstStyle/>
                    <a:p>
                      <a:pPr algn="ctr" fontAlgn="b">
                        <a:buNone/>
                      </a:pPr>
                      <a:r>
                        <a:rPr lang="es-AR" sz="1400" b="1" u="none" strike="noStrike" noProof="0" dirty="0">
                          <a:solidFill>
                            <a:srgbClr val="000000"/>
                          </a:solidFill>
                          <a:effectLst/>
                        </a:rPr>
                        <a:t>DÍAS MÁS CÁLIDOS (Temperatura máxima)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478052792"/>
                  </a:ext>
                </a:extLst>
              </a:tr>
              <a:tr h="210464">
                <a:tc>
                  <a:txBody>
                    <a:bodyPr/>
                    <a:lstStyle/>
                    <a:p>
                      <a:pPr algn="l" fontAlgn="b">
                        <a:buNone/>
                      </a:pPr>
                      <a:r>
                        <a:rPr lang="es-AR" sz="1400" b="1" u="none" strike="noStrike" noProof="0" dirty="0">
                          <a:solidFill>
                            <a:srgbClr val="000000"/>
                          </a:solidFill>
                          <a:effectLst/>
                        </a:rPr>
                        <a:t>Fecha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err="1">
                          <a:solidFill>
                            <a:srgbClr val="000000"/>
                          </a:solidFill>
                          <a:effectLst/>
                        </a:rPr>
                        <a:t>Temp</a:t>
                      </a:r>
                      <a:r>
                        <a:rPr lang="es-AR" sz="1400" b="1" u="none" strike="noStrike" noProof="0" dirty="0">
                          <a:solidFill>
                            <a:srgbClr val="000000"/>
                          </a:solidFill>
                          <a:effectLst/>
                        </a:rPr>
                        <a:t>. Máx. (°C)</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Humedad Mín. (%)</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FWI Máx.</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Focos de Incendio</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516749894"/>
                  </a:ext>
                </a:extLst>
              </a:tr>
              <a:tr h="210464">
                <a:tc>
                  <a:txBody>
                    <a:bodyPr/>
                    <a:lstStyle/>
                    <a:p>
                      <a:pPr algn="r" fontAlgn="b">
                        <a:buNone/>
                      </a:pPr>
                      <a:r>
                        <a:rPr lang="es-AR" sz="1400" b="0" u="none" strike="noStrike" noProof="0" dirty="0">
                          <a:solidFill>
                            <a:srgbClr val="000000"/>
                          </a:solidFill>
                          <a:effectLst/>
                        </a:rPr>
                        <a:t>29-ene-25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32.00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12.45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48.84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702284975"/>
                  </a:ext>
                </a:extLst>
              </a:tr>
              <a:tr h="210464">
                <a:tc>
                  <a:txBody>
                    <a:bodyPr/>
                    <a:lstStyle/>
                    <a:p>
                      <a:pPr algn="r" fontAlgn="b">
                        <a:buNone/>
                      </a:pPr>
                      <a:r>
                        <a:rPr lang="es-AR" sz="1400" b="0" u="none" strike="noStrike" noProof="0" dirty="0">
                          <a:solidFill>
                            <a:srgbClr val="000000"/>
                          </a:solidFill>
                          <a:effectLst/>
                        </a:rPr>
                        <a:t>26-dic-24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31.75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14.61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34.31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26469025"/>
                  </a:ext>
                </a:extLst>
              </a:tr>
              <a:tr h="210464">
                <a:tc>
                  <a:txBody>
                    <a:bodyPr/>
                    <a:lstStyle/>
                    <a:p>
                      <a:pPr algn="r" fontAlgn="b">
                        <a:buNone/>
                      </a:pPr>
                      <a:r>
                        <a:rPr lang="es-AR" sz="1400" b="0" u="none" strike="noStrike" noProof="0" dirty="0">
                          <a:solidFill>
                            <a:srgbClr val="000000"/>
                          </a:solidFill>
                          <a:effectLst/>
                        </a:rPr>
                        <a:t>30-ene-25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31.75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11.56</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54.08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945359855"/>
                  </a:ext>
                </a:extLst>
              </a:tr>
              <a:tr h="210464">
                <a:tc>
                  <a:txBody>
                    <a:bodyPr/>
                    <a:lstStyle/>
                    <a:p>
                      <a:pPr algn="r" fontAlgn="b">
                        <a:buNone/>
                      </a:pPr>
                      <a:r>
                        <a:rPr lang="es-AR" sz="1400" b="0" u="none" strike="noStrike" noProof="0" dirty="0">
                          <a:solidFill>
                            <a:srgbClr val="000000"/>
                          </a:solidFill>
                          <a:effectLst/>
                        </a:rPr>
                        <a:t>25-dic-24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31.50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11.93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30.16</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49633240"/>
                  </a:ext>
                </a:extLst>
              </a:tr>
              <a:tr h="210464">
                <a:tc>
                  <a:txBody>
                    <a:bodyPr/>
                    <a:lstStyle/>
                    <a:p>
                      <a:pPr algn="r" fontAlgn="b">
                        <a:buNone/>
                      </a:pPr>
                      <a:r>
                        <a:rPr lang="es-AR" sz="1400" b="0" u="none" strike="noStrike" noProof="0" dirty="0">
                          <a:solidFill>
                            <a:srgbClr val="000000"/>
                          </a:solidFill>
                          <a:effectLst/>
                        </a:rPr>
                        <a:t>9-feb-25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31.18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13.38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50.78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130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2237653308"/>
                  </a:ext>
                </a:extLst>
              </a:tr>
              <a:tr h="210464">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244203827"/>
                  </a:ext>
                </a:extLst>
              </a:tr>
              <a:tr h="210464">
                <a:tc gridSpan="5">
                  <a:txBody>
                    <a:bodyPr/>
                    <a:lstStyle/>
                    <a:p>
                      <a:pPr algn="ctr" fontAlgn="b">
                        <a:buNone/>
                      </a:pPr>
                      <a:r>
                        <a:rPr lang="es-AR" sz="1400" b="1" u="none" strike="noStrike" noProof="0" dirty="0">
                          <a:solidFill>
                            <a:srgbClr val="000000"/>
                          </a:solidFill>
                          <a:effectLst/>
                        </a:rPr>
                        <a:t>DÍAS MÁS SECOS (Humedad mínima)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2105735575"/>
                  </a:ext>
                </a:extLst>
              </a:tr>
              <a:tr h="210464">
                <a:tc>
                  <a:txBody>
                    <a:bodyPr/>
                    <a:lstStyle/>
                    <a:p>
                      <a:pPr algn="l" fontAlgn="b">
                        <a:buNone/>
                      </a:pPr>
                      <a:r>
                        <a:rPr lang="es-AR" sz="1400" b="1" u="none" strike="noStrike" noProof="0" dirty="0">
                          <a:solidFill>
                            <a:srgbClr val="000000"/>
                          </a:solidFill>
                          <a:effectLst/>
                        </a:rPr>
                        <a:t>Fecha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Humedad Mín. (%)</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err="1">
                          <a:solidFill>
                            <a:srgbClr val="000000"/>
                          </a:solidFill>
                          <a:effectLst/>
                        </a:rPr>
                        <a:t>Temp</a:t>
                      </a:r>
                      <a:r>
                        <a:rPr lang="es-AR" sz="1400" b="1" u="none" strike="noStrike" noProof="0" dirty="0">
                          <a:solidFill>
                            <a:srgbClr val="000000"/>
                          </a:solidFill>
                          <a:effectLst/>
                        </a:rPr>
                        <a:t>. Máx. (°C)</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FWI Máx.</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Focos de Incendio</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121836397"/>
                  </a:ext>
                </a:extLst>
              </a:tr>
              <a:tr h="210464">
                <a:tc>
                  <a:txBody>
                    <a:bodyPr/>
                    <a:lstStyle/>
                    <a:p>
                      <a:pPr algn="r" fontAlgn="b">
                        <a:buNone/>
                      </a:pPr>
                      <a:r>
                        <a:rPr lang="es-AR" sz="1400" b="0" u="none" strike="noStrike" noProof="0" dirty="0">
                          <a:solidFill>
                            <a:srgbClr val="000000"/>
                          </a:solidFill>
                          <a:effectLst/>
                        </a:rPr>
                        <a:t>30-ene-25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11.56</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31.75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54.08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587284593"/>
                  </a:ext>
                </a:extLst>
              </a:tr>
              <a:tr h="210464">
                <a:tc>
                  <a:txBody>
                    <a:bodyPr/>
                    <a:lstStyle/>
                    <a:p>
                      <a:pPr algn="r" fontAlgn="b">
                        <a:buNone/>
                      </a:pPr>
                      <a:r>
                        <a:rPr lang="es-AR" sz="1400" b="0" u="none" strike="noStrike" noProof="0" dirty="0">
                          <a:solidFill>
                            <a:srgbClr val="000000"/>
                          </a:solidFill>
                          <a:effectLst/>
                        </a:rPr>
                        <a:t>25-dic-24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11.93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31.50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30.16</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543491023"/>
                  </a:ext>
                </a:extLst>
              </a:tr>
              <a:tr h="210464">
                <a:tc>
                  <a:txBody>
                    <a:bodyPr/>
                    <a:lstStyle/>
                    <a:p>
                      <a:pPr algn="r" fontAlgn="b">
                        <a:buNone/>
                      </a:pPr>
                      <a:r>
                        <a:rPr lang="es-AR" sz="1400" b="0" u="none" strike="noStrike" noProof="0" dirty="0">
                          <a:solidFill>
                            <a:srgbClr val="000000"/>
                          </a:solidFill>
                          <a:effectLst/>
                        </a:rPr>
                        <a:t>29-ene-25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12.45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32.00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48.84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113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47258266"/>
                  </a:ext>
                </a:extLst>
              </a:tr>
              <a:tr h="210464">
                <a:tc>
                  <a:txBody>
                    <a:bodyPr/>
                    <a:lstStyle/>
                    <a:p>
                      <a:pPr algn="r" fontAlgn="b">
                        <a:buNone/>
                      </a:pPr>
                      <a:r>
                        <a:rPr lang="es-AR" sz="1400" b="0" u="none" strike="noStrike" noProof="0" dirty="0">
                          <a:solidFill>
                            <a:srgbClr val="000000"/>
                          </a:solidFill>
                          <a:effectLst/>
                        </a:rPr>
                        <a:t>9-feb-25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13.38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31.18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50.78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130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159021418"/>
                  </a:ext>
                </a:extLst>
              </a:tr>
              <a:tr h="210464">
                <a:tc>
                  <a:txBody>
                    <a:bodyPr/>
                    <a:lstStyle/>
                    <a:p>
                      <a:pPr algn="r" fontAlgn="b">
                        <a:buNone/>
                      </a:pPr>
                      <a:r>
                        <a:rPr lang="es-AR" sz="1400" b="0" u="none" strike="noStrike" noProof="0" dirty="0">
                          <a:solidFill>
                            <a:srgbClr val="000000"/>
                          </a:solidFill>
                          <a:effectLst/>
                        </a:rPr>
                        <a:t>28-ene-25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14.45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27.01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42.48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37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263207183"/>
                  </a:ext>
                </a:extLst>
              </a:tr>
              <a:tr h="210464">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2955402552"/>
                  </a:ext>
                </a:extLst>
              </a:tr>
              <a:tr h="210464">
                <a:tc gridSpan="5">
                  <a:txBody>
                    <a:bodyPr/>
                    <a:lstStyle/>
                    <a:p>
                      <a:pPr algn="ctr" fontAlgn="b">
                        <a:buNone/>
                      </a:pPr>
                      <a:r>
                        <a:rPr lang="es-AR" sz="1400" b="1" u="none" strike="noStrike" noProof="0" dirty="0">
                          <a:solidFill>
                            <a:srgbClr val="000000"/>
                          </a:solidFill>
                          <a:effectLst/>
                        </a:rPr>
                        <a:t>DÍAS MÁS VENTOSOS (Velocidad máxima)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2055871148"/>
                  </a:ext>
                </a:extLst>
              </a:tr>
              <a:tr h="210464">
                <a:tc>
                  <a:txBody>
                    <a:bodyPr/>
                    <a:lstStyle/>
                    <a:p>
                      <a:pPr algn="l" fontAlgn="b">
                        <a:buNone/>
                      </a:pPr>
                      <a:r>
                        <a:rPr lang="es-AR" sz="1400" b="1" u="none" strike="noStrike" noProof="0" dirty="0">
                          <a:solidFill>
                            <a:srgbClr val="000000"/>
                          </a:solidFill>
                          <a:effectLst/>
                        </a:rPr>
                        <a:t>Fecha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Viento Máx. (m/s)</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err="1">
                          <a:solidFill>
                            <a:srgbClr val="000000"/>
                          </a:solidFill>
                          <a:effectLst/>
                        </a:rPr>
                        <a:t>Temp</a:t>
                      </a:r>
                      <a:r>
                        <a:rPr lang="es-AR" sz="1400" b="1" u="none" strike="noStrike" noProof="0" dirty="0">
                          <a:solidFill>
                            <a:srgbClr val="000000"/>
                          </a:solidFill>
                          <a:effectLst/>
                        </a:rPr>
                        <a:t>. Máx. (°C)</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FWI Máx.</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Focos de Incendio</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144623163"/>
                  </a:ext>
                </a:extLst>
              </a:tr>
              <a:tr h="210464">
                <a:tc>
                  <a:txBody>
                    <a:bodyPr/>
                    <a:lstStyle/>
                    <a:p>
                      <a:pPr algn="r" fontAlgn="b">
                        <a:buNone/>
                      </a:pPr>
                      <a:r>
                        <a:rPr lang="es-AR" sz="1400" b="0" u="none" strike="noStrike" noProof="0" dirty="0">
                          <a:solidFill>
                            <a:srgbClr val="000000"/>
                          </a:solidFill>
                          <a:effectLst/>
                        </a:rPr>
                        <a:t>10-feb-25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4.37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23.14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54.51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32</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67303362"/>
                  </a:ext>
                </a:extLst>
              </a:tr>
              <a:tr h="210464">
                <a:tc>
                  <a:txBody>
                    <a:bodyPr/>
                    <a:lstStyle/>
                    <a:p>
                      <a:pPr algn="r" fontAlgn="b">
                        <a:buNone/>
                      </a:pPr>
                      <a:r>
                        <a:rPr lang="es-AR" sz="1400" b="0" u="none" strike="noStrike" noProof="0" dirty="0">
                          <a:solidFill>
                            <a:srgbClr val="000000"/>
                          </a:solidFill>
                          <a:effectLst/>
                        </a:rPr>
                        <a:t>1-dic-24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3.98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12.79</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1.45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054375588"/>
                  </a:ext>
                </a:extLst>
              </a:tr>
              <a:tr h="210464">
                <a:tc>
                  <a:txBody>
                    <a:bodyPr/>
                    <a:lstStyle/>
                    <a:p>
                      <a:pPr algn="r" fontAlgn="b">
                        <a:buNone/>
                      </a:pPr>
                      <a:r>
                        <a:rPr lang="es-AR" sz="1400" b="0" u="none" strike="noStrike" noProof="0" dirty="0">
                          <a:solidFill>
                            <a:srgbClr val="000000"/>
                          </a:solidFill>
                          <a:effectLst/>
                        </a:rPr>
                        <a:t>4-mar-25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3.77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16.53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6.22</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539480316"/>
                  </a:ext>
                </a:extLst>
              </a:tr>
              <a:tr h="210464">
                <a:tc>
                  <a:txBody>
                    <a:bodyPr/>
                    <a:lstStyle/>
                    <a:p>
                      <a:pPr algn="r" fontAlgn="b">
                        <a:buNone/>
                      </a:pPr>
                      <a:r>
                        <a:rPr lang="es-AR" sz="1400" b="0" u="none" strike="noStrike" noProof="0" dirty="0">
                          <a:solidFill>
                            <a:srgbClr val="000000"/>
                          </a:solidFill>
                          <a:effectLst/>
                        </a:rPr>
                        <a:t>19-dic-24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3.64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13.57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9.21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082225382"/>
                  </a:ext>
                </a:extLst>
              </a:tr>
              <a:tr h="210464">
                <a:tc>
                  <a:txBody>
                    <a:bodyPr/>
                    <a:lstStyle/>
                    <a:p>
                      <a:pPr algn="r" fontAlgn="b">
                        <a:buNone/>
                      </a:pPr>
                      <a:r>
                        <a:rPr lang="es-AR" sz="1400" b="0" u="none" strike="noStrike" noProof="0" dirty="0">
                          <a:solidFill>
                            <a:srgbClr val="000000"/>
                          </a:solidFill>
                          <a:effectLst/>
                        </a:rPr>
                        <a:t>2-feb-25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3.63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17.37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40.74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76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656459147"/>
                  </a:ext>
                </a:extLst>
              </a:tr>
              <a:tr h="210464">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l" fontAlgn="b">
                        <a:buNone/>
                      </a:pPr>
                      <a:r>
                        <a:rPr lang="es-AR" sz="1400" b="0" u="none" strike="noStrike" noProof="0" dirty="0">
                          <a:solidFill>
                            <a:srgbClr val="000000"/>
                          </a:solidFill>
                          <a:effectLst/>
                        </a:rPr>
                        <a:t>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2160558424"/>
                  </a:ext>
                </a:extLst>
              </a:tr>
              <a:tr h="210464">
                <a:tc gridSpan="5">
                  <a:txBody>
                    <a:bodyPr/>
                    <a:lstStyle/>
                    <a:p>
                      <a:pPr algn="ctr" fontAlgn="b">
                        <a:buNone/>
                      </a:pPr>
                      <a:r>
                        <a:rPr lang="es-AR" sz="1400" b="1" u="none" strike="noStrike" noProof="0" dirty="0">
                          <a:solidFill>
                            <a:srgbClr val="000000"/>
                          </a:solidFill>
                          <a:effectLst/>
                        </a:rPr>
                        <a:t>DÍAS MÁS LLUVIOSOS (Precipitación acumulada)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hMerge="1">
                  <a:txBody>
                    <a:bodyPr/>
                    <a:lstStyle/>
                    <a:p>
                      <a:endParaRPr lang="es-AR"/>
                    </a:p>
                  </a:txBody>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778850498"/>
                  </a:ext>
                </a:extLst>
              </a:tr>
              <a:tr h="210464">
                <a:tc>
                  <a:txBody>
                    <a:bodyPr/>
                    <a:lstStyle/>
                    <a:p>
                      <a:pPr algn="l" fontAlgn="b">
                        <a:buNone/>
                      </a:pPr>
                      <a:r>
                        <a:rPr lang="es-AR" sz="1400" b="1" u="none" strike="noStrike" noProof="0" dirty="0">
                          <a:solidFill>
                            <a:srgbClr val="000000"/>
                          </a:solidFill>
                          <a:effectLst/>
                        </a:rPr>
                        <a:t>Fecha</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Precipitación (mm)</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Humedad </a:t>
                      </a:r>
                      <a:r>
                        <a:rPr lang="es-AR" sz="1400" b="1" u="none" strike="noStrike" noProof="0" dirty="0" err="1">
                          <a:solidFill>
                            <a:srgbClr val="000000"/>
                          </a:solidFill>
                          <a:effectLst/>
                        </a:rPr>
                        <a:t>Prom</a:t>
                      </a:r>
                      <a:r>
                        <a:rPr lang="es-AR" sz="1400" b="1" u="none" strike="noStrike" noProof="0" dirty="0">
                          <a:solidFill>
                            <a:srgbClr val="000000"/>
                          </a:solidFill>
                          <a:effectLst/>
                        </a:rPr>
                        <a:t>. (%)</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FWI </a:t>
                      </a:r>
                      <a:r>
                        <a:rPr lang="es-AR" sz="1400" b="1" u="none" strike="noStrike" noProof="0" dirty="0" err="1">
                          <a:solidFill>
                            <a:srgbClr val="000000"/>
                          </a:solidFill>
                          <a:effectLst/>
                        </a:rPr>
                        <a:t>Prom</a:t>
                      </a:r>
                      <a:r>
                        <a:rPr lang="es-AR" sz="1400" b="1" u="none" strike="noStrike" noProof="0" dirty="0">
                          <a:solidFill>
                            <a:srgbClr val="000000"/>
                          </a:solidFill>
                          <a:effectLst/>
                        </a:rPr>
                        <a:t>.</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1" u="none" strike="noStrike" noProof="0" dirty="0">
                          <a:solidFill>
                            <a:srgbClr val="000000"/>
                          </a:solidFill>
                          <a:effectLst/>
                        </a:rPr>
                        <a:t>Focos de Incendio</a:t>
                      </a:r>
                      <a:endParaRPr lang="es-AR" sz="1400" b="1" i="1"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3973053802"/>
                  </a:ext>
                </a:extLst>
              </a:tr>
              <a:tr h="210464">
                <a:tc>
                  <a:txBody>
                    <a:bodyPr/>
                    <a:lstStyle/>
                    <a:p>
                      <a:pPr algn="r" fontAlgn="b">
                        <a:buNone/>
                      </a:pPr>
                      <a:r>
                        <a:rPr lang="es-AR" sz="1400" b="0" u="none" strike="noStrike" noProof="0" dirty="0">
                          <a:solidFill>
                            <a:srgbClr val="000000"/>
                          </a:solidFill>
                          <a:effectLst/>
                        </a:rPr>
                        <a:t>7-mar-25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35.08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66.87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0.17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613146670"/>
                  </a:ext>
                </a:extLst>
              </a:tr>
              <a:tr h="210464">
                <a:tc>
                  <a:txBody>
                    <a:bodyPr/>
                    <a:lstStyle/>
                    <a:p>
                      <a:pPr algn="r" fontAlgn="b">
                        <a:buNone/>
                      </a:pPr>
                      <a:r>
                        <a:rPr lang="es-AR" sz="1400" b="0" u="none" strike="noStrike" noProof="0" dirty="0">
                          <a:solidFill>
                            <a:srgbClr val="000000"/>
                          </a:solidFill>
                          <a:effectLst/>
                        </a:rPr>
                        <a:t>23-feb-25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35.95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46.31</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6.57</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2031782562"/>
                  </a:ext>
                </a:extLst>
              </a:tr>
              <a:tr h="210464">
                <a:tc>
                  <a:txBody>
                    <a:bodyPr/>
                    <a:lstStyle/>
                    <a:p>
                      <a:pPr algn="r" fontAlgn="b">
                        <a:buNone/>
                      </a:pPr>
                      <a:r>
                        <a:rPr lang="es-AR" sz="1400" b="0" u="none" strike="noStrike" noProof="0" dirty="0">
                          <a:solidFill>
                            <a:srgbClr val="000000"/>
                          </a:solidFill>
                          <a:effectLst/>
                        </a:rPr>
                        <a:t>6-dic-24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21.26</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54.15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0.09</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4047829744"/>
                  </a:ext>
                </a:extLst>
              </a:tr>
              <a:tr h="210464">
                <a:tc>
                  <a:txBody>
                    <a:bodyPr/>
                    <a:lstStyle/>
                    <a:p>
                      <a:pPr algn="r" fontAlgn="b">
                        <a:buNone/>
                      </a:pPr>
                      <a:r>
                        <a:rPr lang="es-AR" sz="1400" b="0" u="none" strike="noStrike" noProof="0" dirty="0">
                          <a:solidFill>
                            <a:srgbClr val="000000"/>
                          </a:solidFill>
                          <a:effectLst/>
                        </a:rPr>
                        <a:t>28-feb-25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18.14</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55.53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4.88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414860567"/>
                  </a:ext>
                </a:extLst>
              </a:tr>
              <a:tr h="210464">
                <a:tc>
                  <a:txBody>
                    <a:bodyPr/>
                    <a:lstStyle/>
                    <a:p>
                      <a:pPr algn="r" fontAlgn="b">
                        <a:buNone/>
                      </a:pPr>
                      <a:r>
                        <a:rPr lang="es-AR" sz="1400" b="0" u="none" strike="noStrike" noProof="0" dirty="0">
                          <a:solidFill>
                            <a:srgbClr val="000000"/>
                          </a:solidFill>
                          <a:effectLst/>
                        </a:rPr>
                        <a:t>3-mar-25</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16.58</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48.39</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3.43</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tc>
                  <a:txBody>
                    <a:bodyPr/>
                    <a:lstStyle/>
                    <a:p>
                      <a:pPr algn="ctr" fontAlgn="b">
                        <a:buNone/>
                      </a:pPr>
                      <a:r>
                        <a:rPr lang="es-AR" sz="1400" b="0" u="none" strike="noStrike" noProof="0" dirty="0">
                          <a:solidFill>
                            <a:srgbClr val="000000"/>
                          </a:solidFill>
                          <a:effectLst/>
                        </a:rPr>
                        <a:t>0 </a:t>
                      </a:r>
                      <a:endParaRPr lang="es-AR" sz="1400" b="0" i="0" u="none" strike="noStrike" noProof="0" dirty="0">
                        <a:solidFill>
                          <a:srgbClr val="000000"/>
                        </a:solidFill>
                        <a:effectLst/>
                        <a:latin typeface="Aptos Narrow" panose="020B0004020202020204" pitchFamily="34" charset="0"/>
                      </a:endParaRPr>
                    </a:p>
                  </a:txBody>
                  <a:tcPr marL="6052" marR="6052" marT="6052" marB="0" anchor="b"/>
                </a:tc>
                <a:extLst>
                  <a:ext uri="{0D108BD9-81ED-4DB2-BD59-A6C34878D82A}">
                    <a16:rowId xmlns:a16="http://schemas.microsoft.com/office/drawing/2014/main" val="1397460040"/>
                  </a:ext>
                </a:extLst>
              </a:tr>
            </a:tbl>
          </a:graphicData>
        </a:graphic>
      </p:graphicFrame>
    </p:spTree>
    <p:extLst>
      <p:ext uri="{BB962C8B-B14F-4D97-AF65-F5344CB8AC3E}">
        <p14:creationId xmlns:p14="http://schemas.microsoft.com/office/powerpoint/2010/main" val="1385729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DBEFF-19CB-7BBC-8AE6-E3E43BE85D1A}"/>
              </a:ext>
            </a:extLst>
          </p:cNvPr>
          <p:cNvSpPr>
            <a:spLocks noGrp="1"/>
          </p:cNvSpPr>
          <p:nvPr>
            <p:ph type="ctrTitle"/>
          </p:nvPr>
        </p:nvSpPr>
        <p:spPr>
          <a:xfrm>
            <a:off x="8247888" y="713232"/>
            <a:ext cx="3364992" cy="3227832"/>
          </a:xfrm>
        </p:spPr>
        <p:txBody>
          <a:bodyPr anchor="t">
            <a:normAutofit/>
          </a:bodyPr>
          <a:lstStyle/>
          <a:p>
            <a:r>
              <a:rPr lang="es-AR" noProof="0" dirty="0"/>
              <a:t>Aplicación de Machine </a:t>
            </a:r>
            <a:r>
              <a:rPr lang="es-AR" noProof="0" dirty="0" err="1"/>
              <a:t>Learning</a:t>
            </a:r>
            <a:endParaRPr lang="es-AR" noProof="0" dirty="0"/>
          </a:p>
        </p:txBody>
      </p:sp>
      <p:pic>
        <p:nvPicPr>
          <p:cNvPr id="11" name="Picture 10" descr="A forest fire with trees and smoke&#10;&#10;AI-generated content may be incorrect.">
            <a:extLst>
              <a:ext uri="{FF2B5EF4-FFF2-40B4-BE49-F238E27FC236}">
                <a16:creationId xmlns:a16="http://schemas.microsoft.com/office/drawing/2014/main" id="{55988DD8-72F5-619D-0D71-230C6D8C1156}"/>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24816" r="1712" b="-1"/>
          <a:stretch>
            <a:fillRect/>
          </a:stretch>
        </p:blipFill>
        <p:spPr>
          <a:xfrm>
            <a:off x="20" y="10"/>
            <a:ext cx="7548431" cy="6857990"/>
          </a:xfrm>
          <a:prstGeom prst="rect">
            <a:avLst/>
          </a:prstGeom>
          <a:noFill/>
        </p:spPr>
      </p:pic>
    </p:spTree>
    <p:extLst>
      <p:ext uri="{BB962C8B-B14F-4D97-AF65-F5344CB8AC3E}">
        <p14:creationId xmlns:p14="http://schemas.microsoft.com/office/powerpoint/2010/main" val="57935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63C1C-913F-76A4-ED9F-8A73D4E10D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64C6A04-8194-C570-3523-47A633AAC568}"/>
              </a:ext>
            </a:extLst>
          </p:cNvPr>
          <p:cNvSpPr>
            <a:spLocks noGrp="1"/>
          </p:cNvSpPr>
          <p:nvPr>
            <p:ph type="ctrTitle"/>
          </p:nvPr>
        </p:nvSpPr>
        <p:spPr>
          <a:xfrm>
            <a:off x="181133" y="193462"/>
            <a:ext cx="9336024" cy="546277"/>
          </a:xfrm>
        </p:spPr>
        <p:txBody>
          <a:bodyPr>
            <a:normAutofit/>
          </a:bodyPr>
          <a:lstStyle/>
          <a:p>
            <a:r>
              <a:rPr lang="es-AR" sz="3200" noProof="0" dirty="0"/>
              <a:t>Aprendizaje supervisado</a:t>
            </a:r>
          </a:p>
        </p:txBody>
      </p:sp>
      <p:pic>
        <p:nvPicPr>
          <p:cNvPr id="12" name="Picture 11" descr="A diagram of a process&#10;&#10;AI-generated content may be incorrect.">
            <a:extLst>
              <a:ext uri="{FF2B5EF4-FFF2-40B4-BE49-F238E27FC236}">
                <a16:creationId xmlns:a16="http://schemas.microsoft.com/office/drawing/2014/main" id="{58693B85-8C8C-B1E6-6583-C81B2D7719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07625"/>
            <a:ext cx="12192000" cy="5400000"/>
          </a:xfrm>
          <a:prstGeom prst="rect">
            <a:avLst/>
          </a:prstGeom>
        </p:spPr>
      </p:pic>
      <p:sp>
        <p:nvSpPr>
          <p:cNvPr id="2" name="Rectángulo 1">
            <a:extLst>
              <a:ext uri="{FF2B5EF4-FFF2-40B4-BE49-F238E27FC236}">
                <a16:creationId xmlns:a16="http://schemas.microsoft.com/office/drawing/2014/main" id="{78392EB9-C844-1CBC-D0D9-295604092859}"/>
              </a:ext>
            </a:extLst>
          </p:cNvPr>
          <p:cNvSpPr/>
          <p:nvPr/>
        </p:nvSpPr>
        <p:spPr>
          <a:xfrm>
            <a:off x="4900246" y="3763108"/>
            <a:ext cx="1348154" cy="1992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880908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ECC28B-3976-B444-4DB9-A0435487FD48}"/>
              </a:ext>
            </a:extLst>
          </p:cNvPr>
          <p:cNvSpPr>
            <a:spLocks noGrp="1"/>
          </p:cNvSpPr>
          <p:nvPr>
            <p:ph type="ctrTitle"/>
          </p:nvPr>
        </p:nvSpPr>
        <p:spPr>
          <a:xfrm>
            <a:off x="181133" y="193462"/>
            <a:ext cx="9336024" cy="546277"/>
          </a:xfrm>
        </p:spPr>
        <p:txBody>
          <a:bodyPr>
            <a:normAutofit/>
          </a:bodyPr>
          <a:lstStyle/>
          <a:p>
            <a:r>
              <a:rPr lang="es-AR" sz="3200" noProof="0" dirty="0"/>
              <a:t>Selección de modelos</a:t>
            </a:r>
          </a:p>
        </p:txBody>
      </p:sp>
      <p:sp>
        <p:nvSpPr>
          <p:cNvPr id="5" name="TextBox 4">
            <a:extLst>
              <a:ext uri="{FF2B5EF4-FFF2-40B4-BE49-F238E27FC236}">
                <a16:creationId xmlns:a16="http://schemas.microsoft.com/office/drawing/2014/main" id="{3570B9DE-23EF-659D-52DF-EAAC97B1DFC0}"/>
              </a:ext>
            </a:extLst>
          </p:cNvPr>
          <p:cNvSpPr txBox="1"/>
          <p:nvPr/>
        </p:nvSpPr>
        <p:spPr>
          <a:xfrm>
            <a:off x="181133" y="893851"/>
            <a:ext cx="11829733" cy="171438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just">
              <a:lnSpc>
                <a:spcPct val="150000"/>
              </a:lnSpc>
            </a:pPr>
            <a:r>
              <a:rPr lang="es-AR" b="1" noProof="0" dirty="0" err="1"/>
              <a:t>Random</a:t>
            </a:r>
            <a:r>
              <a:rPr lang="es-AR" b="1" noProof="0" dirty="0"/>
              <a:t> Forest:</a:t>
            </a:r>
          </a:p>
          <a:p>
            <a:pPr algn="just">
              <a:lnSpc>
                <a:spcPct val="150000"/>
              </a:lnSpc>
            </a:pPr>
            <a:r>
              <a:rPr lang="es-AR" noProof="0" dirty="0"/>
              <a:t>Método de ensamble que opera construyendo </a:t>
            </a:r>
            <a:r>
              <a:rPr lang="es-AR" b="1" noProof="0" dirty="0"/>
              <a:t>múltiples árboles de decisión durante el entrenamiento</a:t>
            </a:r>
            <a:r>
              <a:rPr lang="es-AR" noProof="0" dirty="0"/>
              <a:t>. Su predicción final se basa </a:t>
            </a:r>
            <a:r>
              <a:rPr lang="es-AR" b="1" noProof="0" dirty="0"/>
              <a:t>en el "voto" de la mayoría de los árbole</a:t>
            </a:r>
            <a:r>
              <a:rPr lang="es-AR" noProof="0" dirty="0"/>
              <a:t>s, lo que mejora la precisión y reduce significativamente el sobreajuste en comparación con un solo árbol. Es robusto a la multicolinealidad.</a:t>
            </a:r>
            <a:endParaRPr lang="es-AR" b="1" noProof="0" dirty="0"/>
          </a:p>
        </p:txBody>
      </p:sp>
      <p:sp>
        <p:nvSpPr>
          <p:cNvPr id="7" name="TextBox 6">
            <a:extLst>
              <a:ext uri="{FF2B5EF4-FFF2-40B4-BE49-F238E27FC236}">
                <a16:creationId xmlns:a16="http://schemas.microsoft.com/office/drawing/2014/main" id="{8B8FFFB2-F540-B771-0DC8-3E3A03C7A71A}"/>
              </a:ext>
            </a:extLst>
          </p:cNvPr>
          <p:cNvSpPr txBox="1"/>
          <p:nvPr/>
        </p:nvSpPr>
        <p:spPr>
          <a:xfrm>
            <a:off x="181134" y="2762343"/>
            <a:ext cx="11829732" cy="171438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lnSpc>
                <a:spcPct val="150000"/>
              </a:lnSpc>
            </a:pPr>
            <a:r>
              <a:rPr lang="es-AR" b="1" noProof="0" dirty="0"/>
              <a:t>Extreme </a:t>
            </a:r>
            <a:r>
              <a:rPr lang="es-AR" b="1" noProof="0" dirty="0" err="1"/>
              <a:t>Gradient</a:t>
            </a:r>
            <a:r>
              <a:rPr lang="es-AR" b="1" noProof="0" dirty="0"/>
              <a:t> </a:t>
            </a:r>
            <a:r>
              <a:rPr lang="es-AR" b="1" noProof="0" dirty="0" err="1"/>
              <a:t>Boosting</a:t>
            </a:r>
            <a:r>
              <a:rPr lang="es-AR" b="1" noProof="0" dirty="0"/>
              <a:t>:</a:t>
            </a:r>
          </a:p>
          <a:p>
            <a:pPr algn="just">
              <a:lnSpc>
                <a:spcPct val="150000"/>
              </a:lnSpc>
            </a:pPr>
            <a:r>
              <a:rPr lang="es-AR" noProof="0" dirty="0"/>
              <a:t>Método de ensamble basado en árboles, pero que utiliza la técnica de </a:t>
            </a:r>
            <a:r>
              <a:rPr lang="es-AR" i="1" noProof="0" dirty="0" err="1"/>
              <a:t>Gradient</a:t>
            </a:r>
            <a:r>
              <a:rPr lang="es-AR" i="1" noProof="0" dirty="0"/>
              <a:t> </a:t>
            </a:r>
            <a:r>
              <a:rPr lang="es-AR" i="1" noProof="0" dirty="0" err="1"/>
              <a:t>Boosting</a:t>
            </a:r>
            <a:r>
              <a:rPr lang="es-AR" noProof="0" dirty="0"/>
              <a:t>. Consiste en la </a:t>
            </a:r>
            <a:r>
              <a:rPr lang="es-AR" b="1" noProof="0" dirty="0"/>
              <a:t>construcción de árboles en forma secuencial, donde cada nuevo árbol corrige los errores del anterior</a:t>
            </a:r>
            <a:r>
              <a:rPr lang="es-AR" noProof="0" dirty="0"/>
              <a:t>. Es altamente eficiente para gestionar el desbalanceo de clases.</a:t>
            </a:r>
          </a:p>
        </p:txBody>
      </p:sp>
      <p:sp>
        <p:nvSpPr>
          <p:cNvPr id="9" name="TextBox 8">
            <a:extLst>
              <a:ext uri="{FF2B5EF4-FFF2-40B4-BE49-F238E27FC236}">
                <a16:creationId xmlns:a16="http://schemas.microsoft.com/office/drawing/2014/main" id="{858B0F8B-9742-2531-A140-FEF30DDF79F0}"/>
              </a:ext>
            </a:extLst>
          </p:cNvPr>
          <p:cNvSpPr txBox="1"/>
          <p:nvPr/>
        </p:nvSpPr>
        <p:spPr>
          <a:xfrm>
            <a:off x="181133" y="4630835"/>
            <a:ext cx="11829733" cy="171438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lnSpc>
                <a:spcPct val="150000"/>
              </a:lnSpc>
            </a:pPr>
            <a:r>
              <a:rPr lang="es-AR" b="1" noProof="0" dirty="0" err="1"/>
              <a:t>Support</a:t>
            </a:r>
            <a:r>
              <a:rPr lang="es-AR" b="1" noProof="0" dirty="0"/>
              <a:t> Vector Machine:</a:t>
            </a:r>
          </a:p>
          <a:p>
            <a:pPr lvl="0" algn="just">
              <a:lnSpc>
                <a:spcPct val="150000"/>
              </a:lnSpc>
            </a:pPr>
            <a:r>
              <a:rPr lang="es-AR" noProof="0" dirty="0"/>
              <a:t>Algoritmo que busca encontrar el </a:t>
            </a:r>
            <a:r>
              <a:rPr lang="es-AR" b="1" noProof="0" dirty="0"/>
              <a:t>hiperplano óptimo que mejor divide un conjunto de datos en clases</a:t>
            </a:r>
            <a:r>
              <a:rPr lang="es-AR" noProof="0" dirty="0"/>
              <a:t>. Es capaz de manejar relaciones no lineales al mapear los datos a un espacio de mayor dimensión. Es eficaz en espacios dimensionales altos, aunque puede ser sensible al desbalanceo si no se ajusta correctamente.</a:t>
            </a:r>
            <a:endParaRPr lang="es-AR" b="1" noProof="0" dirty="0"/>
          </a:p>
        </p:txBody>
      </p:sp>
    </p:spTree>
    <p:extLst>
      <p:ext uri="{BB962C8B-B14F-4D97-AF65-F5344CB8AC3E}">
        <p14:creationId xmlns:p14="http://schemas.microsoft.com/office/powerpoint/2010/main" val="504865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561D-1EB5-96E1-A942-30A7C233FB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9A9A8E0-B450-13D5-B1A5-77049DC34A7D}"/>
              </a:ext>
            </a:extLst>
          </p:cNvPr>
          <p:cNvSpPr>
            <a:spLocks noGrp="1"/>
          </p:cNvSpPr>
          <p:nvPr>
            <p:ph type="ctrTitle"/>
          </p:nvPr>
        </p:nvSpPr>
        <p:spPr>
          <a:xfrm>
            <a:off x="181133" y="193462"/>
            <a:ext cx="9336024" cy="546277"/>
          </a:xfrm>
        </p:spPr>
        <p:txBody>
          <a:bodyPr>
            <a:normAutofit/>
          </a:bodyPr>
          <a:lstStyle/>
          <a:p>
            <a:r>
              <a:rPr lang="es-AR" sz="3200" noProof="0" dirty="0"/>
              <a:t>Planteo de escenarios</a:t>
            </a:r>
          </a:p>
        </p:txBody>
      </p:sp>
      <p:sp>
        <p:nvSpPr>
          <p:cNvPr id="3" name="TextBox 2">
            <a:extLst>
              <a:ext uri="{FF2B5EF4-FFF2-40B4-BE49-F238E27FC236}">
                <a16:creationId xmlns:a16="http://schemas.microsoft.com/office/drawing/2014/main" id="{D5896B15-352E-0899-2203-9AA21834A1B6}"/>
              </a:ext>
            </a:extLst>
          </p:cNvPr>
          <p:cNvSpPr txBox="1"/>
          <p:nvPr/>
        </p:nvSpPr>
        <p:spPr>
          <a:xfrm>
            <a:off x="181133" y="855023"/>
            <a:ext cx="11753568" cy="1846659"/>
          </a:xfrm>
          <a:prstGeom prst="rect">
            <a:avLst/>
          </a:prstGeom>
          <a:noFill/>
        </p:spPr>
        <p:txBody>
          <a:bodyPr wrap="square" rtlCol="0">
            <a:spAutoFit/>
          </a:bodyPr>
          <a:lstStyle/>
          <a:p>
            <a:r>
              <a:rPr lang="es-AR" sz="2400" b="1" noProof="0" dirty="0"/>
              <a:t>Escenario A</a:t>
            </a:r>
          </a:p>
          <a:p>
            <a:endParaRPr lang="es-AR" noProof="0" dirty="0"/>
          </a:p>
          <a:p>
            <a:r>
              <a:rPr lang="es-AR" noProof="0" dirty="0"/>
              <a:t>Este escenario plantea la utilización completa del conjunto de datos, utilizando </a:t>
            </a:r>
            <a:r>
              <a:rPr lang="es-AR" b="1" i="1" noProof="0" dirty="0" err="1"/>
              <a:t>train_test_split</a:t>
            </a:r>
            <a:r>
              <a:rPr lang="es-AR" b="1" i="1" noProof="0" dirty="0"/>
              <a:t> </a:t>
            </a:r>
            <a:r>
              <a:rPr lang="es-AR" noProof="0" dirty="0"/>
              <a:t>en 0.3 para test, es decir, se utilizó el 70% de los registros para el entrenamiento y el 30% restante para evaluación y obtención de resultados.</a:t>
            </a:r>
          </a:p>
          <a:p>
            <a:endParaRPr lang="es-AR" noProof="0" dirty="0"/>
          </a:p>
          <a:p>
            <a:endParaRPr lang="es-AR" noProof="0" dirty="0"/>
          </a:p>
        </p:txBody>
      </p:sp>
      <p:graphicFrame>
        <p:nvGraphicFramePr>
          <p:cNvPr id="6" name="Table 5">
            <a:extLst>
              <a:ext uri="{FF2B5EF4-FFF2-40B4-BE49-F238E27FC236}">
                <a16:creationId xmlns:a16="http://schemas.microsoft.com/office/drawing/2014/main" id="{62ABE836-942C-4A60-221A-1CF0A0DD4724}"/>
              </a:ext>
            </a:extLst>
          </p:cNvPr>
          <p:cNvGraphicFramePr>
            <a:graphicFrameLocks noGrp="1"/>
          </p:cNvGraphicFramePr>
          <p:nvPr>
            <p:extLst>
              <p:ext uri="{D42A27DB-BD31-4B8C-83A1-F6EECF244321}">
                <p14:modId xmlns:p14="http://schemas.microsoft.com/office/powerpoint/2010/main" val="1435643757"/>
              </p:ext>
            </p:extLst>
          </p:nvPr>
        </p:nvGraphicFramePr>
        <p:xfrm>
          <a:off x="581042" y="2463671"/>
          <a:ext cx="10953750" cy="1643380"/>
        </p:xfrm>
        <a:graphic>
          <a:graphicData uri="http://schemas.openxmlformats.org/drawingml/2006/table">
            <a:tbl>
              <a:tblPr firstRow="1" firstCol="1" bandRow="1">
                <a:tableStyleId>{7DF18680-E054-41AD-8BC1-D1AEF772440D}</a:tableStyleId>
              </a:tblPr>
              <a:tblGrid>
                <a:gridCol w="7777162">
                  <a:extLst>
                    <a:ext uri="{9D8B030D-6E8A-4147-A177-3AD203B41FA5}">
                      <a16:colId xmlns:a16="http://schemas.microsoft.com/office/drawing/2014/main" val="4253268629"/>
                    </a:ext>
                  </a:extLst>
                </a:gridCol>
                <a:gridCol w="3176588">
                  <a:extLst>
                    <a:ext uri="{9D8B030D-6E8A-4147-A177-3AD203B41FA5}">
                      <a16:colId xmlns:a16="http://schemas.microsoft.com/office/drawing/2014/main" val="190371155"/>
                    </a:ext>
                  </a:extLst>
                </a:gridCol>
              </a:tblGrid>
              <a:tr h="221361">
                <a:tc gridSpan="2">
                  <a:txBody>
                    <a:bodyPr/>
                    <a:lstStyle/>
                    <a:p>
                      <a:pPr indent="450215" algn="ctr">
                        <a:lnSpc>
                          <a:spcPct val="150000"/>
                        </a:lnSpc>
                        <a:buNone/>
                      </a:pPr>
                      <a:r>
                        <a:rPr lang="es-AR" sz="1600" kern="100" noProof="0" dirty="0">
                          <a:effectLst/>
                        </a:rPr>
                        <a:t>Distribución de clases - Entrenamiento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851461050"/>
                  </a:ext>
                </a:extLst>
              </a:tr>
              <a:tr h="181102">
                <a:tc>
                  <a:txBody>
                    <a:bodyPr/>
                    <a:lstStyle/>
                    <a:p>
                      <a:pPr indent="450215" algn="just">
                        <a:lnSpc>
                          <a:spcPct val="150000"/>
                        </a:lnSpc>
                        <a:buNone/>
                      </a:pPr>
                      <a:r>
                        <a:rPr lang="es-AR" sz="1600" kern="100" noProof="0" dirty="0">
                          <a:effectLst/>
                        </a:rPr>
                        <a:t>Clase 0 (sin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9659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0927903"/>
                  </a:ext>
                </a:extLst>
              </a:tr>
              <a:tr h="181102">
                <a:tc>
                  <a:txBody>
                    <a:bodyPr/>
                    <a:lstStyle/>
                    <a:p>
                      <a:pPr indent="450215" algn="just">
                        <a:lnSpc>
                          <a:spcPct val="150000"/>
                        </a:lnSpc>
                        <a:buNone/>
                      </a:pPr>
                      <a:r>
                        <a:rPr lang="es-AR" sz="1600" kern="100" noProof="0" dirty="0">
                          <a:effectLst/>
                        </a:rPr>
                        <a:t>Clase 1 (con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335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8518764"/>
                  </a:ext>
                </a:extLst>
              </a:tr>
              <a:tr h="181102">
                <a:tc>
                  <a:txBody>
                    <a:bodyPr/>
                    <a:lstStyle/>
                    <a:p>
                      <a:pPr indent="450215" algn="just">
                        <a:lnSpc>
                          <a:spcPct val="150000"/>
                        </a:lnSpc>
                        <a:buNone/>
                      </a:pPr>
                      <a:r>
                        <a:rPr lang="es-AR" sz="1600" kern="100" noProof="0" dirty="0">
                          <a:effectLst/>
                        </a:rPr>
                        <a:t>Total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9994</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83780803"/>
                  </a:ext>
                </a:extLst>
              </a:tr>
              <a:tr h="181102">
                <a:tc>
                  <a:txBody>
                    <a:bodyPr/>
                    <a:lstStyle/>
                    <a:p>
                      <a:pPr indent="450215" algn="just">
                        <a:lnSpc>
                          <a:spcPct val="150000"/>
                        </a:lnSpc>
                        <a:buNone/>
                      </a:pPr>
                      <a:r>
                        <a:rPr lang="es-AR" sz="1600" kern="100" noProof="0" dirty="0">
                          <a:effectLst/>
                        </a:rPr>
                        <a:t>Ratio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3.35%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0678557"/>
                  </a:ext>
                </a:extLst>
              </a:tr>
            </a:tbl>
          </a:graphicData>
        </a:graphic>
      </p:graphicFrame>
      <p:graphicFrame>
        <p:nvGraphicFramePr>
          <p:cNvPr id="7" name="Table 6">
            <a:extLst>
              <a:ext uri="{FF2B5EF4-FFF2-40B4-BE49-F238E27FC236}">
                <a16:creationId xmlns:a16="http://schemas.microsoft.com/office/drawing/2014/main" id="{BCF7F688-286A-3659-B3F7-ECC20E2F8A9F}"/>
              </a:ext>
            </a:extLst>
          </p:cNvPr>
          <p:cNvGraphicFramePr>
            <a:graphicFrameLocks noGrp="1"/>
          </p:cNvGraphicFramePr>
          <p:nvPr>
            <p:extLst>
              <p:ext uri="{D42A27DB-BD31-4B8C-83A1-F6EECF244321}">
                <p14:modId xmlns:p14="http://schemas.microsoft.com/office/powerpoint/2010/main" val="949055390"/>
              </p:ext>
            </p:extLst>
          </p:nvPr>
        </p:nvGraphicFramePr>
        <p:xfrm>
          <a:off x="581042" y="4500335"/>
          <a:ext cx="10953750" cy="1643380"/>
        </p:xfrm>
        <a:graphic>
          <a:graphicData uri="http://schemas.openxmlformats.org/drawingml/2006/table">
            <a:tbl>
              <a:tblPr firstRow="1" firstCol="1" bandRow="1">
                <a:tableStyleId>{00A15C55-8517-42AA-B614-E9B94910E393}</a:tableStyleId>
              </a:tblPr>
              <a:tblGrid>
                <a:gridCol w="7774972">
                  <a:extLst>
                    <a:ext uri="{9D8B030D-6E8A-4147-A177-3AD203B41FA5}">
                      <a16:colId xmlns:a16="http://schemas.microsoft.com/office/drawing/2014/main" val="1164076327"/>
                    </a:ext>
                  </a:extLst>
                </a:gridCol>
                <a:gridCol w="3178778">
                  <a:extLst>
                    <a:ext uri="{9D8B030D-6E8A-4147-A177-3AD203B41FA5}">
                      <a16:colId xmlns:a16="http://schemas.microsoft.com/office/drawing/2014/main" val="1819728789"/>
                    </a:ext>
                  </a:extLst>
                </a:gridCol>
              </a:tblGrid>
              <a:tr h="0">
                <a:tc gridSpan="2">
                  <a:txBody>
                    <a:bodyPr/>
                    <a:lstStyle/>
                    <a:p>
                      <a:pPr indent="450215" algn="ctr">
                        <a:lnSpc>
                          <a:spcPct val="150000"/>
                        </a:lnSpc>
                        <a:buNone/>
                      </a:pPr>
                      <a:r>
                        <a:rPr lang="es-AR" sz="1600" kern="100" noProof="0" dirty="0">
                          <a:effectLst/>
                        </a:rPr>
                        <a:t>Distribución de clases - Evaluación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1588036325"/>
                  </a:ext>
                </a:extLst>
              </a:tr>
              <a:tr h="0">
                <a:tc>
                  <a:txBody>
                    <a:bodyPr/>
                    <a:lstStyle/>
                    <a:p>
                      <a:pPr indent="450215" algn="just">
                        <a:lnSpc>
                          <a:spcPct val="150000"/>
                        </a:lnSpc>
                        <a:buNone/>
                      </a:pPr>
                      <a:r>
                        <a:rPr lang="es-AR" sz="1600" kern="100" noProof="0" dirty="0">
                          <a:effectLst/>
                        </a:rPr>
                        <a:t>Clase 0 (sin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4281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1532387"/>
                  </a:ext>
                </a:extLst>
              </a:tr>
              <a:tr h="0">
                <a:tc>
                  <a:txBody>
                    <a:bodyPr/>
                    <a:lstStyle/>
                    <a:p>
                      <a:pPr indent="450215" algn="just">
                        <a:lnSpc>
                          <a:spcPct val="150000"/>
                        </a:lnSpc>
                        <a:buNone/>
                      </a:pPr>
                      <a:r>
                        <a:rPr lang="es-AR" sz="1600" kern="100" noProof="0" dirty="0">
                          <a:effectLst/>
                        </a:rPr>
                        <a:t>Clase 1 (con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0051324"/>
                  </a:ext>
                </a:extLst>
              </a:tr>
              <a:tr h="0">
                <a:tc>
                  <a:txBody>
                    <a:bodyPr/>
                    <a:lstStyle/>
                    <a:p>
                      <a:pPr indent="450215" algn="just">
                        <a:lnSpc>
                          <a:spcPct val="150000"/>
                        </a:lnSpc>
                        <a:buNone/>
                      </a:pPr>
                      <a:r>
                        <a:rPr lang="es-AR" sz="1600" kern="100" noProof="0" dirty="0">
                          <a:effectLst/>
                        </a:rPr>
                        <a:t>Total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4284</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807285"/>
                  </a:ext>
                </a:extLst>
              </a:tr>
              <a:tr h="0">
                <a:tc>
                  <a:txBody>
                    <a:bodyPr/>
                    <a:lstStyle/>
                    <a:p>
                      <a:pPr indent="450215" algn="just">
                        <a:lnSpc>
                          <a:spcPct val="150000"/>
                        </a:lnSpc>
                        <a:buNone/>
                      </a:pPr>
                      <a:r>
                        <a:rPr lang="es-AR" sz="1600" kern="100" noProof="0" dirty="0">
                          <a:effectLst/>
                        </a:rPr>
                        <a:t>Ratio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0,07%</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745130"/>
                  </a:ext>
                </a:extLst>
              </a:tr>
            </a:tbl>
          </a:graphicData>
        </a:graphic>
      </p:graphicFrame>
    </p:spTree>
    <p:extLst>
      <p:ext uri="{BB962C8B-B14F-4D97-AF65-F5344CB8AC3E}">
        <p14:creationId xmlns:p14="http://schemas.microsoft.com/office/powerpoint/2010/main" val="3187677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71E21-D906-009F-D881-038324D999F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C01AA57-B350-1968-DA2E-483235B8669A}"/>
              </a:ext>
            </a:extLst>
          </p:cNvPr>
          <p:cNvSpPr>
            <a:spLocks noGrp="1"/>
          </p:cNvSpPr>
          <p:nvPr>
            <p:ph type="ctrTitle"/>
          </p:nvPr>
        </p:nvSpPr>
        <p:spPr>
          <a:xfrm>
            <a:off x="181133" y="193462"/>
            <a:ext cx="9336024" cy="546277"/>
          </a:xfrm>
        </p:spPr>
        <p:txBody>
          <a:bodyPr>
            <a:normAutofit/>
          </a:bodyPr>
          <a:lstStyle/>
          <a:p>
            <a:r>
              <a:rPr lang="es-AR" sz="3200" noProof="0" dirty="0"/>
              <a:t>Planteo de escenarios</a:t>
            </a:r>
          </a:p>
        </p:txBody>
      </p:sp>
      <p:sp>
        <p:nvSpPr>
          <p:cNvPr id="3" name="TextBox 2">
            <a:extLst>
              <a:ext uri="{FF2B5EF4-FFF2-40B4-BE49-F238E27FC236}">
                <a16:creationId xmlns:a16="http://schemas.microsoft.com/office/drawing/2014/main" id="{848AE4EF-E473-8E5E-8410-3DFE6EADB320}"/>
              </a:ext>
            </a:extLst>
          </p:cNvPr>
          <p:cNvSpPr txBox="1"/>
          <p:nvPr/>
        </p:nvSpPr>
        <p:spPr>
          <a:xfrm>
            <a:off x="181133" y="855023"/>
            <a:ext cx="11753568" cy="1569660"/>
          </a:xfrm>
          <a:prstGeom prst="rect">
            <a:avLst/>
          </a:prstGeom>
          <a:noFill/>
        </p:spPr>
        <p:txBody>
          <a:bodyPr wrap="square" rtlCol="0">
            <a:spAutoFit/>
          </a:bodyPr>
          <a:lstStyle/>
          <a:p>
            <a:r>
              <a:rPr lang="es-AR" sz="2400" b="1" noProof="0" dirty="0"/>
              <a:t>Escenario B</a:t>
            </a:r>
          </a:p>
          <a:p>
            <a:endParaRPr lang="es-AR" noProof="0" dirty="0"/>
          </a:p>
          <a:p>
            <a:r>
              <a:rPr lang="es-AR" noProof="0" dirty="0"/>
              <a:t>Se optó por generar un subconjunto para el entrenamiento utilizando coordenadas de interés, con alta presencia de casos positivos. El objetivo fue reducir artificialmente el desbalanceo en la etapa de entrenamiento.</a:t>
            </a:r>
          </a:p>
          <a:p>
            <a:endParaRPr lang="es-AR" noProof="0" dirty="0"/>
          </a:p>
        </p:txBody>
      </p:sp>
      <p:graphicFrame>
        <p:nvGraphicFramePr>
          <p:cNvPr id="2" name="Table 1">
            <a:extLst>
              <a:ext uri="{FF2B5EF4-FFF2-40B4-BE49-F238E27FC236}">
                <a16:creationId xmlns:a16="http://schemas.microsoft.com/office/drawing/2014/main" id="{E185A4E5-22AE-CD35-A838-B35E6E36A266}"/>
              </a:ext>
            </a:extLst>
          </p:cNvPr>
          <p:cNvGraphicFramePr>
            <a:graphicFrameLocks noGrp="1"/>
          </p:cNvGraphicFramePr>
          <p:nvPr>
            <p:extLst>
              <p:ext uri="{D42A27DB-BD31-4B8C-83A1-F6EECF244321}">
                <p14:modId xmlns:p14="http://schemas.microsoft.com/office/powerpoint/2010/main" val="555729275"/>
              </p:ext>
            </p:extLst>
          </p:nvPr>
        </p:nvGraphicFramePr>
        <p:xfrm>
          <a:off x="581042" y="2357665"/>
          <a:ext cx="10953750" cy="1643380"/>
        </p:xfrm>
        <a:graphic>
          <a:graphicData uri="http://schemas.openxmlformats.org/drawingml/2006/table">
            <a:tbl>
              <a:tblPr firstRow="1" firstCol="1" bandRow="1">
                <a:tableStyleId>{21E4AEA4-8DFA-4A89-87EB-49C32662AFE0}</a:tableStyleId>
              </a:tblPr>
              <a:tblGrid>
                <a:gridCol w="7777162">
                  <a:extLst>
                    <a:ext uri="{9D8B030D-6E8A-4147-A177-3AD203B41FA5}">
                      <a16:colId xmlns:a16="http://schemas.microsoft.com/office/drawing/2014/main" val="2648133273"/>
                    </a:ext>
                  </a:extLst>
                </a:gridCol>
                <a:gridCol w="3176588">
                  <a:extLst>
                    <a:ext uri="{9D8B030D-6E8A-4147-A177-3AD203B41FA5}">
                      <a16:colId xmlns:a16="http://schemas.microsoft.com/office/drawing/2014/main" val="1160682520"/>
                    </a:ext>
                  </a:extLst>
                </a:gridCol>
              </a:tblGrid>
              <a:tr h="221361">
                <a:tc gridSpan="2">
                  <a:txBody>
                    <a:bodyPr/>
                    <a:lstStyle/>
                    <a:p>
                      <a:pPr indent="450215" algn="ctr">
                        <a:lnSpc>
                          <a:spcPct val="150000"/>
                        </a:lnSpc>
                        <a:buNone/>
                      </a:pPr>
                      <a:r>
                        <a:rPr lang="es-AR" sz="1600" kern="100" noProof="0" dirty="0">
                          <a:effectLst/>
                        </a:rPr>
                        <a:t>Distribución de clases - Entrenamiento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2408420815"/>
                  </a:ext>
                </a:extLst>
              </a:tr>
              <a:tr h="181102">
                <a:tc>
                  <a:txBody>
                    <a:bodyPr/>
                    <a:lstStyle/>
                    <a:p>
                      <a:pPr indent="450215" algn="just">
                        <a:lnSpc>
                          <a:spcPct val="150000"/>
                        </a:lnSpc>
                        <a:buNone/>
                      </a:pPr>
                      <a:r>
                        <a:rPr lang="es-AR" sz="1600" kern="100" noProof="0" dirty="0">
                          <a:effectLst/>
                        </a:rPr>
                        <a:t>Clase 0 (sin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192</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5500141"/>
                  </a:ext>
                </a:extLst>
              </a:tr>
              <a:tr h="181102">
                <a:tc>
                  <a:txBody>
                    <a:bodyPr/>
                    <a:lstStyle/>
                    <a:p>
                      <a:pPr indent="450215" algn="just">
                        <a:lnSpc>
                          <a:spcPct val="150000"/>
                        </a:lnSpc>
                        <a:buNone/>
                      </a:pPr>
                      <a:r>
                        <a:rPr lang="es-AR" sz="1600" kern="100" noProof="0" dirty="0">
                          <a:effectLst/>
                        </a:rPr>
                        <a:t>Clase 1 (con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78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6432379"/>
                  </a:ext>
                </a:extLst>
              </a:tr>
              <a:tr h="181102">
                <a:tc>
                  <a:txBody>
                    <a:bodyPr/>
                    <a:lstStyle/>
                    <a:p>
                      <a:pPr indent="450215" algn="just">
                        <a:lnSpc>
                          <a:spcPct val="150000"/>
                        </a:lnSpc>
                        <a:buNone/>
                      </a:pPr>
                      <a:r>
                        <a:rPr lang="es-AR" sz="1600" kern="100" noProof="0" dirty="0">
                          <a:effectLst/>
                        </a:rPr>
                        <a:t>Total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270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0824064"/>
                  </a:ext>
                </a:extLst>
              </a:tr>
              <a:tr h="181102">
                <a:tc>
                  <a:txBody>
                    <a:bodyPr/>
                    <a:lstStyle/>
                    <a:p>
                      <a:pPr indent="450215" algn="just">
                        <a:lnSpc>
                          <a:spcPct val="150000"/>
                        </a:lnSpc>
                        <a:buNone/>
                      </a:pPr>
                      <a:r>
                        <a:rPr lang="es-AR" sz="1600" kern="100" noProof="0" dirty="0">
                          <a:effectLst/>
                        </a:rPr>
                        <a:t>Ratio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28,89%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8079125"/>
                  </a:ext>
                </a:extLst>
              </a:tr>
            </a:tbl>
          </a:graphicData>
        </a:graphic>
      </p:graphicFrame>
      <p:graphicFrame>
        <p:nvGraphicFramePr>
          <p:cNvPr id="5" name="Table 4">
            <a:extLst>
              <a:ext uri="{FF2B5EF4-FFF2-40B4-BE49-F238E27FC236}">
                <a16:creationId xmlns:a16="http://schemas.microsoft.com/office/drawing/2014/main" id="{9B2891A5-5A9A-FE5F-2B2A-E2A7E69443E0}"/>
              </a:ext>
            </a:extLst>
          </p:cNvPr>
          <p:cNvGraphicFramePr>
            <a:graphicFrameLocks noGrp="1"/>
          </p:cNvGraphicFramePr>
          <p:nvPr>
            <p:extLst>
              <p:ext uri="{D42A27DB-BD31-4B8C-83A1-F6EECF244321}">
                <p14:modId xmlns:p14="http://schemas.microsoft.com/office/powerpoint/2010/main" val="2710290855"/>
              </p:ext>
            </p:extLst>
          </p:nvPr>
        </p:nvGraphicFramePr>
        <p:xfrm>
          <a:off x="581042" y="4433318"/>
          <a:ext cx="10953750" cy="1643380"/>
        </p:xfrm>
        <a:graphic>
          <a:graphicData uri="http://schemas.openxmlformats.org/drawingml/2006/table">
            <a:tbl>
              <a:tblPr firstRow="1" firstCol="1" bandRow="1">
                <a:tableStyleId>{93296810-A885-4BE3-A3E7-6D5BEEA58F35}</a:tableStyleId>
              </a:tblPr>
              <a:tblGrid>
                <a:gridCol w="7777162">
                  <a:extLst>
                    <a:ext uri="{9D8B030D-6E8A-4147-A177-3AD203B41FA5}">
                      <a16:colId xmlns:a16="http://schemas.microsoft.com/office/drawing/2014/main" val="1387456262"/>
                    </a:ext>
                  </a:extLst>
                </a:gridCol>
                <a:gridCol w="3176588">
                  <a:extLst>
                    <a:ext uri="{9D8B030D-6E8A-4147-A177-3AD203B41FA5}">
                      <a16:colId xmlns:a16="http://schemas.microsoft.com/office/drawing/2014/main" val="971217792"/>
                    </a:ext>
                  </a:extLst>
                </a:gridCol>
              </a:tblGrid>
              <a:tr h="221361">
                <a:tc gridSpan="2">
                  <a:txBody>
                    <a:bodyPr/>
                    <a:lstStyle/>
                    <a:p>
                      <a:pPr indent="450215" algn="ctr">
                        <a:lnSpc>
                          <a:spcPct val="150000"/>
                        </a:lnSpc>
                        <a:buNone/>
                      </a:pPr>
                      <a:r>
                        <a:rPr lang="es-AR" sz="1600" kern="100" noProof="0" dirty="0">
                          <a:effectLst/>
                        </a:rPr>
                        <a:t>Distribución de clases - Evaluación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2372221333"/>
                  </a:ext>
                </a:extLst>
              </a:tr>
              <a:tr h="181102">
                <a:tc>
                  <a:txBody>
                    <a:bodyPr/>
                    <a:lstStyle/>
                    <a:p>
                      <a:pPr indent="450215" algn="just">
                        <a:lnSpc>
                          <a:spcPct val="150000"/>
                        </a:lnSpc>
                        <a:buNone/>
                      </a:pPr>
                      <a:r>
                        <a:rPr lang="es-AR" sz="1600" kern="100" noProof="0" dirty="0">
                          <a:effectLst/>
                        </a:rPr>
                        <a:t>Clase 0 (sin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13455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6571284"/>
                  </a:ext>
                </a:extLst>
              </a:tr>
              <a:tr h="181102">
                <a:tc>
                  <a:txBody>
                    <a:bodyPr/>
                    <a:lstStyle/>
                    <a:p>
                      <a:pPr indent="450215" algn="just">
                        <a:lnSpc>
                          <a:spcPct val="150000"/>
                        </a:lnSpc>
                        <a:buNone/>
                      </a:pPr>
                      <a:r>
                        <a:rPr lang="es-AR" sz="1600" kern="100" noProof="0" dirty="0">
                          <a:effectLst/>
                        </a:rPr>
                        <a:t>Clase 1 (con focos)</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115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279796"/>
                  </a:ext>
                </a:extLst>
              </a:tr>
              <a:tr h="181102">
                <a:tc>
                  <a:txBody>
                    <a:bodyPr/>
                    <a:lstStyle/>
                    <a:p>
                      <a:pPr indent="450215" algn="just">
                        <a:lnSpc>
                          <a:spcPct val="150000"/>
                        </a:lnSpc>
                        <a:buNone/>
                      </a:pPr>
                      <a:r>
                        <a:rPr lang="es-AR" sz="1600" kern="100" noProof="0" dirty="0">
                          <a:effectLst/>
                        </a:rPr>
                        <a:t>Total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13570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2853217"/>
                  </a:ext>
                </a:extLst>
              </a:tr>
              <a:tr h="181102">
                <a:tc>
                  <a:txBody>
                    <a:bodyPr/>
                    <a:lstStyle/>
                    <a:p>
                      <a:pPr indent="450215" algn="just">
                        <a:lnSpc>
                          <a:spcPct val="150000"/>
                        </a:lnSpc>
                        <a:buNone/>
                      </a:pPr>
                      <a:r>
                        <a:rPr lang="es-AR" sz="1600" kern="100" noProof="0" dirty="0">
                          <a:effectLst/>
                        </a:rPr>
                        <a:t>Ratio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r">
                        <a:lnSpc>
                          <a:spcPct val="150000"/>
                        </a:lnSpc>
                        <a:buNone/>
                      </a:pPr>
                      <a:r>
                        <a:rPr lang="es-AR" sz="1600" kern="100" noProof="0" dirty="0">
                          <a:effectLst/>
                        </a:rPr>
                        <a:t>0,85%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315027"/>
                  </a:ext>
                </a:extLst>
              </a:tr>
            </a:tbl>
          </a:graphicData>
        </a:graphic>
      </p:graphicFrame>
    </p:spTree>
    <p:extLst>
      <p:ext uri="{BB962C8B-B14F-4D97-AF65-F5344CB8AC3E}">
        <p14:creationId xmlns:p14="http://schemas.microsoft.com/office/powerpoint/2010/main" val="112452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3227-2C58-35BE-02F8-10ED13EB9566}"/>
              </a:ext>
            </a:extLst>
          </p:cNvPr>
          <p:cNvSpPr>
            <a:spLocks noGrp="1"/>
          </p:cNvSpPr>
          <p:nvPr>
            <p:ph type="ctrTitle"/>
          </p:nvPr>
        </p:nvSpPr>
        <p:spPr>
          <a:xfrm>
            <a:off x="137635" y="132885"/>
            <a:ext cx="9336024" cy="674637"/>
          </a:xfrm>
        </p:spPr>
        <p:txBody>
          <a:bodyPr>
            <a:noAutofit/>
          </a:bodyPr>
          <a:lstStyle/>
          <a:p>
            <a:r>
              <a:rPr lang="es-AR" sz="4800" noProof="0" dirty="0"/>
              <a:t>Resultados: Escenario A</a:t>
            </a:r>
          </a:p>
        </p:txBody>
      </p:sp>
      <p:graphicFrame>
        <p:nvGraphicFramePr>
          <p:cNvPr id="4" name="Table 3">
            <a:extLst>
              <a:ext uri="{FF2B5EF4-FFF2-40B4-BE49-F238E27FC236}">
                <a16:creationId xmlns:a16="http://schemas.microsoft.com/office/drawing/2014/main" id="{9E3945CE-58F0-004B-6321-F5C2FEA49C0A}"/>
              </a:ext>
            </a:extLst>
          </p:cNvPr>
          <p:cNvGraphicFramePr>
            <a:graphicFrameLocks noGrp="1"/>
          </p:cNvGraphicFramePr>
          <p:nvPr>
            <p:extLst>
              <p:ext uri="{D42A27DB-BD31-4B8C-83A1-F6EECF244321}">
                <p14:modId xmlns:p14="http://schemas.microsoft.com/office/powerpoint/2010/main" val="3876364263"/>
              </p:ext>
            </p:extLst>
          </p:nvPr>
        </p:nvGraphicFramePr>
        <p:xfrm>
          <a:off x="1" y="980509"/>
          <a:ext cx="12192001" cy="1314704"/>
        </p:xfrm>
        <a:graphic>
          <a:graphicData uri="http://schemas.openxmlformats.org/drawingml/2006/table">
            <a:tbl>
              <a:tblPr firstRow="1" firstCol="1" bandRow="1">
                <a:tableStyleId>{073A0DAA-6AF3-43AB-8588-CEC1D06C72B9}</a:tableStyleId>
              </a:tblPr>
              <a:tblGrid>
                <a:gridCol w="2218945">
                  <a:extLst>
                    <a:ext uri="{9D8B030D-6E8A-4147-A177-3AD203B41FA5}">
                      <a16:colId xmlns:a16="http://schemas.microsoft.com/office/drawing/2014/main" val="1316142379"/>
                    </a:ext>
                  </a:extLst>
                </a:gridCol>
                <a:gridCol w="1611783">
                  <a:extLst>
                    <a:ext uri="{9D8B030D-6E8A-4147-A177-3AD203B41FA5}">
                      <a16:colId xmlns:a16="http://schemas.microsoft.com/office/drawing/2014/main" val="3855929749"/>
                    </a:ext>
                  </a:extLst>
                </a:gridCol>
                <a:gridCol w="1794662">
                  <a:extLst>
                    <a:ext uri="{9D8B030D-6E8A-4147-A177-3AD203B41FA5}">
                      <a16:colId xmlns:a16="http://schemas.microsoft.com/office/drawing/2014/main" val="2288975622"/>
                    </a:ext>
                  </a:extLst>
                </a:gridCol>
                <a:gridCol w="1580083">
                  <a:extLst>
                    <a:ext uri="{9D8B030D-6E8A-4147-A177-3AD203B41FA5}">
                      <a16:colId xmlns:a16="http://schemas.microsoft.com/office/drawing/2014/main" val="2725943812"/>
                    </a:ext>
                  </a:extLst>
                </a:gridCol>
                <a:gridCol w="1155802">
                  <a:extLst>
                    <a:ext uri="{9D8B030D-6E8A-4147-A177-3AD203B41FA5}">
                      <a16:colId xmlns:a16="http://schemas.microsoft.com/office/drawing/2014/main" val="973004527"/>
                    </a:ext>
                  </a:extLst>
                </a:gridCol>
                <a:gridCol w="1580083">
                  <a:extLst>
                    <a:ext uri="{9D8B030D-6E8A-4147-A177-3AD203B41FA5}">
                      <a16:colId xmlns:a16="http://schemas.microsoft.com/office/drawing/2014/main" val="396089987"/>
                    </a:ext>
                  </a:extLst>
                </a:gridCol>
                <a:gridCol w="2250643">
                  <a:extLst>
                    <a:ext uri="{9D8B030D-6E8A-4147-A177-3AD203B41FA5}">
                      <a16:colId xmlns:a16="http://schemas.microsoft.com/office/drawing/2014/main" val="2675935444"/>
                    </a:ext>
                  </a:extLst>
                </a:gridCol>
              </a:tblGrid>
              <a:tr h="221361">
                <a:tc>
                  <a:txBody>
                    <a:bodyPr/>
                    <a:lstStyle/>
                    <a:p>
                      <a:pPr indent="450215" algn="ctr">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Balanced</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425841"/>
                  </a:ext>
                </a:extLst>
              </a:tr>
              <a:tr h="190500">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0.6000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0.7500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3157666"/>
                  </a:ext>
                </a:extLst>
              </a:tr>
              <a:tr h="190500">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0.9914</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0.0750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0.1395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0.9957</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7205374"/>
                  </a:ext>
                </a:extLst>
              </a:tr>
              <a:tr h="200025">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0.9889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0.5000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88526947"/>
                  </a:ext>
                </a:extLst>
              </a:tr>
            </a:tbl>
          </a:graphicData>
        </a:graphic>
      </p:graphicFrame>
      <p:pic>
        <p:nvPicPr>
          <p:cNvPr id="5" name="Imagen 1" descr="Gráfico&#10;&#10;El contenido generado por IA puede ser incorrecto.">
            <a:extLst>
              <a:ext uri="{FF2B5EF4-FFF2-40B4-BE49-F238E27FC236}">
                <a16:creationId xmlns:a16="http://schemas.microsoft.com/office/drawing/2014/main" id="{9F97C9C4-5DA7-E5D4-E62B-BE0A2FC1E948}"/>
              </a:ext>
            </a:extLst>
          </p:cNvPr>
          <p:cNvPicPr>
            <a:picLocks noChangeAspect="1"/>
          </p:cNvPicPr>
          <p:nvPr/>
        </p:nvPicPr>
        <p:blipFill>
          <a:blip r:embed="rId3"/>
          <a:stretch>
            <a:fillRect/>
          </a:stretch>
        </p:blipFill>
        <p:spPr>
          <a:xfrm>
            <a:off x="0" y="2308538"/>
            <a:ext cx="5811778" cy="4549462"/>
          </a:xfrm>
          <a:prstGeom prst="rect">
            <a:avLst/>
          </a:prstGeom>
        </p:spPr>
      </p:pic>
      <p:pic>
        <p:nvPicPr>
          <p:cNvPr id="6" name="Imagen 1" descr="Gráfico, Tabla&#10;&#10;El contenido generado por IA puede ser incorrecto.">
            <a:extLst>
              <a:ext uri="{FF2B5EF4-FFF2-40B4-BE49-F238E27FC236}">
                <a16:creationId xmlns:a16="http://schemas.microsoft.com/office/drawing/2014/main" id="{C28FD936-2559-3570-9D51-B8BF21419FF9}"/>
              </a:ext>
            </a:extLst>
          </p:cNvPr>
          <p:cNvPicPr>
            <a:picLocks noChangeAspect="1"/>
          </p:cNvPicPr>
          <p:nvPr/>
        </p:nvPicPr>
        <p:blipFill>
          <a:blip r:embed="rId4"/>
          <a:stretch>
            <a:fillRect/>
          </a:stretch>
        </p:blipFill>
        <p:spPr>
          <a:xfrm>
            <a:off x="6096000" y="2393897"/>
            <a:ext cx="6058148" cy="4331218"/>
          </a:xfrm>
          <a:prstGeom prst="rect">
            <a:avLst/>
          </a:prstGeom>
        </p:spPr>
      </p:pic>
    </p:spTree>
    <p:extLst>
      <p:ext uri="{BB962C8B-B14F-4D97-AF65-F5344CB8AC3E}">
        <p14:creationId xmlns:p14="http://schemas.microsoft.com/office/powerpoint/2010/main" val="4177374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F1E936-14D4-CB81-3B0C-C07A67C89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6B176-91D1-931F-AF9D-620F57F48100}"/>
              </a:ext>
            </a:extLst>
          </p:cNvPr>
          <p:cNvSpPr>
            <a:spLocks noGrp="1"/>
          </p:cNvSpPr>
          <p:nvPr>
            <p:ph type="ctrTitle"/>
          </p:nvPr>
        </p:nvSpPr>
        <p:spPr>
          <a:xfrm>
            <a:off x="137635" y="132885"/>
            <a:ext cx="9336024" cy="674637"/>
          </a:xfrm>
        </p:spPr>
        <p:txBody>
          <a:bodyPr>
            <a:noAutofit/>
          </a:bodyPr>
          <a:lstStyle/>
          <a:p>
            <a:r>
              <a:rPr lang="es-AR" sz="4800" noProof="0" dirty="0"/>
              <a:t>Resultados: </a:t>
            </a:r>
            <a:r>
              <a:rPr lang="es-AR" sz="4800" noProof="0" dirty="0" err="1"/>
              <a:t>Div</a:t>
            </a:r>
            <a:r>
              <a:rPr lang="es-AR" sz="4800" noProof="0" dirty="0"/>
              <a:t>. Automática</a:t>
            </a:r>
          </a:p>
        </p:txBody>
      </p:sp>
      <p:graphicFrame>
        <p:nvGraphicFramePr>
          <p:cNvPr id="4" name="Table 3">
            <a:extLst>
              <a:ext uri="{FF2B5EF4-FFF2-40B4-BE49-F238E27FC236}">
                <a16:creationId xmlns:a16="http://schemas.microsoft.com/office/drawing/2014/main" id="{E14012CA-A48E-99A2-427A-44B0E5D36EA6}"/>
              </a:ext>
            </a:extLst>
          </p:cNvPr>
          <p:cNvGraphicFramePr>
            <a:graphicFrameLocks noGrp="1"/>
          </p:cNvGraphicFramePr>
          <p:nvPr>
            <p:extLst>
              <p:ext uri="{D42A27DB-BD31-4B8C-83A1-F6EECF244321}">
                <p14:modId xmlns:p14="http://schemas.microsoft.com/office/powerpoint/2010/main" val="1770362917"/>
              </p:ext>
            </p:extLst>
          </p:nvPr>
        </p:nvGraphicFramePr>
        <p:xfrm>
          <a:off x="1" y="980509"/>
          <a:ext cx="12192001" cy="1314704"/>
        </p:xfrm>
        <a:graphic>
          <a:graphicData uri="http://schemas.openxmlformats.org/drawingml/2006/table">
            <a:tbl>
              <a:tblPr firstRow="1" firstCol="1" bandRow="1">
                <a:tableStyleId>{073A0DAA-6AF3-43AB-8588-CEC1D06C72B9}</a:tableStyleId>
              </a:tblPr>
              <a:tblGrid>
                <a:gridCol w="2218945">
                  <a:extLst>
                    <a:ext uri="{9D8B030D-6E8A-4147-A177-3AD203B41FA5}">
                      <a16:colId xmlns:a16="http://schemas.microsoft.com/office/drawing/2014/main" val="1316142379"/>
                    </a:ext>
                  </a:extLst>
                </a:gridCol>
                <a:gridCol w="1611783">
                  <a:extLst>
                    <a:ext uri="{9D8B030D-6E8A-4147-A177-3AD203B41FA5}">
                      <a16:colId xmlns:a16="http://schemas.microsoft.com/office/drawing/2014/main" val="3855929749"/>
                    </a:ext>
                  </a:extLst>
                </a:gridCol>
                <a:gridCol w="1794662">
                  <a:extLst>
                    <a:ext uri="{9D8B030D-6E8A-4147-A177-3AD203B41FA5}">
                      <a16:colId xmlns:a16="http://schemas.microsoft.com/office/drawing/2014/main" val="2288975622"/>
                    </a:ext>
                  </a:extLst>
                </a:gridCol>
                <a:gridCol w="1580083">
                  <a:extLst>
                    <a:ext uri="{9D8B030D-6E8A-4147-A177-3AD203B41FA5}">
                      <a16:colId xmlns:a16="http://schemas.microsoft.com/office/drawing/2014/main" val="2725943812"/>
                    </a:ext>
                  </a:extLst>
                </a:gridCol>
                <a:gridCol w="1155802">
                  <a:extLst>
                    <a:ext uri="{9D8B030D-6E8A-4147-A177-3AD203B41FA5}">
                      <a16:colId xmlns:a16="http://schemas.microsoft.com/office/drawing/2014/main" val="973004527"/>
                    </a:ext>
                  </a:extLst>
                </a:gridCol>
                <a:gridCol w="1580083">
                  <a:extLst>
                    <a:ext uri="{9D8B030D-6E8A-4147-A177-3AD203B41FA5}">
                      <a16:colId xmlns:a16="http://schemas.microsoft.com/office/drawing/2014/main" val="396089987"/>
                    </a:ext>
                  </a:extLst>
                </a:gridCol>
                <a:gridCol w="2250643">
                  <a:extLst>
                    <a:ext uri="{9D8B030D-6E8A-4147-A177-3AD203B41FA5}">
                      <a16:colId xmlns:a16="http://schemas.microsoft.com/office/drawing/2014/main" val="2675935444"/>
                    </a:ext>
                  </a:extLst>
                </a:gridCol>
              </a:tblGrid>
              <a:tr h="221361">
                <a:tc>
                  <a:txBody>
                    <a:bodyPr/>
                    <a:lstStyle/>
                    <a:p>
                      <a:pPr indent="450215" algn="ctr">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Balanced</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425841"/>
                  </a:ext>
                </a:extLst>
              </a:tr>
              <a:tr h="190500">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0.6000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0.7500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3157666"/>
                  </a:ext>
                </a:extLst>
              </a:tr>
              <a:tr h="190500">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0.9914</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0.0750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0.1395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0.9957</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7205374"/>
                  </a:ext>
                </a:extLst>
              </a:tr>
              <a:tr h="200025">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0.9889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0.5000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88526947"/>
                  </a:ext>
                </a:extLst>
              </a:tr>
            </a:tbl>
          </a:graphicData>
        </a:graphic>
      </p:graphicFrame>
      <p:pic>
        <p:nvPicPr>
          <p:cNvPr id="3" name="Imagen 1" descr="Gráfico&#10;&#10;El contenido generado por IA puede ser incorrecto.">
            <a:extLst>
              <a:ext uri="{FF2B5EF4-FFF2-40B4-BE49-F238E27FC236}">
                <a16:creationId xmlns:a16="http://schemas.microsoft.com/office/drawing/2014/main" id="{C0000DAF-6BCC-1317-DA37-F859097EB09A}"/>
              </a:ext>
            </a:extLst>
          </p:cNvPr>
          <p:cNvPicPr>
            <a:picLocks noChangeAspect="1"/>
          </p:cNvPicPr>
          <p:nvPr/>
        </p:nvPicPr>
        <p:blipFill>
          <a:blip r:embed="rId3"/>
          <a:stretch>
            <a:fillRect/>
          </a:stretch>
        </p:blipFill>
        <p:spPr>
          <a:xfrm>
            <a:off x="0" y="2295212"/>
            <a:ext cx="5811118" cy="4562787"/>
          </a:xfrm>
          <a:prstGeom prst="rect">
            <a:avLst/>
          </a:prstGeom>
        </p:spPr>
      </p:pic>
      <p:pic>
        <p:nvPicPr>
          <p:cNvPr id="7" name="Imagen 1" descr="Interfaz de usuario gráfica, Gráfico&#10;&#10;El contenido generado por IA puede ser incorrecto.">
            <a:extLst>
              <a:ext uri="{FF2B5EF4-FFF2-40B4-BE49-F238E27FC236}">
                <a16:creationId xmlns:a16="http://schemas.microsoft.com/office/drawing/2014/main" id="{F56414ED-DB82-FF6E-821A-0672E0A189C7}"/>
              </a:ext>
            </a:extLst>
          </p:cNvPr>
          <p:cNvPicPr>
            <a:picLocks noChangeAspect="1"/>
          </p:cNvPicPr>
          <p:nvPr/>
        </p:nvPicPr>
        <p:blipFill>
          <a:blip r:embed="rId4"/>
          <a:stretch>
            <a:fillRect/>
          </a:stretch>
        </p:blipFill>
        <p:spPr>
          <a:xfrm>
            <a:off x="5811118" y="2295211"/>
            <a:ext cx="6397833" cy="4562787"/>
          </a:xfrm>
          <a:prstGeom prst="rect">
            <a:avLst/>
          </a:prstGeom>
        </p:spPr>
      </p:pic>
    </p:spTree>
    <p:extLst>
      <p:ext uri="{BB962C8B-B14F-4D97-AF65-F5344CB8AC3E}">
        <p14:creationId xmlns:p14="http://schemas.microsoft.com/office/powerpoint/2010/main" val="3027888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CFA62E-00DC-EF2F-42F6-038982C59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81E7A-FD61-3A5E-2F37-E72B564BB86A}"/>
              </a:ext>
            </a:extLst>
          </p:cNvPr>
          <p:cNvSpPr>
            <a:spLocks noGrp="1"/>
          </p:cNvSpPr>
          <p:nvPr>
            <p:ph type="ctrTitle"/>
          </p:nvPr>
        </p:nvSpPr>
        <p:spPr>
          <a:xfrm>
            <a:off x="137635" y="132885"/>
            <a:ext cx="9336024" cy="674637"/>
          </a:xfrm>
        </p:spPr>
        <p:txBody>
          <a:bodyPr>
            <a:noAutofit/>
          </a:bodyPr>
          <a:lstStyle/>
          <a:p>
            <a:r>
              <a:rPr lang="es-AR" sz="4800" noProof="0" dirty="0"/>
              <a:t>Resultados: </a:t>
            </a:r>
            <a:r>
              <a:rPr lang="es-AR" sz="4800" noProof="0" dirty="0" err="1"/>
              <a:t>Div</a:t>
            </a:r>
            <a:r>
              <a:rPr lang="es-AR" sz="4800" noProof="0" dirty="0"/>
              <a:t>. Automática</a:t>
            </a:r>
          </a:p>
        </p:txBody>
      </p:sp>
      <p:graphicFrame>
        <p:nvGraphicFramePr>
          <p:cNvPr id="4" name="Table 3">
            <a:extLst>
              <a:ext uri="{FF2B5EF4-FFF2-40B4-BE49-F238E27FC236}">
                <a16:creationId xmlns:a16="http://schemas.microsoft.com/office/drawing/2014/main" id="{7C356658-2D16-9BDA-6178-9701EFC59CD6}"/>
              </a:ext>
            </a:extLst>
          </p:cNvPr>
          <p:cNvGraphicFramePr>
            <a:graphicFrameLocks noGrp="1"/>
          </p:cNvGraphicFramePr>
          <p:nvPr>
            <p:extLst>
              <p:ext uri="{D42A27DB-BD31-4B8C-83A1-F6EECF244321}">
                <p14:modId xmlns:p14="http://schemas.microsoft.com/office/powerpoint/2010/main" val="2682388047"/>
              </p:ext>
            </p:extLst>
          </p:nvPr>
        </p:nvGraphicFramePr>
        <p:xfrm>
          <a:off x="1" y="980509"/>
          <a:ext cx="12192001" cy="1314704"/>
        </p:xfrm>
        <a:graphic>
          <a:graphicData uri="http://schemas.openxmlformats.org/drawingml/2006/table">
            <a:tbl>
              <a:tblPr firstRow="1" firstCol="1" bandRow="1">
                <a:tableStyleId>{073A0DAA-6AF3-43AB-8588-CEC1D06C72B9}</a:tableStyleId>
              </a:tblPr>
              <a:tblGrid>
                <a:gridCol w="2218945">
                  <a:extLst>
                    <a:ext uri="{9D8B030D-6E8A-4147-A177-3AD203B41FA5}">
                      <a16:colId xmlns:a16="http://schemas.microsoft.com/office/drawing/2014/main" val="1316142379"/>
                    </a:ext>
                  </a:extLst>
                </a:gridCol>
                <a:gridCol w="1611783">
                  <a:extLst>
                    <a:ext uri="{9D8B030D-6E8A-4147-A177-3AD203B41FA5}">
                      <a16:colId xmlns:a16="http://schemas.microsoft.com/office/drawing/2014/main" val="3855929749"/>
                    </a:ext>
                  </a:extLst>
                </a:gridCol>
                <a:gridCol w="1794662">
                  <a:extLst>
                    <a:ext uri="{9D8B030D-6E8A-4147-A177-3AD203B41FA5}">
                      <a16:colId xmlns:a16="http://schemas.microsoft.com/office/drawing/2014/main" val="2288975622"/>
                    </a:ext>
                  </a:extLst>
                </a:gridCol>
                <a:gridCol w="1580083">
                  <a:extLst>
                    <a:ext uri="{9D8B030D-6E8A-4147-A177-3AD203B41FA5}">
                      <a16:colId xmlns:a16="http://schemas.microsoft.com/office/drawing/2014/main" val="2725943812"/>
                    </a:ext>
                  </a:extLst>
                </a:gridCol>
                <a:gridCol w="1155802">
                  <a:extLst>
                    <a:ext uri="{9D8B030D-6E8A-4147-A177-3AD203B41FA5}">
                      <a16:colId xmlns:a16="http://schemas.microsoft.com/office/drawing/2014/main" val="973004527"/>
                    </a:ext>
                  </a:extLst>
                </a:gridCol>
                <a:gridCol w="1580083">
                  <a:extLst>
                    <a:ext uri="{9D8B030D-6E8A-4147-A177-3AD203B41FA5}">
                      <a16:colId xmlns:a16="http://schemas.microsoft.com/office/drawing/2014/main" val="396089987"/>
                    </a:ext>
                  </a:extLst>
                </a:gridCol>
                <a:gridCol w="2250643">
                  <a:extLst>
                    <a:ext uri="{9D8B030D-6E8A-4147-A177-3AD203B41FA5}">
                      <a16:colId xmlns:a16="http://schemas.microsoft.com/office/drawing/2014/main" val="2675935444"/>
                    </a:ext>
                  </a:extLst>
                </a:gridCol>
              </a:tblGrid>
              <a:tr h="221361">
                <a:tc>
                  <a:txBody>
                    <a:bodyPr/>
                    <a:lstStyle/>
                    <a:p>
                      <a:pPr indent="450215" algn="ctr">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err="1">
                          <a:effectLst/>
                        </a:rPr>
                        <a:t>Balanced</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425841"/>
                  </a:ext>
                </a:extLst>
              </a:tr>
              <a:tr h="190500">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0.6000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0.7500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3157666"/>
                  </a:ext>
                </a:extLst>
              </a:tr>
              <a:tr h="190500">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0.9914</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0.0750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0.1395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0.9957</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7205374"/>
                  </a:ext>
                </a:extLst>
              </a:tr>
              <a:tr h="200025">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0.9993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0.9889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0.0000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ctr">
                        <a:lnSpc>
                          <a:spcPct val="150000"/>
                        </a:lnSpc>
                        <a:buNone/>
                      </a:pPr>
                      <a:r>
                        <a:rPr lang="es-AR" sz="1600" kern="0" noProof="0" dirty="0">
                          <a:effectLst/>
                        </a:rPr>
                        <a:t>0.5000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88526947"/>
                  </a:ext>
                </a:extLst>
              </a:tr>
            </a:tbl>
          </a:graphicData>
        </a:graphic>
      </p:graphicFrame>
      <p:pic>
        <p:nvPicPr>
          <p:cNvPr id="5" name="Imagen 1" descr="Gráfico&#10;&#10;El contenido generado por IA puede ser incorrecto.">
            <a:extLst>
              <a:ext uri="{FF2B5EF4-FFF2-40B4-BE49-F238E27FC236}">
                <a16:creationId xmlns:a16="http://schemas.microsoft.com/office/drawing/2014/main" id="{CB687C98-FA4F-C8F4-0D3B-FE2ED282450D}"/>
              </a:ext>
            </a:extLst>
          </p:cNvPr>
          <p:cNvPicPr>
            <a:picLocks noChangeAspect="1"/>
          </p:cNvPicPr>
          <p:nvPr/>
        </p:nvPicPr>
        <p:blipFill>
          <a:blip r:embed="rId3"/>
          <a:stretch>
            <a:fillRect/>
          </a:stretch>
        </p:blipFill>
        <p:spPr>
          <a:xfrm>
            <a:off x="-1" y="2295212"/>
            <a:ext cx="5884565" cy="4562787"/>
          </a:xfrm>
          <a:prstGeom prst="rect">
            <a:avLst/>
          </a:prstGeom>
        </p:spPr>
      </p:pic>
      <p:pic>
        <p:nvPicPr>
          <p:cNvPr id="6" name="Imagen 1" descr="Gráfico&#10;&#10;El contenido generado por IA puede ser incorrecto.">
            <a:extLst>
              <a:ext uri="{FF2B5EF4-FFF2-40B4-BE49-F238E27FC236}">
                <a16:creationId xmlns:a16="http://schemas.microsoft.com/office/drawing/2014/main" id="{3CA740C2-2103-1E8B-1459-CFC45931A0A7}"/>
              </a:ext>
            </a:extLst>
          </p:cNvPr>
          <p:cNvPicPr>
            <a:picLocks noChangeAspect="1"/>
          </p:cNvPicPr>
          <p:nvPr/>
        </p:nvPicPr>
        <p:blipFill>
          <a:blip r:embed="rId4"/>
          <a:stretch>
            <a:fillRect/>
          </a:stretch>
        </p:blipFill>
        <p:spPr>
          <a:xfrm>
            <a:off x="5884564" y="2295210"/>
            <a:ext cx="6307435" cy="4503881"/>
          </a:xfrm>
          <a:prstGeom prst="rect">
            <a:avLst/>
          </a:prstGeom>
        </p:spPr>
      </p:pic>
    </p:spTree>
    <p:extLst>
      <p:ext uri="{BB962C8B-B14F-4D97-AF65-F5344CB8AC3E}">
        <p14:creationId xmlns:p14="http://schemas.microsoft.com/office/powerpoint/2010/main" val="1943625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53DD0-C1EB-38AF-6AA3-BD59D04C2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2C0A5-83EB-E137-A84D-F39CAD4637BF}"/>
              </a:ext>
            </a:extLst>
          </p:cNvPr>
          <p:cNvSpPr>
            <a:spLocks noGrp="1"/>
          </p:cNvSpPr>
          <p:nvPr>
            <p:ph type="ctrTitle"/>
          </p:nvPr>
        </p:nvSpPr>
        <p:spPr>
          <a:xfrm>
            <a:off x="137635" y="132885"/>
            <a:ext cx="9336024" cy="674637"/>
          </a:xfrm>
        </p:spPr>
        <p:txBody>
          <a:bodyPr>
            <a:noAutofit/>
          </a:bodyPr>
          <a:lstStyle/>
          <a:p>
            <a:r>
              <a:rPr lang="es-AR" sz="4800" noProof="0" dirty="0"/>
              <a:t>Resultados: Escenario B</a:t>
            </a:r>
          </a:p>
        </p:txBody>
      </p:sp>
      <p:graphicFrame>
        <p:nvGraphicFramePr>
          <p:cNvPr id="3" name="Table 2">
            <a:extLst>
              <a:ext uri="{FF2B5EF4-FFF2-40B4-BE49-F238E27FC236}">
                <a16:creationId xmlns:a16="http://schemas.microsoft.com/office/drawing/2014/main" id="{72318DA7-5347-F73D-AA00-95ABE11501D4}"/>
              </a:ext>
            </a:extLst>
          </p:cNvPr>
          <p:cNvGraphicFramePr>
            <a:graphicFrameLocks noGrp="1"/>
          </p:cNvGraphicFramePr>
          <p:nvPr>
            <p:extLst>
              <p:ext uri="{D42A27DB-BD31-4B8C-83A1-F6EECF244321}">
                <p14:modId xmlns:p14="http://schemas.microsoft.com/office/powerpoint/2010/main" val="3073037862"/>
              </p:ext>
            </p:extLst>
          </p:nvPr>
        </p:nvGraphicFramePr>
        <p:xfrm>
          <a:off x="0" y="925896"/>
          <a:ext cx="12192002" cy="1633957"/>
        </p:xfrm>
        <a:graphic>
          <a:graphicData uri="http://schemas.openxmlformats.org/drawingml/2006/table">
            <a:tbl>
              <a:tblPr firstRow="1" firstCol="1" bandRow="1">
                <a:tableStyleId>{8EC20E35-A176-4012-BC5E-935CFFF8708E}</a:tableStyleId>
              </a:tblPr>
              <a:tblGrid>
                <a:gridCol w="1940966">
                  <a:extLst>
                    <a:ext uri="{9D8B030D-6E8A-4147-A177-3AD203B41FA5}">
                      <a16:colId xmlns:a16="http://schemas.microsoft.com/office/drawing/2014/main" val="2903372877"/>
                    </a:ext>
                  </a:extLst>
                </a:gridCol>
                <a:gridCol w="1709319">
                  <a:extLst>
                    <a:ext uri="{9D8B030D-6E8A-4147-A177-3AD203B41FA5}">
                      <a16:colId xmlns:a16="http://schemas.microsoft.com/office/drawing/2014/main" val="251270040"/>
                    </a:ext>
                  </a:extLst>
                </a:gridCol>
                <a:gridCol w="1709319">
                  <a:extLst>
                    <a:ext uri="{9D8B030D-6E8A-4147-A177-3AD203B41FA5}">
                      <a16:colId xmlns:a16="http://schemas.microsoft.com/office/drawing/2014/main" val="4083102146"/>
                    </a:ext>
                  </a:extLst>
                </a:gridCol>
                <a:gridCol w="1709319">
                  <a:extLst>
                    <a:ext uri="{9D8B030D-6E8A-4147-A177-3AD203B41FA5}">
                      <a16:colId xmlns:a16="http://schemas.microsoft.com/office/drawing/2014/main" val="2143369780"/>
                    </a:ext>
                  </a:extLst>
                </a:gridCol>
                <a:gridCol w="1709319">
                  <a:extLst>
                    <a:ext uri="{9D8B030D-6E8A-4147-A177-3AD203B41FA5}">
                      <a16:colId xmlns:a16="http://schemas.microsoft.com/office/drawing/2014/main" val="2443913088"/>
                    </a:ext>
                  </a:extLst>
                </a:gridCol>
                <a:gridCol w="1709319">
                  <a:extLst>
                    <a:ext uri="{9D8B030D-6E8A-4147-A177-3AD203B41FA5}">
                      <a16:colId xmlns:a16="http://schemas.microsoft.com/office/drawing/2014/main" val="3231518987"/>
                    </a:ext>
                  </a:extLst>
                </a:gridCol>
                <a:gridCol w="1704441">
                  <a:extLst>
                    <a:ext uri="{9D8B030D-6E8A-4147-A177-3AD203B41FA5}">
                      <a16:colId xmlns:a16="http://schemas.microsoft.com/office/drawing/2014/main" val="2350379455"/>
                    </a:ext>
                  </a:extLst>
                </a:gridCol>
              </a:tblGrid>
              <a:tr h="647929">
                <a:tc>
                  <a:txBody>
                    <a:bodyPr/>
                    <a:lstStyle/>
                    <a:p>
                      <a:pPr indent="450215" algn="l">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Bal</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8126323"/>
                  </a:ext>
                </a:extLst>
              </a:tr>
              <a:tr h="306664">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0.8950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0.5969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0.0413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0.5130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0.0765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0.7056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2063816"/>
                  </a:ext>
                </a:extLst>
              </a:tr>
              <a:tr h="306664">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0.7865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0.6268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0.0220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0.5565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0.0423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0.6725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8010117"/>
                  </a:ext>
                </a:extLst>
              </a:tr>
              <a:tr h="306664">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0.9709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0.5978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0.0652</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0.1826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0.0961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0.5801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8262062"/>
                  </a:ext>
                </a:extLst>
              </a:tr>
            </a:tbl>
          </a:graphicData>
        </a:graphic>
      </p:graphicFrame>
      <p:pic>
        <p:nvPicPr>
          <p:cNvPr id="7" name="Imagen 1" descr="Gráfico, Gráfico de rectángulos&#10;&#10;El contenido generado por IA puede ser incorrecto.">
            <a:extLst>
              <a:ext uri="{FF2B5EF4-FFF2-40B4-BE49-F238E27FC236}">
                <a16:creationId xmlns:a16="http://schemas.microsoft.com/office/drawing/2014/main" id="{CA92587F-1A20-0C15-E37A-733D93B26FCD}"/>
              </a:ext>
            </a:extLst>
          </p:cNvPr>
          <p:cNvPicPr>
            <a:picLocks noChangeAspect="1"/>
          </p:cNvPicPr>
          <p:nvPr/>
        </p:nvPicPr>
        <p:blipFill>
          <a:blip r:embed="rId3"/>
          <a:stretch>
            <a:fillRect/>
          </a:stretch>
        </p:blipFill>
        <p:spPr>
          <a:xfrm>
            <a:off x="137634" y="2667163"/>
            <a:ext cx="5369543" cy="4186520"/>
          </a:xfrm>
          <a:prstGeom prst="rect">
            <a:avLst/>
          </a:prstGeom>
        </p:spPr>
      </p:pic>
      <p:pic>
        <p:nvPicPr>
          <p:cNvPr id="8" name="Imagen 1" descr="Gráfico, Tabla, Gráfico de rectángulos&#10;&#10;El contenido generado por IA puede ser incorrecto.">
            <a:extLst>
              <a:ext uri="{FF2B5EF4-FFF2-40B4-BE49-F238E27FC236}">
                <a16:creationId xmlns:a16="http://schemas.microsoft.com/office/drawing/2014/main" id="{3FAEB31B-5A5B-4708-A26D-731753C020D7}"/>
              </a:ext>
            </a:extLst>
          </p:cNvPr>
          <p:cNvPicPr>
            <a:picLocks noChangeAspect="1"/>
          </p:cNvPicPr>
          <p:nvPr/>
        </p:nvPicPr>
        <p:blipFill>
          <a:blip r:embed="rId4"/>
          <a:stretch>
            <a:fillRect/>
          </a:stretch>
        </p:blipFill>
        <p:spPr>
          <a:xfrm>
            <a:off x="6096000" y="2667163"/>
            <a:ext cx="5847101" cy="4186520"/>
          </a:xfrm>
          <a:prstGeom prst="rect">
            <a:avLst/>
          </a:prstGeom>
        </p:spPr>
      </p:pic>
    </p:spTree>
    <p:extLst>
      <p:ext uri="{BB962C8B-B14F-4D97-AF65-F5344CB8AC3E}">
        <p14:creationId xmlns:p14="http://schemas.microsoft.com/office/powerpoint/2010/main" val="1116365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FE68D0-93BB-82C5-53D8-E2B017043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5EAD9-9F75-645A-5766-A1DCA53620B5}"/>
              </a:ext>
            </a:extLst>
          </p:cNvPr>
          <p:cNvSpPr>
            <a:spLocks noGrp="1"/>
          </p:cNvSpPr>
          <p:nvPr>
            <p:ph type="ctrTitle"/>
          </p:nvPr>
        </p:nvSpPr>
        <p:spPr>
          <a:xfrm>
            <a:off x="137635" y="132885"/>
            <a:ext cx="9336024" cy="674637"/>
          </a:xfrm>
        </p:spPr>
        <p:txBody>
          <a:bodyPr>
            <a:noAutofit/>
          </a:bodyPr>
          <a:lstStyle/>
          <a:p>
            <a:r>
              <a:rPr lang="es-AR" sz="4800" noProof="0" dirty="0"/>
              <a:t>Resultados: </a:t>
            </a:r>
            <a:r>
              <a:rPr lang="es-AR" sz="4800" noProof="0" dirty="0" err="1"/>
              <a:t>Div</a:t>
            </a:r>
            <a:r>
              <a:rPr lang="es-AR" sz="4800" noProof="0" dirty="0"/>
              <a:t>. Personalizada</a:t>
            </a:r>
          </a:p>
        </p:txBody>
      </p:sp>
      <p:graphicFrame>
        <p:nvGraphicFramePr>
          <p:cNvPr id="3" name="Table 2">
            <a:extLst>
              <a:ext uri="{FF2B5EF4-FFF2-40B4-BE49-F238E27FC236}">
                <a16:creationId xmlns:a16="http://schemas.microsoft.com/office/drawing/2014/main" id="{EAA09330-E8D2-787C-26B3-FE4EF5457029}"/>
              </a:ext>
            </a:extLst>
          </p:cNvPr>
          <p:cNvGraphicFramePr>
            <a:graphicFrameLocks noGrp="1"/>
          </p:cNvGraphicFramePr>
          <p:nvPr>
            <p:extLst>
              <p:ext uri="{D42A27DB-BD31-4B8C-83A1-F6EECF244321}">
                <p14:modId xmlns:p14="http://schemas.microsoft.com/office/powerpoint/2010/main" val="2962384428"/>
              </p:ext>
            </p:extLst>
          </p:nvPr>
        </p:nvGraphicFramePr>
        <p:xfrm>
          <a:off x="0" y="925896"/>
          <a:ext cx="12192002" cy="1633957"/>
        </p:xfrm>
        <a:graphic>
          <a:graphicData uri="http://schemas.openxmlformats.org/drawingml/2006/table">
            <a:tbl>
              <a:tblPr firstRow="1" firstCol="1" bandRow="1">
                <a:tableStyleId>{8EC20E35-A176-4012-BC5E-935CFFF8708E}</a:tableStyleId>
              </a:tblPr>
              <a:tblGrid>
                <a:gridCol w="1940966">
                  <a:extLst>
                    <a:ext uri="{9D8B030D-6E8A-4147-A177-3AD203B41FA5}">
                      <a16:colId xmlns:a16="http://schemas.microsoft.com/office/drawing/2014/main" val="2903372877"/>
                    </a:ext>
                  </a:extLst>
                </a:gridCol>
                <a:gridCol w="1709319">
                  <a:extLst>
                    <a:ext uri="{9D8B030D-6E8A-4147-A177-3AD203B41FA5}">
                      <a16:colId xmlns:a16="http://schemas.microsoft.com/office/drawing/2014/main" val="251270040"/>
                    </a:ext>
                  </a:extLst>
                </a:gridCol>
                <a:gridCol w="1709319">
                  <a:extLst>
                    <a:ext uri="{9D8B030D-6E8A-4147-A177-3AD203B41FA5}">
                      <a16:colId xmlns:a16="http://schemas.microsoft.com/office/drawing/2014/main" val="4083102146"/>
                    </a:ext>
                  </a:extLst>
                </a:gridCol>
                <a:gridCol w="1709319">
                  <a:extLst>
                    <a:ext uri="{9D8B030D-6E8A-4147-A177-3AD203B41FA5}">
                      <a16:colId xmlns:a16="http://schemas.microsoft.com/office/drawing/2014/main" val="2143369780"/>
                    </a:ext>
                  </a:extLst>
                </a:gridCol>
                <a:gridCol w="1709319">
                  <a:extLst>
                    <a:ext uri="{9D8B030D-6E8A-4147-A177-3AD203B41FA5}">
                      <a16:colId xmlns:a16="http://schemas.microsoft.com/office/drawing/2014/main" val="2443913088"/>
                    </a:ext>
                  </a:extLst>
                </a:gridCol>
                <a:gridCol w="1709319">
                  <a:extLst>
                    <a:ext uri="{9D8B030D-6E8A-4147-A177-3AD203B41FA5}">
                      <a16:colId xmlns:a16="http://schemas.microsoft.com/office/drawing/2014/main" val="3231518987"/>
                    </a:ext>
                  </a:extLst>
                </a:gridCol>
                <a:gridCol w="1704441">
                  <a:extLst>
                    <a:ext uri="{9D8B030D-6E8A-4147-A177-3AD203B41FA5}">
                      <a16:colId xmlns:a16="http://schemas.microsoft.com/office/drawing/2014/main" val="2350379455"/>
                    </a:ext>
                  </a:extLst>
                </a:gridCol>
              </a:tblGrid>
              <a:tr h="647929">
                <a:tc>
                  <a:txBody>
                    <a:bodyPr/>
                    <a:lstStyle/>
                    <a:p>
                      <a:pPr indent="450215" algn="l">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Bal</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8126323"/>
                  </a:ext>
                </a:extLst>
              </a:tr>
              <a:tr h="306664">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0.8950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0.5969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0.0413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0.5130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0.0765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0.7056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2063816"/>
                  </a:ext>
                </a:extLst>
              </a:tr>
              <a:tr h="306664">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0.7865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0.6268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0.0220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0.5565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0.0423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0.6725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8010117"/>
                  </a:ext>
                </a:extLst>
              </a:tr>
              <a:tr h="306664">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0.9709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0.5978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0.0652</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0.1826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0.0961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0.5801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8262062"/>
                  </a:ext>
                </a:extLst>
              </a:tr>
            </a:tbl>
          </a:graphicData>
        </a:graphic>
      </p:graphicFrame>
      <p:pic>
        <p:nvPicPr>
          <p:cNvPr id="4" name="Imagen 1" descr="Gráfico, Gráfico de rectángulos&#10;&#10;El contenido generado por IA puede ser incorrecto.">
            <a:extLst>
              <a:ext uri="{FF2B5EF4-FFF2-40B4-BE49-F238E27FC236}">
                <a16:creationId xmlns:a16="http://schemas.microsoft.com/office/drawing/2014/main" id="{D08C065E-6F80-ADD1-A52C-196AD996D159}"/>
              </a:ext>
            </a:extLst>
          </p:cNvPr>
          <p:cNvPicPr>
            <a:picLocks noChangeAspect="1"/>
          </p:cNvPicPr>
          <p:nvPr/>
        </p:nvPicPr>
        <p:blipFill>
          <a:blip r:embed="rId2"/>
          <a:stretch>
            <a:fillRect/>
          </a:stretch>
        </p:blipFill>
        <p:spPr>
          <a:xfrm>
            <a:off x="137635" y="2663383"/>
            <a:ext cx="5420017" cy="4182850"/>
          </a:xfrm>
          <a:prstGeom prst="rect">
            <a:avLst/>
          </a:prstGeom>
        </p:spPr>
      </p:pic>
      <p:pic>
        <p:nvPicPr>
          <p:cNvPr id="5" name="Imagen 1" descr="Gráfico, Tabla, Gráfico de rectángulos&#10;&#10;El contenido generado por IA puede ser incorrecto.">
            <a:extLst>
              <a:ext uri="{FF2B5EF4-FFF2-40B4-BE49-F238E27FC236}">
                <a16:creationId xmlns:a16="http://schemas.microsoft.com/office/drawing/2014/main" id="{66E66AF8-130B-F99D-3807-A804B539A254}"/>
              </a:ext>
            </a:extLst>
          </p:cNvPr>
          <p:cNvPicPr>
            <a:picLocks noChangeAspect="1"/>
          </p:cNvPicPr>
          <p:nvPr/>
        </p:nvPicPr>
        <p:blipFill>
          <a:blip r:embed="rId3"/>
          <a:stretch>
            <a:fillRect/>
          </a:stretch>
        </p:blipFill>
        <p:spPr>
          <a:xfrm>
            <a:off x="6096000" y="2678227"/>
            <a:ext cx="5850577" cy="4171464"/>
          </a:xfrm>
          <a:prstGeom prst="rect">
            <a:avLst/>
          </a:prstGeom>
        </p:spPr>
      </p:pic>
    </p:spTree>
    <p:extLst>
      <p:ext uri="{BB962C8B-B14F-4D97-AF65-F5344CB8AC3E}">
        <p14:creationId xmlns:p14="http://schemas.microsoft.com/office/powerpoint/2010/main" val="644438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9B4272-5F39-2408-14F2-C8314994D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D2AD2-D013-CB07-7A28-6D22F2C86B2C}"/>
              </a:ext>
            </a:extLst>
          </p:cNvPr>
          <p:cNvSpPr>
            <a:spLocks noGrp="1"/>
          </p:cNvSpPr>
          <p:nvPr>
            <p:ph type="ctrTitle"/>
          </p:nvPr>
        </p:nvSpPr>
        <p:spPr>
          <a:xfrm>
            <a:off x="137635" y="132885"/>
            <a:ext cx="9336024" cy="674637"/>
          </a:xfrm>
        </p:spPr>
        <p:txBody>
          <a:bodyPr>
            <a:noAutofit/>
          </a:bodyPr>
          <a:lstStyle/>
          <a:p>
            <a:r>
              <a:rPr lang="es-AR" sz="4800" noProof="0" dirty="0"/>
              <a:t>Resultados: </a:t>
            </a:r>
            <a:r>
              <a:rPr lang="es-AR" sz="4800" noProof="0" dirty="0" err="1"/>
              <a:t>Div</a:t>
            </a:r>
            <a:r>
              <a:rPr lang="es-AR" sz="4800" noProof="0" dirty="0"/>
              <a:t>. Personalizada</a:t>
            </a:r>
          </a:p>
        </p:txBody>
      </p:sp>
      <p:graphicFrame>
        <p:nvGraphicFramePr>
          <p:cNvPr id="3" name="Table 2">
            <a:extLst>
              <a:ext uri="{FF2B5EF4-FFF2-40B4-BE49-F238E27FC236}">
                <a16:creationId xmlns:a16="http://schemas.microsoft.com/office/drawing/2014/main" id="{AC30EB00-E1FF-54C4-A5EF-981E9A24FCAC}"/>
              </a:ext>
            </a:extLst>
          </p:cNvPr>
          <p:cNvGraphicFramePr>
            <a:graphicFrameLocks noGrp="1"/>
          </p:cNvGraphicFramePr>
          <p:nvPr>
            <p:extLst>
              <p:ext uri="{D42A27DB-BD31-4B8C-83A1-F6EECF244321}">
                <p14:modId xmlns:p14="http://schemas.microsoft.com/office/powerpoint/2010/main" val="2258338090"/>
              </p:ext>
            </p:extLst>
          </p:nvPr>
        </p:nvGraphicFramePr>
        <p:xfrm>
          <a:off x="0" y="925896"/>
          <a:ext cx="12192002" cy="1633957"/>
        </p:xfrm>
        <a:graphic>
          <a:graphicData uri="http://schemas.openxmlformats.org/drawingml/2006/table">
            <a:tbl>
              <a:tblPr firstRow="1" firstCol="1" bandRow="1">
                <a:tableStyleId>{8EC20E35-A176-4012-BC5E-935CFFF8708E}</a:tableStyleId>
              </a:tblPr>
              <a:tblGrid>
                <a:gridCol w="1940966">
                  <a:extLst>
                    <a:ext uri="{9D8B030D-6E8A-4147-A177-3AD203B41FA5}">
                      <a16:colId xmlns:a16="http://schemas.microsoft.com/office/drawing/2014/main" val="2903372877"/>
                    </a:ext>
                  </a:extLst>
                </a:gridCol>
                <a:gridCol w="1709319">
                  <a:extLst>
                    <a:ext uri="{9D8B030D-6E8A-4147-A177-3AD203B41FA5}">
                      <a16:colId xmlns:a16="http://schemas.microsoft.com/office/drawing/2014/main" val="251270040"/>
                    </a:ext>
                  </a:extLst>
                </a:gridCol>
                <a:gridCol w="1709319">
                  <a:extLst>
                    <a:ext uri="{9D8B030D-6E8A-4147-A177-3AD203B41FA5}">
                      <a16:colId xmlns:a16="http://schemas.microsoft.com/office/drawing/2014/main" val="4083102146"/>
                    </a:ext>
                  </a:extLst>
                </a:gridCol>
                <a:gridCol w="1709319">
                  <a:extLst>
                    <a:ext uri="{9D8B030D-6E8A-4147-A177-3AD203B41FA5}">
                      <a16:colId xmlns:a16="http://schemas.microsoft.com/office/drawing/2014/main" val="2143369780"/>
                    </a:ext>
                  </a:extLst>
                </a:gridCol>
                <a:gridCol w="1709319">
                  <a:extLst>
                    <a:ext uri="{9D8B030D-6E8A-4147-A177-3AD203B41FA5}">
                      <a16:colId xmlns:a16="http://schemas.microsoft.com/office/drawing/2014/main" val="2443913088"/>
                    </a:ext>
                  </a:extLst>
                </a:gridCol>
                <a:gridCol w="1709319">
                  <a:extLst>
                    <a:ext uri="{9D8B030D-6E8A-4147-A177-3AD203B41FA5}">
                      <a16:colId xmlns:a16="http://schemas.microsoft.com/office/drawing/2014/main" val="3231518987"/>
                    </a:ext>
                  </a:extLst>
                </a:gridCol>
                <a:gridCol w="1704441">
                  <a:extLst>
                    <a:ext uri="{9D8B030D-6E8A-4147-A177-3AD203B41FA5}">
                      <a16:colId xmlns:a16="http://schemas.microsoft.com/office/drawing/2014/main" val="2350379455"/>
                    </a:ext>
                  </a:extLst>
                </a:gridCol>
              </a:tblGrid>
              <a:tr h="647929">
                <a:tc>
                  <a:txBody>
                    <a:bodyPr/>
                    <a:lstStyle/>
                    <a:p>
                      <a:pPr indent="450215" algn="l">
                        <a:lnSpc>
                          <a:spcPct val="150000"/>
                        </a:lnSpc>
                        <a:buNone/>
                      </a:pPr>
                      <a:r>
                        <a:rPr lang="es-AR" sz="1600" kern="0" noProof="0" dirty="0">
                          <a:effectLst/>
                        </a:rPr>
                        <a:t>Modelo</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Accuracy</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ROC-AUC</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Precision</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Recall</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a:effectLst/>
                        </a:rPr>
                        <a:t>F1-Score</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tc>
                  <a:txBody>
                    <a:bodyPr/>
                    <a:lstStyle/>
                    <a:p>
                      <a:pPr indent="450215" algn="l">
                        <a:lnSpc>
                          <a:spcPct val="150000"/>
                        </a:lnSpc>
                        <a:buNone/>
                      </a:pPr>
                      <a:r>
                        <a:rPr lang="es-AR" sz="1600" kern="0" noProof="0" dirty="0" err="1">
                          <a:effectLst/>
                        </a:rPr>
                        <a:t>Bal</a:t>
                      </a:r>
                      <a:r>
                        <a:rPr lang="es-AR" sz="1600" kern="0" noProof="0" dirty="0">
                          <a:effectLst/>
                        </a:rPr>
                        <a:t>. </a:t>
                      </a:r>
                      <a:r>
                        <a:rPr lang="es-AR" sz="1600" kern="0" noProof="0" dirty="0" err="1">
                          <a:effectLst/>
                        </a:rPr>
                        <a:t>Acc</a:t>
                      </a:r>
                      <a:r>
                        <a:rPr lang="es-AR" sz="1600" kern="0" noProof="0" dirty="0">
                          <a:effectLst/>
                        </a:rPr>
                        <a: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8126323"/>
                  </a:ext>
                </a:extLst>
              </a:tr>
              <a:tr h="306664">
                <a:tc>
                  <a:txBody>
                    <a:bodyPr/>
                    <a:lstStyle/>
                    <a:p>
                      <a:pPr indent="450215">
                        <a:lnSpc>
                          <a:spcPct val="150000"/>
                        </a:lnSpc>
                        <a:buNone/>
                      </a:pPr>
                      <a:r>
                        <a:rPr lang="es-AR" sz="1600" kern="0" noProof="0" dirty="0" err="1">
                          <a:effectLst/>
                        </a:rPr>
                        <a:t>Random</a:t>
                      </a:r>
                      <a:r>
                        <a:rPr lang="es-AR" sz="1600" kern="0" noProof="0" dirty="0">
                          <a:effectLst/>
                        </a:rPr>
                        <a:t> Forest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0.8950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0.5969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0.0413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0.5130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0.0765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0.7056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2063816"/>
                  </a:ext>
                </a:extLst>
              </a:tr>
              <a:tr h="306664">
                <a:tc>
                  <a:txBody>
                    <a:bodyPr/>
                    <a:lstStyle/>
                    <a:p>
                      <a:pPr indent="450215">
                        <a:lnSpc>
                          <a:spcPct val="150000"/>
                        </a:lnSpc>
                        <a:buNone/>
                      </a:pPr>
                      <a:r>
                        <a:rPr lang="es-AR" sz="1600" kern="0" noProof="0" dirty="0" err="1">
                          <a:effectLst/>
                        </a:rPr>
                        <a:t>XGBoost</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0.7865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0.6268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0.0220</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0.5565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0.0423</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0.6725</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8010117"/>
                  </a:ext>
                </a:extLst>
              </a:tr>
              <a:tr h="306664">
                <a:tc>
                  <a:txBody>
                    <a:bodyPr/>
                    <a:lstStyle/>
                    <a:p>
                      <a:pPr indent="450215">
                        <a:lnSpc>
                          <a:spcPct val="150000"/>
                        </a:lnSpc>
                        <a:buNone/>
                      </a:pPr>
                      <a:r>
                        <a:rPr lang="es-AR" sz="1600" kern="0" noProof="0" dirty="0">
                          <a:effectLst/>
                        </a:rPr>
                        <a:t>SVM</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0.9709</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0.5978</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0.0652</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0.1826</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0.0961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indent="450215" algn="ctr">
                        <a:lnSpc>
                          <a:spcPct val="150000"/>
                        </a:lnSpc>
                        <a:buNone/>
                      </a:pPr>
                      <a:r>
                        <a:rPr lang="es-AR" sz="1600" kern="0" noProof="0" dirty="0">
                          <a:effectLst/>
                        </a:rPr>
                        <a:t>0.5801</a:t>
                      </a:r>
                      <a:endParaRPr lang="es-AR" sz="1600" kern="100" noProof="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8262062"/>
                  </a:ext>
                </a:extLst>
              </a:tr>
            </a:tbl>
          </a:graphicData>
        </a:graphic>
      </p:graphicFrame>
      <p:pic>
        <p:nvPicPr>
          <p:cNvPr id="6" name="Imagen 1" descr="Gráfico&#10;&#10;El contenido generado por IA puede ser incorrecto.">
            <a:extLst>
              <a:ext uri="{FF2B5EF4-FFF2-40B4-BE49-F238E27FC236}">
                <a16:creationId xmlns:a16="http://schemas.microsoft.com/office/drawing/2014/main" id="{00E894DB-2844-73DE-B7D5-A98292124FEC}"/>
              </a:ext>
            </a:extLst>
          </p:cNvPr>
          <p:cNvPicPr>
            <a:picLocks noChangeAspect="1"/>
          </p:cNvPicPr>
          <p:nvPr/>
        </p:nvPicPr>
        <p:blipFill>
          <a:blip r:embed="rId2"/>
          <a:stretch>
            <a:fillRect/>
          </a:stretch>
        </p:blipFill>
        <p:spPr>
          <a:xfrm>
            <a:off x="137635" y="2678227"/>
            <a:ext cx="5395398" cy="4171464"/>
          </a:xfrm>
          <a:prstGeom prst="rect">
            <a:avLst/>
          </a:prstGeom>
        </p:spPr>
      </p:pic>
      <p:pic>
        <p:nvPicPr>
          <p:cNvPr id="7" name="Imagen 1" descr="Gráfico&#10;&#10;El contenido generado por IA puede ser incorrecto.">
            <a:extLst>
              <a:ext uri="{FF2B5EF4-FFF2-40B4-BE49-F238E27FC236}">
                <a16:creationId xmlns:a16="http://schemas.microsoft.com/office/drawing/2014/main" id="{FBDA10E4-8877-5685-ABA5-C7A15ADE7475}"/>
              </a:ext>
            </a:extLst>
          </p:cNvPr>
          <p:cNvPicPr>
            <a:picLocks noChangeAspect="1"/>
          </p:cNvPicPr>
          <p:nvPr/>
        </p:nvPicPr>
        <p:blipFill>
          <a:blip r:embed="rId3"/>
          <a:stretch>
            <a:fillRect/>
          </a:stretch>
        </p:blipFill>
        <p:spPr>
          <a:xfrm>
            <a:off x="6096000" y="2678227"/>
            <a:ext cx="5823204" cy="4171464"/>
          </a:xfrm>
          <a:prstGeom prst="rect">
            <a:avLst/>
          </a:prstGeom>
        </p:spPr>
      </p:pic>
    </p:spTree>
    <p:extLst>
      <p:ext uri="{BB962C8B-B14F-4D97-AF65-F5344CB8AC3E}">
        <p14:creationId xmlns:p14="http://schemas.microsoft.com/office/powerpoint/2010/main" val="2336501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199DE-78A0-E7BE-2B62-838D7ECD9CC6}"/>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164BC112-90C4-FE2E-8C56-C040A9C5A701}"/>
              </a:ext>
            </a:extLst>
          </p:cNvPr>
          <p:cNvSpPr txBox="1">
            <a:spLocks/>
          </p:cNvSpPr>
          <p:nvPr/>
        </p:nvSpPr>
        <p:spPr>
          <a:xfrm>
            <a:off x="308758" y="2103120"/>
            <a:ext cx="4016354" cy="262432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spcAft>
                <a:spcPts val="600"/>
              </a:spcAft>
            </a:pPr>
            <a:r>
              <a:rPr lang="es-AR" sz="4800" b="0" kern="1200" noProof="0" dirty="0">
                <a:solidFill>
                  <a:schemeClr val="bg1"/>
                </a:solidFill>
                <a:latin typeface="+mj-lt"/>
                <a:ea typeface="+mj-ea"/>
                <a:cs typeface="+mj-cs"/>
              </a:rPr>
              <a:t>Conc</a:t>
            </a:r>
            <a:r>
              <a:rPr lang="es-AR" sz="4800" noProof="0" dirty="0">
                <a:solidFill>
                  <a:schemeClr val="bg1"/>
                </a:solidFill>
              </a:rPr>
              <a:t>lusiones</a:t>
            </a:r>
            <a:endParaRPr lang="es-AR" sz="4800" b="0" kern="1200" noProof="0" dirty="0">
              <a:solidFill>
                <a:schemeClr val="bg1"/>
              </a:solidFill>
              <a:latin typeface="+mj-lt"/>
              <a:ea typeface="+mj-ea"/>
              <a:cs typeface="+mj-cs"/>
            </a:endParaRPr>
          </a:p>
        </p:txBody>
      </p:sp>
      <p:sp>
        <p:nvSpPr>
          <p:cNvPr id="3" name="CuadroTexto 2">
            <a:extLst>
              <a:ext uri="{FF2B5EF4-FFF2-40B4-BE49-F238E27FC236}">
                <a16:creationId xmlns:a16="http://schemas.microsoft.com/office/drawing/2014/main" id="{3FE1DC0A-B11C-1818-C7D9-7E5486E21104}"/>
              </a:ext>
            </a:extLst>
          </p:cNvPr>
          <p:cNvSpPr txBox="1"/>
          <p:nvPr/>
        </p:nvSpPr>
        <p:spPr>
          <a:xfrm>
            <a:off x="5159010" y="711434"/>
            <a:ext cx="6860138" cy="5407699"/>
          </a:xfrm>
          <a:prstGeom prst="rect">
            <a:avLst/>
          </a:prstGeom>
          <a:noFill/>
        </p:spPr>
        <p:txBody>
          <a:bodyPr wrap="square" rtlCol="0">
            <a:spAutoFit/>
          </a:bodyPr>
          <a:lstStyle/>
          <a:p>
            <a:pPr algn="just">
              <a:lnSpc>
                <a:spcPct val="150000"/>
              </a:lnSpc>
            </a:pPr>
            <a:r>
              <a:rPr lang="es-AR" b="1" dirty="0"/>
              <a:t>Los datos meteorológicos identifican el riesgo, pero no predicen el evento.</a:t>
            </a:r>
            <a:r>
              <a:rPr lang="es-AR" dirty="0"/>
              <a:t> </a:t>
            </a:r>
          </a:p>
          <a:p>
            <a:pPr algn="just">
              <a:lnSpc>
                <a:spcPct val="150000"/>
              </a:lnSpc>
            </a:pPr>
            <a:endParaRPr lang="es-AR" dirty="0"/>
          </a:p>
          <a:p>
            <a:pPr algn="just">
              <a:lnSpc>
                <a:spcPct val="150000"/>
              </a:lnSpc>
            </a:pPr>
            <a:r>
              <a:rPr lang="es-AR" dirty="0"/>
              <a:t>Los modelos RF y </a:t>
            </a:r>
            <a:r>
              <a:rPr lang="es-AR" dirty="0" err="1"/>
              <a:t>XGBoost</a:t>
            </a:r>
            <a:r>
              <a:rPr lang="es-AR" dirty="0"/>
              <a:t> demostraron que son </a:t>
            </a:r>
            <a:r>
              <a:rPr lang="es-AR" b="1" dirty="0"/>
              <a:t>capaces de identificar las condiciones meteorológicas de alto riesgo asociadas a los incendios</a:t>
            </a:r>
            <a:r>
              <a:rPr lang="es-AR" dirty="0"/>
              <a:t>. Sin embargo, su </a:t>
            </a:r>
            <a:r>
              <a:rPr lang="es-AR" dirty="0" err="1"/>
              <a:t>Precision</a:t>
            </a:r>
            <a:r>
              <a:rPr lang="es-AR" dirty="0"/>
              <a:t> extremadamente baja revela que </a:t>
            </a:r>
            <a:r>
              <a:rPr lang="es-AR" b="1" dirty="0"/>
              <a:t>son incapaces de predecir el evento de ignición real</a:t>
            </a:r>
            <a:r>
              <a:rPr lang="es-AR" dirty="0"/>
              <a:t>.</a:t>
            </a:r>
          </a:p>
          <a:p>
            <a:pPr algn="just">
              <a:lnSpc>
                <a:spcPct val="150000"/>
              </a:lnSpc>
            </a:pPr>
            <a:endParaRPr lang="es-AR" sz="1600" noProof="0" dirty="0"/>
          </a:p>
          <a:p>
            <a:pPr algn="just">
              <a:lnSpc>
                <a:spcPct val="150000"/>
              </a:lnSpc>
            </a:pPr>
            <a:r>
              <a:rPr lang="es-AR" dirty="0"/>
              <a:t>Respondiendo a la pregunta de investigación: </a:t>
            </a:r>
            <a:r>
              <a:rPr lang="es-AR" b="1" dirty="0"/>
              <a:t>no es viable predecir la ocurrencia de nuevos focos usando únicamente el conjunto de características actuales</a:t>
            </a:r>
            <a:r>
              <a:rPr lang="es-AR" dirty="0"/>
              <a:t>. El mal desempeño de todos los modelos demuestra que las variables meteorológicas y los índices FWI son condiciones necesarias, pero no suficientes</a:t>
            </a:r>
            <a:endParaRPr lang="es-AR" sz="1600" noProof="0" dirty="0"/>
          </a:p>
        </p:txBody>
      </p:sp>
    </p:spTree>
    <p:extLst>
      <p:ext uri="{BB962C8B-B14F-4D97-AF65-F5344CB8AC3E}">
        <p14:creationId xmlns:p14="http://schemas.microsoft.com/office/powerpoint/2010/main" val="1691733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F3CF8-1BEF-F7D7-B55B-3757C2E5FE13}"/>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FEC01A25-B0B4-7ED3-A052-47A59FC4B18C}"/>
              </a:ext>
            </a:extLst>
          </p:cNvPr>
          <p:cNvSpPr txBox="1">
            <a:spLocks/>
          </p:cNvSpPr>
          <p:nvPr/>
        </p:nvSpPr>
        <p:spPr>
          <a:xfrm>
            <a:off x="658368" y="2103120"/>
            <a:ext cx="3666744" cy="262432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spcAft>
                <a:spcPts val="600"/>
              </a:spcAft>
            </a:pPr>
            <a:r>
              <a:rPr lang="es-AR" sz="4800" b="0" kern="1200" noProof="0" dirty="0">
                <a:solidFill>
                  <a:schemeClr val="bg1"/>
                </a:solidFill>
                <a:latin typeface="+mj-lt"/>
                <a:ea typeface="+mj-ea"/>
                <a:cs typeface="+mj-cs"/>
              </a:rPr>
              <a:t>Próximos pasos</a:t>
            </a:r>
          </a:p>
        </p:txBody>
      </p:sp>
      <p:sp>
        <p:nvSpPr>
          <p:cNvPr id="3" name="CuadroTexto 2">
            <a:extLst>
              <a:ext uri="{FF2B5EF4-FFF2-40B4-BE49-F238E27FC236}">
                <a16:creationId xmlns:a16="http://schemas.microsoft.com/office/drawing/2014/main" id="{52B3EAD6-3706-462C-A74D-63B526E887FE}"/>
              </a:ext>
            </a:extLst>
          </p:cNvPr>
          <p:cNvSpPr txBox="1"/>
          <p:nvPr/>
        </p:nvSpPr>
        <p:spPr>
          <a:xfrm>
            <a:off x="5208506" y="865862"/>
            <a:ext cx="6595567" cy="5126275"/>
          </a:xfrm>
          <a:prstGeom prst="rect">
            <a:avLst/>
          </a:prstGeom>
          <a:noFill/>
        </p:spPr>
        <p:txBody>
          <a:bodyPr wrap="square" rtlCol="0">
            <a:spAutoFit/>
          </a:bodyPr>
          <a:lstStyle/>
          <a:p>
            <a:pPr marL="342900" indent="-342900" algn="just">
              <a:lnSpc>
                <a:spcPct val="150000"/>
              </a:lnSpc>
              <a:buAutoNum type="arabicPeriod"/>
            </a:pPr>
            <a:r>
              <a:rPr lang="es-AR" sz="2000" noProof="0" dirty="0"/>
              <a:t>Desarrollo de base de datos para almacenamiento.</a:t>
            </a:r>
          </a:p>
          <a:p>
            <a:pPr marL="342900" indent="-342900" algn="just">
              <a:lnSpc>
                <a:spcPct val="150000"/>
              </a:lnSpc>
              <a:buAutoNum type="arabicPeriod"/>
            </a:pPr>
            <a:r>
              <a:rPr lang="es-AR" sz="2000" noProof="0" dirty="0"/>
              <a:t>Desarrollo de interfaces:</a:t>
            </a:r>
          </a:p>
          <a:p>
            <a:pPr marL="800100" lvl="1" indent="-342900" algn="just">
              <a:lnSpc>
                <a:spcPct val="150000"/>
              </a:lnSpc>
              <a:buFont typeface="+mj-lt"/>
              <a:buAutoNum type="alphaLcPeriod"/>
            </a:pPr>
            <a:r>
              <a:rPr lang="es-AR" sz="2000" noProof="0" dirty="0"/>
              <a:t>Datos topográficos.</a:t>
            </a:r>
          </a:p>
          <a:p>
            <a:pPr marL="800100" lvl="1" indent="-342900" algn="just">
              <a:lnSpc>
                <a:spcPct val="150000"/>
              </a:lnSpc>
              <a:buFont typeface="+mj-lt"/>
              <a:buAutoNum type="alphaLcPeriod"/>
            </a:pPr>
            <a:r>
              <a:rPr lang="es-AR" sz="2000" noProof="0" dirty="0"/>
              <a:t>Datos de caracterización del suelo y vegetación.</a:t>
            </a:r>
          </a:p>
          <a:p>
            <a:pPr marL="800100" lvl="1" indent="-342900" algn="just">
              <a:lnSpc>
                <a:spcPct val="150000"/>
              </a:lnSpc>
              <a:buFont typeface="+mj-lt"/>
              <a:buAutoNum type="alphaLcPeriod"/>
            </a:pPr>
            <a:r>
              <a:rPr lang="es-AR" sz="2000" dirty="0"/>
              <a:t>Datos de áreas quemadas.</a:t>
            </a:r>
            <a:endParaRPr lang="es-AR" sz="2000" noProof="0" dirty="0"/>
          </a:p>
          <a:p>
            <a:pPr marL="800100" lvl="1" indent="-342900" algn="just">
              <a:lnSpc>
                <a:spcPct val="150000"/>
              </a:lnSpc>
              <a:buFont typeface="+mj-lt"/>
              <a:buAutoNum type="alphaLcPeriod"/>
            </a:pPr>
            <a:r>
              <a:rPr lang="es-AR" sz="2000" noProof="0" dirty="0"/>
              <a:t>Datos de histórico de caída de rayos (fuente: </a:t>
            </a:r>
            <a:r>
              <a:rPr lang="es-AR" sz="2000" noProof="0" dirty="0" err="1"/>
              <a:t>GeoRayos</a:t>
            </a:r>
            <a:r>
              <a:rPr lang="es-AR" sz="2000" noProof="0" dirty="0"/>
              <a:t> de CITEDEF).</a:t>
            </a:r>
          </a:p>
          <a:p>
            <a:pPr marL="800100" lvl="1" indent="-342900" algn="just">
              <a:lnSpc>
                <a:spcPct val="150000"/>
              </a:lnSpc>
              <a:buFont typeface="+mj-lt"/>
              <a:buAutoNum type="alphaLcPeriod"/>
            </a:pPr>
            <a:r>
              <a:rPr lang="es-AR" sz="2000" noProof="0" dirty="0"/>
              <a:t>Datos de accesibilidad y presencia humana.</a:t>
            </a:r>
          </a:p>
          <a:p>
            <a:pPr marL="342900" indent="-342900" algn="just">
              <a:lnSpc>
                <a:spcPct val="150000"/>
              </a:lnSpc>
              <a:buAutoNum type="arabicPeriod"/>
            </a:pPr>
            <a:r>
              <a:rPr lang="es-AR" sz="2000" noProof="0" dirty="0"/>
              <a:t>Actualización automática de registros en BBDD vía </a:t>
            </a:r>
            <a:r>
              <a:rPr lang="es-AR" sz="2000" noProof="0" dirty="0" err="1"/>
              <a:t>APIs</a:t>
            </a:r>
            <a:r>
              <a:rPr lang="es-AR" sz="2000" noProof="0" dirty="0"/>
              <a:t>.</a:t>
            </a:r>
          </a:p>
          <a:p>
            <a:pPr marL="342900" indent="-342900" algn="just">
              <a:lnSpc>
                <a:spcPct val="150000"/>
              </a:lnSpc>
              <a:buAutoNum type="arabicPeriod"/>
            </a:pPr>
            <a:r>
              <a:rPr lang="es-AR" sz="2000" noProof="0" dirty="0"/>
              <a:t>Consolidación de datos vía </a:t>
            </a:r>
            <a:r>
              <a:rPr lang="es-AR" sz="2000" noProof="0" dirty="0" err="1"/>
              <a:t>queries</a:t>
            </a:r>
            <a:r>
              <a:rPr lang="es-AR" sz="2000" noProof="0" dirty="0"/>
              <a:t> a BBDD.</a:t>
            </a:r>
          </a:p>
          <a:p>
            <a:pPr marL="342900" indent="-342900" algn="just">
              <a:lnSpc>
                <a:spcPct val="150000"/>
              </a:lnSpc>
              <a:buAutoNum type="arabicPeriod"/>
            </a:pPr>
            <a:r>
              <a:rPr lang="es-AR" sz="2000" dirty="0"/>
              <a:t>Re ejecución de ciclo CRISP-DM.</a:t>
            </a:r>
            <a:endParaRPr lang="es-AR" sz="2000" noProof="0" dirty="0"/>
          </a:p>
        </p:txBody>
      </p:sp>
    </p:spTree>
    <p:extLst>
      <p:ext uri="{BB962C8B-B14F-4D97-AF65-F5344CB8AC3E}">
        <p14:creationId xmlns:p14="http://schemas.microsoft.com/office/powerpoint/2010/main" val="4258263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9E12D-2BC4-D403-EB86-DC6F62EA598E}"/>
              </a:ext>
            </a:extLst>
          </p:cNvPr>
          <p:cNvSpPr>
            <a:spLocks noGrp="1"/>
          </p:cNvSpPr>
          <p:nvPr>
            <p:ph type="title"/>
          </p:nvPr>
        </p:nvSpPr>
        <p:spPr>
          <a:xfrm>
            <a:off x="612648" y="2093976"/>
            <a:ext cx="6528816" cy="4178808"/>
          </a:xfrm>
        </p:spPr>
        <p:txBody>
          <a:bodyPr anchor="b">
            <a:normAutofit/>
          </a:bodyPr>
          <a:lstStyle/>
          <a:p>
            <a:r>
              <a:rPr lang="es-AR" noProof="0" dirty="0"/>
              <a:t>Muchas gracias.</a:t>
            </a:r>
          </a:p>
        </p:txBody>
      </p:sp>
    </p:spTree>
    <p:extLst>
      <p:ext uri="{BB962C8B-B14F-4D97-AF65-F5344CB8AC3E}">
        <p14:creationId xmlns:p14="http://schemas.microsoft.com/office/powerpoint/2010/main" val="2211116850"/>
      </p:ext>
    </p:extLst>
  </p:cSld>
  <p:clrMapOvr>
    <a:masterClrMapping/>
  </p:clrMapOvr>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3645</TotalTime>
  <Words>4311</Words>
  <Application>Microsoft Office PowerPoint</Application>
  <PresentationFormat>Panorámica</PresentationFormat>
  <Paragraphs>647</Paragraphs>
  <Slides>34</Slides>
  <Notes>29</Notes>
  <HiddenSlides>5</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34</vt:i4>
      </vt:variant>
    </vt:vector>
  </HeadingPairs>
  <TitlesOfParts>
    <vt:vector size="40" baseType="lpstr">
      <vt:lpstr>Aptos</vt:lpstr>
      <vt:lpstr>Aptos Light</vt:lpstr>
      <vt:lpstr>Aptos Narrow</vt:lpstr>
      <vt:lpstr>Arial</vt:lpstr>
      <vt:lpstr>Times New Roman</vt:lpstr>
      <vt:lpstr>Chroma</vt:lpstr>
      <vt:lpstr>Incendios forestales de la Patagonia Andina</vt:lpstr>
      <vt:lpstr>Temario</vt:lpstr>
      <vt:lpstr>Motivación</vt:lpstr>
      <vt:lpstr>Motivación</vt:lpstr>
      <vt:lpstr>Presentación de PowerPoint</vt:lpstr>
      <vt:lpstr>Presentación de PowerPoint</vt:lpstr>
      <vt:lpstr>Objetivos</vt:lpstr>
      <vt:lpstr>Datos</vt:lpstr>
      <vt:lpstr>Adquisición</vt:lpstr>
      <vt:lpstr>Tratamiento</vt:lpstr>
      <vt:lpstr>Meteorológicos</vt:lpstr>
      <vt:lpstr>Focos de calor</vt:lpstr>
      <vt:lpstr>Resultado</vt:lpstr>
      <vt:lpstr>Análisis exploratorio de conjunto consolidado</vt:lpstr>
      <vt:lpstr>Presentación de PowerPoint</vt:lpstr>
      <vt:lpstr>Presentación de PowerPoint</vt:lpstr>
      <vt:lpstr>Presentación de PowerPoint</vt:lpstr>
      <vt:lpstr>Presentación de PowerPoint</vt:lpstr>
      <vt:lpstr>Presentación de PowerPoint</vt:lpstr>
      <vt:lpstr>Presentación de PowerPoint</vt:lpstr>
      <vt:lpstr>Aplicación de Machine Learning</vt:lpstr>
      <vt:lpstr>Aprendizaje supervisado</vt:lpstr>
      <vt:lpstr>Selección de modelos</vt:lpstr>
      <vt:lpstr>Planteo de escenarios</vt:lpstr>
      <vt:lpstr>Planteo de escenarios</vt:lpstr>
      <vt:lpstr>Resultados: Escenario A</vt:lpstr>
      <vt:lpstr>Resultados: Div. Automática</vt:lpstr>
      <vt:lpstr>Resultados: Div. Automática</vt:lpstr>
      <vt:lpstr>Resultados: Escenario B</vt:lpstr>
      <vt:lpstr>Resultados: Div. Personalizada</vt:lpstr>
      <vt:lpstr>Resultados: Div. Personalizada</vt:lpstr>
      <vt:lpstr>Presentación de PowerPoint</vt:lpstr>
      <vt:lpstr>Presentación de PowerPoint</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Ezequiel Villagra Turco</dc:creator>
  <cp:lastModifiedBy>Ezequiel Villagra Turco</cp:lastModifiedBy>
  <cp:revision>69</cp:revision>
  <dcterms:created xsi:type="dcterms:W3CDTF">2025-10-28T15:55:22Z</dcterms:created>
  <dcterms:modified xsi:type="dcterms:W3CDTF">2025-11-27T17:26:42Z</dcterms:modified>
</cp:coreProperties>
</file>