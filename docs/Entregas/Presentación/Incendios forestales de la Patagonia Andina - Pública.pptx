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notesMasterIdLst>
    <p:notesMasterId r:id="rId33"/>
  </p:notesMasterIdLst>
  <p:sldIdLst>
    <p:sldId id="256" r:id="rId2"/>
    <p:sldId id="257" r:id="rId3"/>
    <p:sldId id="258" r:id="rId4"/>
    <p:sldId id="263" r:id="rId5"/>
    <p:sldId id="259" r:id="rId6"/>
    <p:sldId id="290" r:id="rId7"/>
    <p:sldId id="260" r:id="rId8"/>
    <p:sldId id="264" r:id="rId9"/>
    <p:sldId id="262" r:id="rId10"/>
    <p:sldId id="269" r:id="rId11"/>
    <p:sldId id="270" r:id="rId12"/>
    <p:sldId id="272" r:id="rId13"/>
    <p:sldId id="273" r:id="rId14"/>
    <p:sldId id="274" r:id="rId15"/>
    <p:sldId id="275" r:id="rId16"/>
    <p:sldId id="291" r:id="rId17"/>
    <p:sldId id="292" r:id="rId18"/>
    <p:sldId id="277" r:id="rId19"/>
    <p:sldId id="282" r:id="rId20"/>
    <p:sldId id="283" r:id="rId21"/>
    <p:sldId id="293" r:id="rId22"/>
    <p:sldId id="288" r:id="rId23"/>
    <p:sldId id="294" r:id="rId24"/>
    <p:sldId id="295" r:id="rId25"/>
    <p:sldId id="296" r:id="rId26"/>
    <p:sldId id="298" r:id="rId27"/>
    <p:sldId id="297" r:id="rId28"/>
    <p:sldId id="299" r:id="rId29"/>
    <p:sldId id="300" r:id="rId30"/>
    <p:sldId id="286" r:id="rId31"/>
    <p:sldId id="287" r:id="rId32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29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6E74B-C055-4010-834E-8241D3B4B3B4}" type="datetimeFigureOut">
              <a:rPr lang="es-AR" smtClean="0"/>
              <a:t>22/11/2025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8BD3CD-1211-4D73-8435-E387E60ABEA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64614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1573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76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137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584828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9127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00544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11900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2605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7707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421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8311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660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10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5903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7344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344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3840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5037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3947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44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8489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661088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204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81391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20954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53140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2788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014231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3226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11/22/2025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95817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13068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8244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9590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989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8938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3955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5135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3180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13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841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7898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8227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27827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6262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878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03230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11/22/2025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5894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11/22/2025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5092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01908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2165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1113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11/22/2025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162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reenpeace.org/static/planet4-argentina-stateless/2024/05/28537bfa-incendios-forestales-en-los-bosques-andino-patagonicos-2023-2024.pdf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www.greenpeace.org/static/planet4-argentina-stateless/2025/05/d5b627cc-reporteincendios-gp2025final.pdf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8FBC49-9D93-6D6D-3174-7C77309CF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es-AR" b="1" noProof="0" dirty="0"/>
              <a:t>Incendios forestales de la Patagonia Andina</a:t>
            </a:r>
            <a:endParaRPr lang="es-AR" noProof="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ABC29BA-AD2E-5BC5-1C6A-2B1A95CF6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/>
          <a:p>
            <a:r>
              <a:rPr lang="es-AR" b="1" noProof="0" dirty="0"/>
              <a:t>Una aproximación con modelos de aprendizaje automático.</a:t>
            </a:r>
            <a:endParaRPr lang="es-AR" noProof="0" dirty="0"/>
          </a:p>
        </p:txBody>
      </p:sp>
      <p:pic>
        <p:nvPicPr>
          <p:cNvPr id="10" name="Marcador de posición de imagen 9">
            <a:extLst>
              <a:ext uri="{FF2B5EF4-FFF2-40B4-BE49-F238E27FC236}">
                <a16:creationId xmlns:a16="http://schemas.microsoft.com/office/drawing/2014/main" id="{0241CF43-077C-82AA-0468-25012988520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9" r="29469"/>
          <a:stretch/>
        </p:blipFill>
        <p:spPr>
          <a:xfrm>
            <a:off x="7537704" y="0"/>
            <a:ext cx="4654296" cy="6857778"/>
          </a:xfrm>
          <a:noFill/>
        </p:spPr>
      </p:pic>
    </p:spTree>
    <p:extLst>
      <p:ext uri="{BB962C8B-B14F-4D97-AF65-F5344CB8AC3E}">
        <p14:creationId xmlns:p14="http://schemas.microsoft.com/office/powerpoint/2010/main" val="2110683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B60CF-894E-E884-F59B-79EE32A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>
            <a:normAutofit/>
          </a:bodyPr>
          <a:lstStyle/>
          <a:p>
            <a:r>
              <a:rPr lang="es-AR" b="1" noProof="0" dirty="0"/>
              <a:t>Índice</a:t>
            </a:r>
          </a:p>
        </p:txBody>
      </p:sp>
      <p:pic>
        <p:nvPicPr>
          <p:cNvPr id="7" name="Marcador de posición de imagen 6">
            <a:extLst>
              <a:ext uri="{FF2B5EF4-FFF2-40B4-BE49-F238E27FC236}">
                <a16:creationId xmlns:a16="http://schemas.microsoft.com/office/drawing/2014/main" id="{1938CA97-CCBC-FE34-3A6B-EAD133F7224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94" r="32494"/>
          <a:stretch/>
        </p:blipFill>
        <p:spPr>
          <a:xfrm>
            <a:off x="0" y="260"/>
            <a:ext cx="4084363" cy="6857479"/>
          </a:xfrm>
          <a:noFill/>
        </p:spPr>
      </p:pic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3322D8B2-B1F5-5A30-A079-383E5437BFF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22361028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5387536" y="1472183"/>
          <a:ext cx="5495960" cy="4782316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191010">
                  <a:extLst>
                    <a:ext uri="{9D8B030D-6E8A-4147-A177-3AD203B41FA5}">
                      <a16:colId xmlns:a16="http://schemas.microsoft.com/office/drawing/2014/main" val="1868535267"/>
                    </a:ext>
                  </a:extLst>
                </a:gridCol>
                <a:gridCol w="4304950">
                  <a:extLst>
                    <a:ext uri="{9D8B030D-6E8A-4147-A177-3AD203B41FA5}">
                      <a16:colId xmlns:a16="http://schemas.microsoft.com/office/drawing/2014/main" val="654858520"/>
                    </a:ext>
                  </a:extLst>
                </a:gridCol>
              </a:tblGrid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Motivación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214780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02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Datos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4036038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03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Objetivos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9927137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04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s-AR" sz="1700" b="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10349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05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s-AR" sz="1700" b="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124404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06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s-AR" sz="1700" b="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754579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07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s-AR" sz="1700" b="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3050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723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585BEA-FDD9-68AB-BD88-190AE215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anchor="b">
            <a:normAutofit/>
          </a:bodyPr>
          <a:lstStyle/>
          <a:p>
            <a:r>
              <a:rPr lang="es-AR" noProof="0" dirty="0"/>
              <a:t>Motivación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61E7C1-2B95-E929-5DC8-2B34D918A3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83" r="12128" b="-1"/>
          <a:stretch>
            <a:fillRect/>
          </a:stretch>
        </p:blipFill>
        <p:spPr>
          <a:xfrm>
            <a:off x="119307" y="10"/>
            <a:ext cx="5413248" cy="6857990"/>
          </a:xfrm>
          <a:prstGeom prst="rect">
            <a:avLst/>
          </a:prstGeom>
          <a:noFill/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0B50146-BE55-3008-41D3-BB1489CBE7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anchor="b">
            <a:normAutofit/>
          </a:bodyPr>
          <a:lstStyle/>
          <a:p>
            <a:pPr marL="0" indent="0">
              <a:buNone/>
            </a:pPr>
            <a:r>
              <a:rPr lang="es-AR" sz="1900" b="1" noProof="0" dirty="0"/>
              <a:t>"</a:t>
            </a:r>
            <a:r>
              <a:rPr lang="es-AR" sz="1900" b="1" i="1" noProof="0" dirty="0"/>
              <a:t>Declárase de interés público provincial la prevención, </a:t>
            </a:r>
            <a:r>
              <a:rPr lang="es-AR" sz="1900" b="1" i="1" noProof="0" dirty="0" err="1"/>
              <a:t>presupresión</a:t>
            </a:r>
            <a:r>
              <a:rPr lang="es-AR" sz="1900" b="1" i="1" noProof="0" dirty="0"/>
              <a:t> y combate de los incendios forestales y rurales, como medio tendiente a la protección de la vida y la seguridad de las personas y a la preservación del patrimonio ambiental y económico de la provincia.”</a:t>
            </a:r>
            <a:endParaRPr lang="es-AR" sz="1900" b="1" noProof="0" dirty="0"/>
          </a:p>
          <a:p>
            <a:pPr marL="0" indent="0">
              <a:buNone/>
            </a:pPr>
            <a:r>
              <a:rPr lang="es-AR" sz="1900" noProof="0" dirty="0"/>
              <a:t>Art. 1 - Ley </a:t>
            </a:r>
            <a:r>
              <a:rPr lang="es-AR" sz="1900" noProof="0" dirty="0" err="1"/>
              <a:t>N.°</a:t>
            </a:r>
            <a:r>
              <a:rPr lang="es-AR" sz="1900" noProof="0" dirty="0"/>
              <a:t> 5243 de la Provincia de Río Negro</a:t>
            </a:r>
          </a:p>
        </p:txBody>
      </p:sp>
    </p:spTree>
    <p:extLst>
      <p:ext uri="{BB962C8B-B14F-4D97-AF65-F5344CB8AC3E}">
        <p14:creationId xmlns:p14="http://schemas.microsoft.com/office/powerpoint/2010/main" val="4282985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E09C5-6633-07D7-BE96-7BB05F091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436625-D318-59AF-B638-98080BC68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42153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Motivación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0E671EAB-F101-F412-7316-9D5F7B6ED82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9358" y="640080"/>
            <a:ext cx="7007352" cy="5577840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2400" noProof="0" dirty="0"/>
              <a:t>En el periodo octubre 2024 a marzo 2025 se cuadriplicó el área afectada por el fuego en la región, la superficie de Bosques Andino Patagónicos afectada por incendios forestales fue de </a:t>
            </a:r>
            <a:r>
              <a:rPr lang="es-AR" sz="2400" b="1" noProof="0" dirty="0"/>
              <a:t>10.218has</a:t>
            </a:r>
            <a:r>
              <a:rPr lang="es-AR" sz="2400" noProof="0" dirty="0"/>
              <a:t>, mientras que durante el mismo periodo 2023-2024 fue de </a:t>
            </a:r>
            <a:r>
              <a:rPr lang="es-AR" sz="2400" b="1" noProof="0" dirty="0"/>
              <a:t>7.747has</a:t>
            </a:r>
            <a:r>
              <a:rPr lang="es-AR" sz="2400" noProof="0" dirty="0"/>
              <a:t>. 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D88CEEE-E646-8BE9-7EE5-68476F5C8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195" y="160019"/>
            <a:ext cx="4598448" cy="6427721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8662095D-6514-2A96-4834-1E8EFC27E307}"/>
              </a:ext>
            </a:extLst>
          </p:cNvPr>
          <p:cNvSpPr txBox="1"/>
          <p:nvPr/>
        </p:nvSpPr>
        <p:spPr>
          <a:xfrm>
            <a:off x="219357" y="6217920"/>
            <a:ext cx="4862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s-AR" sz="900" noProof="0" dirty="0"/>
              <a:t>Greenpeace. (2024, abril). </a:t>
            </a:r>
            <a:r>
              <a:rPr lang="es-AR" sz="900" i="1" noProof="0" dirty="0">
                <a:hlinkClick r:id="rId3"/>
              </a:rPr>
              <a:t>Incendios Forestales en los Bosques Andino Patagónicos de Argentina</a:t>
            </a:r>
            <a:r>
              <a:rPr lang="es-AR" sz="900" noProof="0" dirty="0"/>
              <a:t>.</a:t>
            </a:r>
          </a:p>
          <a:p>
            <a:pPr lvl="0"/>
            <a:r>
              <a:rPr lang="es-AR" sz="900" noProof="0" dirty="0"/>
              <a:t>Greenpeace. (2025, mayo). </a:t>
            </a:r>
            <a:r>
              <a:rPr lang="es-AR" sz="900" i="1" noProof="0" dirty="0">
                <a:hlinkClick r:id="rId4"/>
              </a:rPr>
              <a:t>Incendios Forestales en los Bosques Andino Patagónicos de Argentina</a:t>
            </a:r>
            <a:r>
              <a:rPr lang="es-AR" sz="900" noProof="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167502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558B-9388-C5AF-372E-42F977E23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4D79518A-F239-8343-F2B4-86B21F1CF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20650" y="369236"/>
            <a:ext cx="11950700" cy="600522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86778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27B6C-1581-3F3B-0945-2A4ADFF1F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3EA62E36-9345-19A3-5A74-06D63924D0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885" y="369236"/>
            <a:ext cx="11950230" cy="600522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63913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568FA-9E75-DB11-AFF2-94DE1F20A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Marcador de posición de imagen 14">
            <a:extLst>
              <a:ext uri="{FF2B5EF4-FFF2-40B4-BE49-F238E27FC236}">
                <a16:creationId xmlns:a16="http://schemas.microsoft.com/office/drawing/2014/main" id="{72C7C3F0-75DF-47A5-4E2F-96B8CE821BC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6" r="24516"/>
          <a:stretch>
            <a:fillRect/>
          </a:stretch>
        </p:blipFill>
        <p:spPr>
          <a:xfrm>
            <a:off x="264607" y="706297"/>
            <a:ext cx="3448141" cy="3805413"/>
          </a:xfrm>
        </p:spPr>
      </p:pic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FC270278-268D-2240-0CB2-F71B819C9A3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23784" y="271456"/>
            <a:ext cx="6703101" cy="6490733"/>
          </a:xfrm>
        </p:spPr>
        <p:txBody>
          <a:bodyPr>
            <a:normAutofit fontScale="92500" lnSpcReduction="20000"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Estudiar y comprender los incendios forestales de la Patagonia Andina por medio de datos derivados de instrumentos de teledetección y preprocesados con modelos robustos de consolidación.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Recopilar y sistematizar la información necesaria y disponible para el desarrollo del proyecto, incluyendo datos satelitales, climatológicos y ambientales.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Realizar la limpieza y procesamiento de los datos recopilados para su consolidación.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Realizar un análisis exploratorio para identificar patrones y correlaciones entre las variables estudiadas y la ocurrencia de incendios.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Implementar modelos de Machine </a:t>
            </a:r>
            <a:r>
              <a:rPr lang="es-AR" noProof="0" dirty="0" err="1"/>
              <a:t>Learning</a:t>
            </a:r>
            <a:r>
              <a:rPr lang="es-AR" noProof="0" dirty="0"/>
              <a:t> que permitan predecir la probabilidad de nuevos focos en una región específica.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Evaluar la efectividad de los modelos desarrollados mediante la comparación de sus predicciones con datos históricos de incendios</a:t>
            </a:r>
            <a:r>
              <a:rPr lang="es-AR" sz="1500" noProof="0" dirty="0"/>
              <a:t>.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endParaRPr lang="es-AR" sz="1500" noProof="0" dirty="0"/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endParaRPr lang="es-AR" sz="1500" noProof="0" dirty="0"/>
          </a:p>
          <a:p>
            <a:pPr marL="0" indent="0">
              <a:lnSpc>
                <a:spcPct val="110000"/>
              </a:lnSpc>
              <a:buNone/>
            </a:pPr>
            <a:endParaRPr lang="es-AR" sz="1500" noProof="0" dirty="0"/>
          </a:p>
          <a:p>
            <a:pPr>
              <a:lnSpc>
                <a:spcPct val="110000"/>
              </a:lnSpc>
            </a:pPr>
            <a:endParaRPr lang="es-AR" sz="1500" noProof="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518D0673-0A83-D87C-6D92-3584E6256D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438" y="3516823"/>
            <a:ext cx="4133221" cy="3099916"/>
          </a:xfrm>
          <a:prstGeom prst="rect">
            <a:avLst/>
          </a:prstGeom>
        </p:spPr>
      </p:pic>
      <p:sp>
        <p:nvSpPr>
          <p:cNvPr id="21" name="Título 1">
            <a:extLst>
              <a:ext uri="{FF2B5EF4-FFF2-40B4-BE49-F238E27FC236}">
                <a16:creationId xmlns:a16="http://schemas.microsoft.com/office/drawing/2014/main" id="{E677125C-6613-63AB-C65B-17398D40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4215384" cy="500462"/>
          </a:xfrm>
        </p:spPr>
        <p:txBody>
          <a:bodyPr anchor="t">
            <a:noAutofit/>
          </a:bodyPr>
          <a:lstStyle/>
          <a:p>
            <a:r>
              <a:rPr lang="es-AR" sz="2900" noProof="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rPr>
              <a:t>Objetivos</a:t>
            </a:r>
          </a:p>
        </p:txBody>
      </p:sp>
    </p:spTree>
    <p:extLst>
      <p:ext uri="{BB962C8B-B14F-4D97-AF65-F5344CB8AC3E}">
        <p14:creationId xmlns:p14="http://schemas.microsoft.com/office/powerpoint/2010/main" val="1236893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3094B2-8852-1248-18C6-22DF31E37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54" y="328260"/>
            <a:ext cx="5852160" cy="904639"/>
          </a:xfrm>
        </p:spPr>
        <p:txBody>
          <a:bodyPr anchor="t">
            <a:normAutofit/>
          </a:bodyPr>
          <a:lstStyle/>
          <a:p>
            <a:r>
              <a:rPr lang="es-AR" noProof="0" dirty="0"/>
              <a:t>Datos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6722B269-D6E4-0524-BE44-D29C4E10E4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853" y="2219218"/>
            <a:ext cx="5455577" cy="3916406"/>
          </a:xfrm>
        </p:spPr>
        <p:txBody>
          <a:bodyPr>
            <a:normAutofit/>
          </a:bodyPr>
          <a:lstStyle/>
          <a:p>
            <a:r>
              <a:rPr lang="es-AR" sz="2400" b="1" noProof="0" dirty="0"/>
              <a:t>Área de estudio: </a:t>
            </a:r>
          </a:p>
          <a:p>
            <a:pPr lvl="1"/>
            <a:r>
              <a:rPr lang="es-AR" sz="2000" noProof="0" dirty="0" err="1">
                <a:solidFill>
                  <a:schemeClr val="bg1"/>
                </a:solidFill>
              </a:rPr>
              <a:t>Extención</a:t>
            </a:r>
            <a:r>
              <a:rPr lang="es-AR" sz="2000" noProof="0" dirty="0">
                <a:solidFill>
                  <a:schemeClr val="bg1"/>
                </a:solidFill>
              </a:rPr>
              <a:t> longitudinal: -72,00° E a -71,00° O</a:t>
            </a:r>
          </a:p>
          <a:p>
            <a:pPr lvl="1"/>
            <a:r>
              <a:rPr lang="es-AR" sz="2000" noProof="0" dirty="0" err="1">
                <a:solidFill>
                  <a:schemeClr val="bg1"/>
                </a:solidFill>
              </a:rPr>
              <a:t>Extención</a:t>
            </a:r>
            <a:r>
              <a:rPr lang="es-AR" sz="2000" noProof="0" dirty="0">
                <a:solidFill>
                  <a:schemeClr val="bg1"/>
                </a:solidFill>
              </a:rPr>
              <a:t> latitudinal: -42,00° S a -41,00° N</a:t>
            </a:r>
          </a:p>
          <a:p>
            <a:pPr lvl="1"/>
            <a:r>
              <a:rPr lang="es-AR" sz="2000" noProof="0" dirty="0">
                <a:solidFill>
                  <a:schemeClr val="bg1"/>
                </a:solidFill>
              </a:rPr>
              <a:t>Área total: ~ 9200,0 km² (111kms x 83kms)</a:t>
            </a:r>
          </a:p>
          <a:p>
            <a:pPr lvl="1"/>
            <a:r>
              <a:rPr lang="es-AR" sz="2000" noProof="0" dirty="0">
                <a:solidFill>
                  <a:schemeClr val="bg1"/>
                </a:solidFill>
              </a:rPr>
              <a:t>Tamaño de grilla: 11 x 11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127C04C9-3BF6-C38E-93F2-3780A0B7180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2" r="6632"/>
          <a:stretch/>
        </p:blipFill>
        <p:spPr>
          <a:xfrm>
            <a:off x="7534656" y="213"/>
            <a:ext cx="4654296" cy="6857573"/>
          </a:xfrm>
          <a:noFill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94DC97F-3A3A-1E24-E69A-841EB0190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285" y="0"/>
            <a:ext cx="6219667" cy="6866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221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46DE4-AEC5-6649-F9FC-1DDF58812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3A9C41-2ED4-4FE0-3936-BA2E6B9C7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42153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Adquisición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2976714-2DAB-3DAA-4F27-B8DF32BBB7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9358" y="640080"/>
            <a:ext cx="11753284" cy="209328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La adquisición de los datos se realiza mediante el uso de las </a:t>
            </a:r>
            <a:r>
              <a:rPr lang="es-AR" sz="1600" b="1" noProof="0" dirty="0"/>
              <a:t>Interfaces de Programación de Aplicaciones (API) </a:t>
            </a:r>
            <a:r>
              <a:rPr lang="es-AR" sz="1600" noProof="0" dirty="0"/>
              <a:t>provistas por los administradores de la información. Estas interfaces funcionan como piezas de código que permiten a dos aplicaciones comunicarse entre sí para compartir información y funcionalidades.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La consulta programática a las API representa la capa de ingesta de datos del proyecto, los cuales son posteriormente tratados para su armonización e integración en el conjunto de datos consolidado.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1E3032C-73AD-D5E6-F5F1-9C17DD19C8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340" y="3203350"/>
            <a:ext cx="3328199" cy="2810950"/>
          </a:xfrm>
          <a:prstGeom prst="rect">
            <a:avLst/>
          </a:prstGeom>
        </p:spPr>
      </p:pic>
      <p:pic>
        <p:nvPicPr>
          <p:cNvPr id="1028" name="Picture 4" descr="Copernicus logo">
            <a:extLst>
              <a:ext uri="{FF2B5EF4-FFF2-40B4-BE49-F238E27FC236}">
                <a16:creationId xmlns:a16="http://schemas.microsoft.com/office/drawing/2014/main" id="{36E74F27-4147-84A7-80C1-8931BF672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667433"/>
            <a:ext cx="4415174" cy="2478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0274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E42E-8CDA-7F08-0947-CECC4573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C21F4-83A8-EAD0-947C-6FECBDE54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42153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ERA5-Land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16CAAFA-AA7A-CEBE-B496-249AF6D30CD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9358" y="640080"/>
            <a:ext cx="11753284" cy="287986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noProof="0" dirty="0"/>
              <a:t>Es un </a:t>
            </a:r>
            <a:r>
              <a:rPr lang="es-AR" b="1" noProof="0" dirty="0"/>
              <a:t>conjunto de datos de reanálisis</a:t>
            </a:r>
            <a:r>
              <a:rPr lang="es-AR" noProof="0" dirty="0"/>
              <a:t> global que proporciona una reconstrucción detallada y consistente de las variables del sistema terrestre desde 1950 hasta casi en tiempo real. Está específicamente optimizado para representar con gran detalle los procesos que ocurren en la superficie terrestre</a:t>
            </a:r>
            <a:r>
              <a:rPr lang="es-AR" sz="1600" noProof="0" dirty="0"/>
              <a:t>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AR" noProof="0" dirty="0"/>
              <a:t>Un conjunto de reanálisis </a:t>
            </a:r>
            <a:r>
              <a:rPr lang="es-AR" b="1" noProof="0" dirty="0"/>
              <a:t>combina datos de modelos físicos con observaciones históricas de todo el mundo para crear un conjunto de datos globalmente completo y coherente</a:t>
            </a:r>
            <a:r>
              <a:rPr lang="es-AR" noProof="0" dirty="0"/>
              <a:t>. Este proceso, que se apoya en las leyes de la física, genera datos que se remontan varias décadas atrás, proporcionando una descripción precisa del clima del pasado.</a:t>
            </a:r>
            <a:endParaRPr lang="es-AR" sz="1600" noProof="0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3D4B827F-1E76-A885-870D-F4E0F8F4B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833805"/>
              </p:ext>
            </p:extLst>
          </p:nvPr>
        </p:nvGraphicFramePr>
        <p:xfrm>
          <a:off x="2069076" y="3426542"/>
          <a:ext cx="8053848" cy="2971802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1607685">
                  <a:extLst>
                    <a:ext uri="{9D8B030D-6E8A-4147-A177-3AD203B41FA5}">
                      <a16:colId xmlns:a16="http://schemas.microsoft.com/office/drawing/2014/main" val="193503172"/>
                    </a:ext>
                  </a:extLst>
                </a:gridCol>
                <a:gridCol w="6446163">
                  <a:extLst>
                    <a:ext uri="{9D8B030D-6E8A-4147-A177-3AD203B41FA5}">
                      <a16:colId xmlns:a16="http://schemas.microsoft.com/office/drawing/2014/main" val="3459921080"/>
                    </a:ext>
                  </a:extLst>
                </a:gridCol>
              </a:tblGrid>
              <a:tr h="32837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Característica</a:t>
                      </a:r>
                      <a:endParaRPr lang="es-AR" sz="11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Descripción</a:t>
                      </a:r>
                      <a:endParaRPr lang="es-AR" sz="11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96137276"/>
                  </a:ext>
                </a:extLst>
              </a:tr>
              <a:tr h="328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Tipo de Producto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Reanálisis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3792158"/>
                  </a:ext>
                </a:extLst>
              </a:tr>
              <a:tr h="328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Resolución Espacial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9 km (0.1° x 0.1°)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54551688"/>
                  </a:ext>
                </a:extLst>
              </a:tr>
              <a:tr h="328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Resolución Temporal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Horaria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67926284"/>
                  </a:ext>
                </a:extLst>
              </a:tr>
              <a:tr h="328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Cobertura Temporal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1950 - Presente (latencia de 2-5 días)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3650107"/>
                  </a:ext>
                </a:extLst>
              </a:tr>
              <a:tr h="328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Cobertura Geográfica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Global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98397672"/>
                  </a:ext>
                </a:extLst>
              </a:tr>
              <a:tr h="328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Variables Clave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Temperatura, humedad del suelo, precipitación, nieve, escorrentía, evapotranspiración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1707427"/>
                  </a:ext>
                </a:extLst>
              </a:tr>
              <a:tr h="328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Aplicaciones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Hidrología, agricultura, estudios ambientales, monitorización del clima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1782045"/>
                  </a:ext>
                </a:extLst>
              </a:tr>
              <a:tr h="3447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Acceso</a:t>
                      </a:r>
                      <a:endParaRPr lang="es-AR" sz="1100" b="1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Gratuito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61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162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53BBC-3B9B-AC8C-A498-3C635505E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C09E0F-BF79-D25E-EBA5-0662155C7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117532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Visible </a:t>
            </a:r>
            <a:r>
              <a:rPr lang="es-AR" noProof="0" dirty="0" err="1"/>
              <a:t>Infrared</a:t>
            </a:r>
            <a:r>
              <a:rPr lang="es-AR" noProof="0" dirty="0"/>
              <a:t> </a:t>
            </a:r>
            <a:r>
              <a:rPr lang="es-AR" noProof="0" dirty="0" err="1"/>
              <a:t>Imaging</a:t>
            </a:r>
            <a:r>
              <a:rPr lang="es-AR" noProof="0" dirty="0"/>
              <a:t> </a:t>
            </a:r>
            <a:r>
              <a:rPr lang="es-AR" noProof="0" dirty="0" err="1"/>
              <a:t>Radiometer</a:t>
            </a:r>
            <a:r>
              <a:rPr lang="es-AR" noProof="0" dirty="0"/>
              <a:t> Suite (VIIRS)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79AAAD1-30B0-5156-687E-56DCF0654C0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9358" y="640079"/>
            <a:ext cx="11753284" cy="2565237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El producto de focos de calor </a:t>
            </a:r>
            <a:r>
              <a:rPr lang="es-AR" sz="1600" b="1" noProof="0" dirty="0"/>
              <a:t>VIIRS del satélite </a:t>
            </a:r>
            <a:r>
              <a:rPr lang="es-AR" sz="1600" b="1" noProof="0" dirty="0" err="1"/>
              <a:t>Suomi</a:t>
            </a:r>
            <a:r>
              <a:rPr lang="es-AR" sz="1600" b="1" noProof="0" dirty="0"/>
              <a:t> NPP (NASA)</a:t>
            </a:r>
            <a:r>
              <a:rPr lang="es-AR" sz="1600" noProof="0" dirty="0"/>
              <a:t>, distribuido por el FIRMS, proporciona datos de localización de anomalías térmicas en “casi tiempo real” (NRT). Estos datos son esenciales para la detección temprana, el monitoreo y la respuesta rápida a incendios forestales y otros eventos de fuego activo en cualquier parte del mundo.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La detección se basa en la medición de la </a:t>
            </a:r>
            <a:r>
              <a:rPr lang="es-AR" sz="1600" b="1" noProof="0" dirty="0"/>
              <a:t>energía radiante en las bandas del infrarrojo y térmico</a:t>
            </a:r>
            <a:r>
              <a:rPr lang="es-AR" sz="1600" noProof="0" dirty="0"/>
              <a:t>. El instrumento VIIRS incluye una banda de resolución moderada (M-band) de </a:t>
            </a:r>
            <a:r>
              <a:rPr lang="es-AR" sz="1600" b="1" noProof="0" dirty="0"/>
              <a:t>375 metros</a:t>
            </a:r>
            <a:r>
              <a:rPr lang="es-AR" sz="1600" noProof="0" dirty="0"/>
              <a:t>, lo que permite detectar incendios más pequeños y de menor intensidad que sistemas anteriores (ej.: MODIS).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38582088-B51B-FA79-48C4-35F940C47D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364121"/>
              </p:ext>
            </p:extLst>
          </p:nvPr>
        </p:nvGraphicFramePr>
        <p:xfrm>
          <a:off x="1514270" y="3429000"/>
          <a:ext cx="9163460" cy="3012603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744059">
                  <a:extLst>
                    <a:ext uri="{9D8B030D-6E8A-4147-A177-3AD203B41FA5}">
                      <a16:colId xmlns:a16="http://schemas.microsoft.com/office/drawing/2014/main" val="3626961927"/>
                    </a:ext>
                  </a:extLst>
                </a:gridCol>
                <a:gridCol w="7419401">
                  <a:extLst>
                    <a:ext uri="{9D8B030D-6E8A-4147-A177-3AD203B41FA5}">
                      <a16:colId xmlns:a16="http://schemas.microsoft.com/office/drawing/2014/main" val="3018867652"/>
                    </a:ext>
                  </a:extLst>
                </a:gridCol>
              </a:tblGrid>
              <a:tr h="30338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Característica</a:t>
                      </a:r>
                      <a:endParaRPr lang="es-AR" sz="11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100" b="1" u="none" strike="noStrike" noProof="0" dirty="0">
                          <a:effectLst/>
                        </a:rPr>
                        <a:t>Descripción</a:t>
                      </a:r>
                      <a:endParaRPr lang="es-AR" sz="11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0929632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Producto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Focos de calor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90225903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Fuente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VIIRS a bordo de </a:t>
                      </a:r>
                      <a:r>
                        <a:rPr lang="es-AR" sz="1100" u="none" strike="noStrike" noProof="0" dirty="0" err="1">
                          <a:effectLst/>
                        </a:rPr>
                        <a:t>Suomi</a:t>
                      </a:r>
                      <a:r>
                        <a:rPr lang="es-AR" sz="1100" u="none" strike="noStrike" noProof="0" dirty="0">
                          <a:effectLst/>
                        </a:rPr>
                        <a:t> NPP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8055762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Resolución Espacial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375 metros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76654885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Disponibilidad de Datos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Diaria (Global)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5444040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Cobertura Temporal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Desde 2012 hasta el presente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5724154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Cobertura Geográfica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Global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2930538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Qué Detecta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Localización de incendios, anomalías térmicas.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8561565"/>
                  </a:ext>
                </a:extLst>
              </a:tr>
              <a:tr h="3033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Aplicaciones Principales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Monitoreo de incendios forestales, sistemas de alerta temprana, gestión de recursos, investigación del clima.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09165958"/>
                  </a:ext>
                </a:extLst>
              </a:tr>
              <a:tr h="2821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Acceso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100" u="none" strike="noStrike" noProof="0" dirty="0">
                          <a:effectLst/>
                        </a:rPr>
                        <a:t>Gratuito</a:t>
                      </a:r>
                      <a:endParaRPr lang="es-AR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6206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61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EE61B-FFEC-DA08-8469-9EC217354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8E57C0-F926-044E-3936-D83B747A3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es-AR" noProof="0" dirty="0"/>
              <a:t>Tratamiento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14DAB408-680B-8FD4-BDC2-320D26C9E52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04" r="30204"/>
          <a:stretch/>
        </p:blipFill>
        <p:spPr>
          <a:xfrm>
            <a:off x="7534656" y="213"/>
            <a:ext cx="4654296" cy="6857573"/>
          </a:xfrm>
          <a:noFill/>
        </p:spPr>
      </p:pic>
      <p:sp>
        <p:nvSpPr>
          <p:cNvPr id="4" name="Subtítulo 3">
            <a:extLst>
              <a:ext uri="{FF2B5EF4-FFF2-40B4-BE49-F238E27FC236}">
                <a16:creationId xmlns:a16="http://schemas.microsoft.com/office/drawing/2014/main" id="{51D40DF9-57C6-CFDD-1C4B-B3A34A5602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AR" noProof="0" dirty="0"/>
              <a:t>Adaptación de datos crudos al propósito del proyecto.</a:t>
            </a:r>
          </a:p>
        </p:txBody>
      </p:sp>
    </p:spTree>
    <p:extLst>
      <p:ext uri="{BB962C8B-B14F-4D97-AF65-F5344CB8AC3E}">
        <p14:creationId xmlns:p14="http://schemas.microsoft.com/office/powerpoint/2010/main" val="34291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F178C-86D1-C1EF-1CD0-7D47B6DA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B34908-1061-D6EC-00C1-591386252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117532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Meteorológicos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52BDC6-BAF0-61A3-C22E-530A95EF0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9951" y="338436"/>
            <a:ext cx="7562049" cy="618112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01D790D-C3D9-7809-F097-1FB8092645E7}"/>
              </a:ext>
            </a:extLst>
          </p:cNvPr>
          <p:cNvSpPr txBox="1"/>
          <p:nvPr/>
        </p:nvSpPr>
        <p:spPr>
          <a:xfrm>
            <a:off x="219358" y="670560"/>
            <a:ext cx="4126611" cy="58490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1600" noProof="0" dirty="0"/>
              <a:t>El sistema canadiense de índice meteorológico de incendios forestales (FWI) consta de </a:t>
            </a:r>
            <a:r>
              <a:rPr lang="es-AR" sz="1600" b="1" noProof="0" dirty="0"/>
              <a:t>seis componentes que explican los efectos de la humedad del combustible y las condiciones climáticas sobre el comportamiento del fuego:</a:t>
            </a:r>
            <a:endParaRPr lang="es-AR" sz="1600" noProof="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1400" noProof="0" dirty="0"/>
              <a:t>Los primeros tres componentes (FFMC, DMC, DC) son clasificaciones numéricas del contenido de humedad del suelo y otra materia orgánica muerta. Sus valores aumentan a medida que disminuye el contenido de humedad.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1400" noProof="0" dirty="0"/>
              <a:t>Los tres componentes restantes (ISI, BUI, FWI) son índices de comportamiento del fuego, que representan la tasa de propagación, el combustible disponible y la intensidad frontal. Estos valores aumentan a medida que aumenta el peligro de incendio.</a:t>
            </a:r>
          </a:p>
        </p:txBody>
      </p:sp>
    </p:spTree>
    <p:extLst>
      <p:ext uri="{BB962C8B-B14F-4D97-AF65-F5344CB8AC3E}">
        <p14:creationId xmlns:p14="http://schemas.microsoft.com/office/powerpoint/2010/main" val="3267219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481B9-526A-B8CB-9881-6E687B5A0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2F461-346B-EB2A-1BCB-71EE8E048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117532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Focos de calor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044A984-30E7-C257-2AD2-D4E295FAB13C}"/>
              </a:ext>
            </a:extLst>
          </p:cNvPr>
          <p:cNvSpPr/>
          <p:nvPr/>
        </p:nvSpPr>
        <p:spPr>
          <a:xfrm>
            <a:off x="219353" y="912442"/>
            <a:ext cx="11753284" cy="72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FILTRADO</a:t>
            </a:r>
            <a:endParaRPr lang="es-AR" noProof="0" dirty="0"/>
          </a:p>
          <a:p>
            <a:pPr algn="ctr"/>
            <a:r>
              <a:rPr lang="es-AR" noProof="0" dirty="0"/>
              <a:t>Registros de confianza baja.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8AF0836-6C70-2CF8-37C8-53B0093B243F}"/>
              </a:ext>
            </a:extLst>
          </p:cNvPr>
          <p:cNvSpPr/>
          <p:nvPr/>
        </p:nvSpPr>
        <p:spPr>
          <a:xfrm>
            <a:off x="219353" y="2043400"/>
            <a:ext cx="11753283" cy="72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RESOLUCIÓN ESPACIAL</a:t>
            </a:r>
          </a:p>
          <a:p>
            <a:pPr algn="ctr"/>
            <a:r>
              <a:rPr lang="es-AR" noProof="0" dirty="0"/>
              <a:t>De 375m a 10.000m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4EBE8C-3135-29D0-E339-C228CED2B1B0}"/>
              </a:ext>
            </a:extLst>
          </p:cNvPr>
          <p:cNvSpPr/>
          <p:nvPr/>
        </p:nvSpPr>
        <p:spPr>
          <a:xfrm>
            <a:off x="219352" y="3174358"/>
            <a:ext cx="11753282" cy="72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RESOLUCIÓN TEMPORAL</a:t>
            </a:r>
          </a:p>
          <a:p>
            <a:pPr algn="ctr"/>
            <a:r>
              <a:rPr lang="es-AR" noProof="0" dirty="0"/>
              <a:t>A observaciones diarias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01D637F-5FCB-4B60-1C6F-4FE2812C3C08}"/>
              </a:ext>
            </a:extLst>
          </p:cNvPr>
          <p:cNvSpPr/>
          <p:nvPr/>
        </p:nvSpPr>
        <p:spPr>
          <a:xfrm>
            <a:off x="219352" y="5436273"/>
            <a:ext cx="11753281" cy="71999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CONTEO DE FOCOS</a:t>
            </a:r>
          </a:p>
          <a:p>
            <a:pPr algn="ctr"/>
            <a:r>
              <a:rPr lang="es-AR" noProof="0" dirty="0" err="1"/>
              <a:t>Cant</a:t>
            </a:r>
            <a:r>
              <a:rPr lang="es-AR" noProof="0" dirty="0"/>
              <a:t>. de </a:t>
            </a:r>
            <a:r>
              <a:rPr lang="es-AR" noProof="0" dirty="0" err="1"/>
              <a:t>obs</a:t>
            </a:r>
            <a:r>
              <a:rPr lang="es-AR" noProof="0" dirty="0"/>
              <a:t>. por zona por día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091B063-7B52-FB1D-E4D5-04A2D59DC719}"/>
              </a:ext>
            </a:extLst>
          </p:cNvPr>
          <p:cNvSpPr/>
          <p:nvPr/>
        </p:nvSpPr>
        <p:spPr>
          <a:xfrm>
            <a:off x="219352" y="4305316"/>
            <a:ext cx="11753282" cy="71999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ENERGIA EMITIDA</a:t>
            </a:r>
          </a:p>
          <a:p>
            <a:pPr algn="ctr"/>
            <a:r>
              <a:rPr lang="es-AR" noProof="0" dirty="0" err="1"/>
              <a:t>Prom</a:t>
            </a:r>
            <a:r>
              <a:rPr lang="es-AR" noProof="0" dirty="0"/>
              <a:t>. por zona por día</a:t>
            </a:r>
          </a:p>
        </p:txBody>
      </p:sp>
    </p:spTree>
    <p:extLst>
      <p:ext uri="{BB962C8B-B14F-4D97-AF65-F5344CB8AC3E}">
        <p14:creationId xmlns:p14="http://schemas.microsoft.com/office/powerpoint/2010/main" val="3087502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80039-2B43-3806-A172-75F019B56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288EEA-348D-DB23-290E-23D0448E5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698" y="145914"/>
            <a:ext cx="10954512" cy="493971"/>
          </a:xfrm>
        </p:spPr>
        <p:txBody>
          <a:bodyPr anchor="ctr">
            <a:normAutofit/>
          </a:bodyPr>
          <a:lstStyle/>
          <a:p>
            <a:r>
              <a:rPr lang="es-AR" sz="2900" noProof="0" dirty="0"/>
              <a:t>Unificación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AD9D906-E540-D768-DF8E-129059DB9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697" y="679378"/>
            <a:ext cx="11595406" cy="97476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La unificación provoco un problema de </a:t>
            </a:r>
            <a:r>
              <a:rPr lang="es-AR" sz="1600" b="1" noProof="0" dirty="0"/>
              <a:t>discontinuidad temporal en las variables de focos de calor </a:t>
            </a:r>
            <a:r>
              <a:rPr lang="es-AR" sz="1600" noProof="0" dirty="0"/>
              <a:t>(</a:t>
            </a:r>
            <a:r>
              <a:rPr lang="es-AR" sz="1600" i="1" noProof="0" dirty="0" err="1"/>
              <a:t>num_focos</a:t>
            </a:r>
            <a:r>
              <a:rPr lang="es-AR" sz="1600" i="1" noProof="0" dirty="0"/>
              <a:t> </a:t>
            </a:r>
            <a:r>
              <a:rPr lang="es-AR" sz="1600" noProof="0" dirty="0"/>
              <a:t>y </a:t>
            </a:r>
            <a:r>
              <a:rPr lang="es-AR" sz="1600" i="1" noProof="0" dirty="0" err="1"/>
              <a:t>frp_mean</a:t>
            </a:r>
            <a:r>
              <a:rPr lang="es-AR" sz="1600" noProof="0" dirty="0"/>
              <a:t>). Para corregirlo se implementó un </a:t>
            </a:r>
            <a:r>
              <a:rPr lang="es-AR" sz="1600" b="1" noProof="0" dirty="0"/>
              <a:t>proceso de interpolación lineal</a:t>
            </a:r>
            <a:r>
              <a:rPr lang="es-AR" sz="1600" noProof="0" dirty="0"/>
              <a:t> de forma independiente a cada celda de la grilla (</a:t>
            </a:r>
            <a:r>
              <a:rPr lang="es-AR" sz="1600" i="1" noProof="0" dirty="0" err="1"/>
              <a:t>latitude</a:t>
            </a:r>
            <a:r>
              <a:rPr lang="es-AR" sz="1600" noProof="0" dirty="0"/>
              <a:t>, </a:t>
            </a:r>
            <a:r>
              <a:rPr lang="es-AR" sz="1600" i="1" noProof="0" dirty="0" err="1"/>
              <a:t>longitude</a:t>
            </a:r>
            <a:r>
              <a:rPr lang="es-AR" sz="1600" noProof="0" dirty="0"/>
              <a:t>).</a:t>
            </a:r>
          </a:p>
        </p:txBody>
      </p:sp>
      <p:pic>
        <p:nvPicPr>
          <p:cNvPr id="5" name="Picture 4" descr="A graph with red dots and numbers&#10;&#10;AI-generated content may be incorrect.">
            <a:extLst>
              <a:ext uri="{FF2B5EF4-FFF2-40B4-BE49-F238E27FC236}">
                <a16:creationId xmlns:a16="http://schemas.microsoft.com/office/drawing/2014/main" id="{B020739C-8342-89A6-5AE8-A0BB26C3EC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8834" y="1654139"/>
            <a:ext cx="9354331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580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74C35-D96F-9ECD-A4DA-A085D68F9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C6688-F72A-C50F-3AA8-9B42CF77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698" y="145914"/>
            <a:ext cx="10954512" cy="493971"/>
          </a:xfrm>
        </p:spPr>
        <p:txBody>
          <a:bodyPr anchor="ctr">
            <a:normAutofit/>
          </a:bodyPr>
          <a:lstStyle/>
          <a:p>
            <a:r>
              <a:rPr lang="es-AR" sz="2900" noProof="0" dirty="0"/>
              <a:t>Unificación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9660F7F-EDB2-BE5F-70DA-C68645A5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697" y="679378"/>
            <a:ext cx="11595406" cy="97476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La unificación provoco un problema de </a:t>
            </a:r>
            <a:r>
              <a:rPr lang="es-AR" sz="1600" b="1" noProof="0" dirty="0"/>
              <a:t>discontinuidad temporal en las variables de focos de calor </a:t>
            </a:r>
            <a:r>
              <a:rPr lang="es-AR" sz="1600" noProof="0" dirty="0"/>
              <a:t>(</a:t>
            </a:r>
            <a:r>
              <a:rPr lang="es-AR" sz="1600" i="1" noProof="0" dirty="0" err="1"/>
              <a:t>num_focos</a:t>
            </a:r>
            <a:r>
              <a:rPr lang="es-AR" sz="1600" i="1" noProof="0" dirty="0"/>
              <a:t> </a:t>
            </a:r>
            <a:r>
              <a:rPr lang="es-AR" sz="1600" noProof="0" dirty="0"/>
              <a:t>y </a:t>
            </a:r>
            <a:r>
              <a:rPr lang="es-AR" sz="1600" i="1" noProof="0" dirty="0" err="1"/>
              <a:t>frp_mean</a:t>
            </a:r>
            <a:r>
              <a:rPr lang="es-AR" sz="1600" noProof="0" dirty="0"/>
              <a:t>). Para corregirlo se implementó un </a:t>
            </a:r>
            <a:r>
              <a:rPr lang="es-AR" sz="1600" b="1" noProof="0" dirty="0"/>
              <a:t>proceso de interpolación lineal</a:t>
            </a:r>
            <a:r>
              <a:rPr lang="es-AR" sz="1600" noProof="0" dirty="0"/>
              <a:t> de forma independiente a cada celda de la grilla (</a:t>
            </a:r>
            <a:r>
              <a:rPr lang="es-AR" sz="1600" i="1" noProof="0" dirty="0" err="1"/>
              <a:t>latitude</a:t>
            </a:r>
            <a:r>
              <a:rPr lang="es-AR" sz="1600" noProof="0" dirty="0"/>
              <a:t>, </a:t>
            </a:r>
            <a:r>
              <a:rPr lang="es-AR" sz="1600" i="1" noProof="0" dirty="0" err="1"/>
              <a:t>longitude</a:t>
            </a:r>
            <a:r>
              <a:rPr lang="es-AR" sz="1600" noProof="0" dirty="0"/>
              <a:t>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10D1B7-C8E3-A525-8F2A-A2D22F0215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8834" y="1654139"/>
            <a:ext cx="9354331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923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2235F-FFC9-69D4-3B15-015A05B89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EDB97-AC0F-FF81-CD29-7BF6759E9C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54" y="328260"/>
            <a:ext cx="5852160" cy="904639"/>
          </a:xfrm>
        </p:spPr>
        <p:txBody>
          <a:bodyPr anchor="t">
            <a:normAutofit/>
          </a:bodyPr>
          <a:lstStyle/>
          <a:p>
            <a:r>
              <a:rPr lang="es-AR" noProof="0" dirty="0"/>
              <a:t>Resultado</a:t>
            </a:r>
          </a:p>
        </p:txBody>
      </p:sp>
      <p:pic>
        <p:nvPicPr>
          <p:cNvPr id="12" name="Picture 11" descr="A map of a land with red dots and numbers&#10;&#10;AI-generated content may be incorrect.">
            <a:extLst>
              <a:ext uri="{FF2B5EF4-FFF2-40B4-BE49-F238E27FC236}">
                <a16:creationId xmlns:a16="http://schemas.microsoft.com/office/drawing/2014/main" id="{EB7CC8BB-0755-7ECD-5537-2B3E6EE46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0246" y="0"/>
            <a:ext cx="6674069" cy="6858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F641F08-16C2-FB2D-D2BD-E5E0276B56C4}"/>
              </a:ext>
            </a:extLst>
          </p:cNvPr>
          <p:cNvSpPr txBox="1"/>
          <p:nvPr/>
        </p:nvSpPr>
        <p:spPr>
          <a:xfrm>
            <a:off x="256854" y="1157754"/>
            <a:ext cx="4931595" cy="4202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2000" noProof="0" dirty="0">
                <a:solidFill>
                  <a:schemeClr val="bg2"/>
                </a:solidFill>
              </a:rPr>
              <a:t>En el conjunto consolidado cada fila representa una celda única de la grilla en un día específico con: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b="1" noProof="0" dirty="0">
                <a:solidFill>
                  <a:schemeClr val="bg2"/>
                </a:solidFill>
              </a:rPr>
              <a:t>Predictores Meteorológicos: </a:t>
            </a:r>
            <a:r>
              <a:rPr lang="es-AR" sz="2000" noProof="0" dirty="0">
                <a:solidFill>
                  <a:schemeClr val="bg2"/>
                </a:solidFill>
              </a:rPr>
              <a:t>Información meteorológica más el conjunto de las 6 variables del FWI.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b="1" noProof="0" dirty="0">
                <a:solidFill>
                  <a:schemeClr val="bg2"/>
                </a:solidFill>
              </a:rPr>
              <a:t>Variables Objetivo: </a:t>
            </a:r>
            <a:r>
              <a:rPr lang="es-AR" sz="2000" noProof="0" dirty="0">
                <a:solidFill>
                  <a:schemeClr val="bg2"/>
                </a:solidFill>
              </a:rPr>
              <a:t>El conteo de focos, el promedio de FRP y la etiqueta binaria, ya filtradas e interpoladas.</a:t>
            </a:r>
          </a:p>
        </p:txBody>
      </p:sp>
    </p:spTree>
    <p:extLst>
      <p:ext uri="{BB962C8B-B14F-4D97-AF65-F5344CB8AC3E}">
        <p14:creationId xmlns:p14="http://schemas.microsoft.com/office/powerpoint/2010/main" val="1061091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54E2D-D476-D6D4-921B-983525B4A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6ABCE6-6CE4-A05E-0DEF-E93A1B6D22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anchor="t">
            <a:normAutofit/>
          </a:bodyPr>
          <a:lstStyle/>
          <a:p>
            <a:r>
              <a:rPr lang="es-AR" noProof="0" dirty="0"/>
              <a:t>Análisis exploratorio de conjunto consolidado</a:t>
            </a: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0C2BF488-1606-C1BC-D200-865AF087EF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>
            <a:normAutofit/>
          </a:bodyPr>
          <a:lstStyle/>
          <a:p>
            <a:r>
              <a:rPr lang="es-AR" noProof="0" dirty="0"/>
              <a:t>Identificación de correlaciones y patrones en la información.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AF60A015-B7BB-B53B-08BF-06E2A8B2FD1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94" r="10893"/>
          <a:stretch>
            <a:fillRect/>
          </a:stretch>
        </p:blipFill>
        <p:spPr>
          <a:xfrm>
            <a:off x="20" y="10"/>
            <a:ext cx="7548431" cy="6857990"/>
          </a:xfrm>
          <a:noFill/>
        </p:spPr>
      </p:pic>
    </p:spTree>
    <p:extLst>
      <p:ext uri="{BB962C8B-B14F-4D97-AF65-F5344CB8AC3E}">
        <p14:creationId xmlns:p14="http://schemas.microsoft.com/office/powerpoint/2010/main" val="1283197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863E4-FC90-FA57-9B34-84111CD7A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8F8003E4-EC70-A6CB-A249-631A18AB6F16}"/>
              </a:ext>
            </a:extLst>
          </p:cNvPr>
          <p:cNvSpPr txBox="1">
            <a:spLocks/>
          </p:cNvSpPr>
          <p:nvPr/>
        </p:nvSpPr>
        <p:spPr>
          <a:xfrm>
            <a:off x="119488" y="113016"/>
            <a:ext cx="10954512" cy="607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b="0" kern="1200" noProof="0" dirty="0" err="1">
                <a:latin typeface="+mj-lt"/>
                <a:ea typeface="+mj-ea"/>
                <a:cs typeface="+mj-cs"/>
              </a:rPr>
              <a:t>Fire</a:t>
            </a:r>
            <a:r>
              <a:rPr lang="es-AR" b="0" kern="1200" noProof="0" dirty="0">
                <a:latin typeface="+mj-lt"/>
                <a:ea typeface="+mj-ea"/>
                <a:cs typeface="+mj-cs"/>
              </a:rPr>
              <a:t> </a:t>
            </a:r>
            <a:r>
              <a:rPr lang="es-AR" b="0" kern="1200" noProof="0" dirty="0" err="1">
                <a:latin typeface="+mj-lt"/>
                <a:ea typeface="+mj-ea"/>
                <a:cs typeface="+mj-cs"/>
              </a:rPr>
              <a:t>Weather</a:t>
            </a:r>
            <a:r>
              <a:rPr lang="es-AR" b="0" kern="1200" noProof="0" dirty="0">
                <a:latin typeface="+mj-lt"/>
                <a:ea typeface="+mj-ea"/>
                <a:cs typeface="+mj-cs"/>
              </a:rPr>
              <a:t> </a:t>
            </a:r>
            <a:r>
              <a:rPr lang="es-AR" b="0" kern="1200" noProof="0" dirty="0" err="1">
                <a:latin typeface="+mj-lt"/>
                <a:ea typeface="+mj-ea"/>
                <a:cs typeface="+mj-cs"/>
              </a:rPr>
              <a:t>Index</a:t>
            </a:r>
            <a:r>
              <a:rPr lang="es-AR" b="0" kern="1200" noProof="0" dirty="0">
                <a:latin typeface="+mj-lt"/>
                <a:ea typeface="+mj-ea"/>
                <a:cs typeface="+mj-cs"/>
              </a:rPr>
              <a:t> (FWI)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687A39C-E43F-03CC-634F-A2014AA7B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77" y="904125"/>
            <a:ext cx="12208477" cy="535166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58857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DD0C-3A1A-B485-8DDD-E6B3958D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D3B7EF1-91D1-B67F-19E0-DB880D001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9" b="568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00361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7E6CA-8421-46A6-64A6-F8359A41E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3161228-2980-525B-2F37-46151089D7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737" y="0"/>
            <a:ext cx="10962526" cy="685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25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B8299-431A-A93C-6112-BC8558016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0CC61EE9-62BC-570B-BE78-3A665ECD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9514"/>
            <a:ext cx="12192000" cy="4818972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7859CA3C-8E69-A811-E5B2-B3F826211306}"/>
              </a:ext>
            </a:extLst>
          </p:cNvPr>
          <p:cNvSpPr txBox="1">
            <a:spLocks/>
          </p:cNvSpPr>
          <p:nvPr/>
        </p:nvSpPr>
        <p:spPr>
          <a:xfrm>
            <a:off x="119488" y="113016"/>
            <a:ext cx="10954512" cy="607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b="0" kern="1200" noProof="0" dirty="0">
                <a:latin typeface="+mj-lt"/>
                <a:ea typeface="+mj-ea"/>
                <a:cs typeface="+mj-cs"/>
              </a:rPr>
              <a:t>Focos de calor</a:t>
            </a:r>
          </a:p>
        </p:txBody>
      </p:sp>
    </p:spTree>
    <p:extLst>
      <p:ext uri="{BB962C8B-B14F-4D97-AF65-F5344CB8AC3E}">
        <p14:creationId xmlns:p14="http://schemas.microsoft.com/office/powerpoint/2010/main" val="1236313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08AD9-D284-3A4E-CA73-1908DD78A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748D2F-81E2-D5D4-9FDF-C460B7DC4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285" y="1019514"/>
            <a:ext cx="12047430" cy="4818972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0919D15E-EA16-7E7E-F14F-6434E55ECC92}"/>
              </a:ext>
            </a:extLst>
          </p:cNvPr>
          <p:cNvSpPr txBox="1">
            <a:spLocks/>
          </p:cNvSpPr>
          <p:nvPr/>
        </p:nvSpPr>
        <p:spPr>
          <a:xfrm>
            <a:off x="119488" y="113016"/>
            <a:ext cx="10954512" cy="607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b="0" kern="1200" noProof="0" dirty="0">
                <a:latin typeface="+mj-lt"/>
                <a:ea typeface="+mj-ea"/>
                <a:cs typeface="+mj-cs"/>
              </a:rPr>
              <a:t>Focos de calor</a:t>
            </a:r>
          </a:p>
        </p:txBody>
      </p:sp>
    </p:spTree>
    <p:extLst>
      <p:ext uri="{BB962C8B-B14F-4D97-AF65-F5344CB8AC3E}">
        <p14:creationId xmlns:p14="http://schemas.microsoft.com/office/powerpoint/2010/main" val="1365427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AC323-5C20-4DC3-A938-F13BFA0A4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0D6CCE-E5EC-A927-02F5-E1F1945AC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20545"/>
            <a:ext cx="12047430" cy="5228192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0BD9556B-E275-8825-012B-60160205FC03}"/>
              </a:ext>
            </a:extLst>
          </p:cNvPr>
          <p:cNvSpPr txBox="1">
            <a:spLocks/>
          </p:cNvSpPr>
          <p:nvPr/>
        </p:nvSpPr>
        <p:spPr>
          <a:xfrm>
            <a:off x="119488" y="113016"/>
            <a:ext cx="10954512" cy="607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b="0" kern="1200" noProof="0" dirty="0">
                <a:latin typeface="+mj-lt"/>
                <a:ea typeface="+mj-ea"/>
                <a:cs typeface="+mj-cs"/>
              </a:rPr>
              <a:t>Focos de calor</a:t>
            </a:r>
          </a:p>
        </p:txBody>
      </p:sp>
    </p:spTree>
    <p:extLst>
      <p:ext uri="{BB962C8B-B14F-4D97-AF65-F5344CB8AC3E}">
        <p14:creationId xmlns:p14="http://schemas.microsoft.com/office/powerpoint/2010/main" val="2111090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2F57-F4A3-2F8A-F4AC-256DCF74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64CF8A41-13A7-1541-50B0-4331793AC854}"/>
              </a:ext>
            </a:extLst>
          </p:cNvPr>
          <p:cNvSpPr txBox="1">
            <a:spLocks/>
          </p:cNvSpPr>
          <p:nvPr/>
        </p:nvSpPr>
        <p:spPr>
          <a:xfrm>
            <a:off x="1139952" y="5725479"/>
            <a:ext cx="9912096" cy="594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es-AR" sz="2800" b="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Meteorología</a:t>
            </a:r>
          </a:p>
        </p:txBody>
      </p:sp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C24C62D-017F-E201-8ACD-C16CDC101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02" y="115378"/>
            <a:ext cx="11971330" cy="52374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303969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6FF6E-3F10-CEF4-8709-9396511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E73E933C-502A-95D5-E879-AF957FC98C12}"/>
              </a:ext>
            </a:extLst>
          </p:cNvPr>
          <p:cNvSpPr txBox="1">
            <a:spLocks/>
          </p:cNvSpPr>
          <p:nvPr/>
        </p:nvSpPr>
        <p:spPr>
          <a:xfrm>
            <a:off x="196031" y="2116836"/>
            <a:ext cx="4673920" cy="262432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sz="4800" b="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Resumen de condiciones extremas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26AC511-7DBB-EE2F-9F81-890504BA5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985544"/>
              </p:ext>
            </p:extLst>
          </p:nvPr>
        </p:nvGraphicFramePr>
        <p:xfrm>
          <a:off x="5506947" y="28114"/>
          <a:ext cx="6226139" cy="680177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866098">
                  <a:extLst>
                    <a:ext uri="{9D8B030D-6E8A-4147-A177-3AD203B41FA5}">
                      <a16:colId xmlns:a16="http://schemas.microsoft.com/office/drawing/2014/main" val="2423190385"/>
                    </a:ext>
                  </a:extLst>
                </a:gridCol>
                <a:gridCol w="1496556">
                  <a:extLst>
                    <a:ext uri="{9D8B030D-6E8A-4147-A177-3AD203B41FA5}">
                      <a16:colId xmlns:a16="http://schemas.microsoft.com/office/drawing/2014/main" val="711153379"/>
                    </a:ext>
                  </a:extLst>
                </a:gridCol>
                <a:gridCol w="1560671">
                  <a:extLst>
                    <a:ext uri="{9D8B030D-6E8A-4147-A177-3AD203B41FA5}">
                      <a16:colId xmlns:a16="http://schemas.microsoft.com/office/drawing/2014/main" val="3214088404"/>
                    </a:ext>
                  </a:extLst>
                </a:gridCol>
                <a:gridCol w="874646">
                  <a:extLst>
                    <a:ext uri="{9D8B030D-6E8A-4147-A177-3AD203B41FA5}">
                      <a16:colId xmlns:a16="http://schemas.microsoft.com/office/drawing/2014/main" val="2599992967"/>
                    </a:ext>
                  </a:extLst>
                </a:gridCol>
                <a:gridCol w="1428168">
                  <a:extLst>
                    <a:ext uri="{9D8B030D-6E8A-4147-A177-3AD203B41FA5}">
                      <a16:colId xmlns:a16="http://schemas.microsoft.com/office/drawing/2014/main" val="4268028680"/>
                    </a:ext>
                  </a:extLst>
                </a:gridCol>
              </a:tblGrid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CÁLIDOS (Temperatura máxima)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805279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Temp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Máx. (°C)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Humedad Mín. (%)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Máx.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516749894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29-ene-25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32.00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48.84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70228497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26-dic-24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31.75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14.61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34.31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2646902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31.75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11.56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54.08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94535985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25-dic-24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31.50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11.93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30.16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9633240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9-feb-25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31.18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13.38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50.78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130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23765330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244203827"/>
                  </a:ext>
                </a:extLst>
              </a:tr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SECOS (Humedad mínima)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73557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Humedad Mín. (%)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Temp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Máx. (°C)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Máx.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121836397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11.56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31.75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54.08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58728459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25-dic-24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11.93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31.50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30.16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54349102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29-ene-25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32.00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48.84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7258266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9-feb-25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13.38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31.18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50.78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15902141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28-ene-25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14.45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27.01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42.48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37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26320718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955402552"/>
                  </a:ext>
                </a:extLst>
              </a:tr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VENTOSOS (Velocidad máxima)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587114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Viento Máx. (m/s)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Temp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Máx. (°C)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Máx.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14462316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10-feb-25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4.37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23.14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54.51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32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6730336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3.98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12.79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05437558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4-mar-25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3.77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16.53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6.22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539480316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19-dic-24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3.64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13.57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9.21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08222538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3.63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17.37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40.74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76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656459147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160558424"/>
                  </a:ext>
                </a:extLst>
              </a:tr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LLUVIOSOS (Precipitación acumulada)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85049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Precipitación (mm)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Humedad </a:t>
                      </a: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Prom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(%)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</a:t>
                      </a: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Prom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97305380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7-mar-25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4,365.43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66.87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0.17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613146670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23-feb-25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4,349.41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46.31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6.57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03178256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2,571.95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54.15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0.09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047829744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28-feb-25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2,194.56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55.53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4.88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14860567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3-mar-25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2,005.90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48.39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3.43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397460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57295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7145-800A-03E0-A9DF-BD5F4D25A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621BF22F-4B34-8C96-9F81-94A6A6AA1D5A}"/>
              </a:ext>
            </a:extLst>
          </p:cNvPr>
          <p:cNvSpPr txBox="1">
            <a:spLocks/>
          </p:cNvSpPr>
          <p:nvPr/>
        </p:nvSpPr>
        <p:spPr>
          <a:xfrm>
            <a:off x="205483" y="2103120"/>
            <a:ext cx="4674742" cy="262432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sz="4800" b="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Observaciones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7CDBB2-464A-5C54-FC90-2DEF4A8A7A30}"/>
              </a:ext>
            </a:extLst>
          </p:cNvPr>
          <p:cNvSpPr txBox="1"/>
          <p:nvPr/>
        </p:nvSpPr>
        <p:spPr>
          <a:xfrm>
            <a:off x="5185880" y="428178"/>
            <a:ext cx="670132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AR" sz="2400" b="1" noProof="0" dirty="0"/>
              <a:t>Enero 2025 fue el mes con condiciones más extremas</a:t>
            </a:r>
            <a:r>
              <a:rPr lang="es-AR" sz="2400" noProof="0" dirty="0"/>
              <a:t>. Altas temperaturas y baja humedad.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AR" sz="2400" noProof="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AR" sz="2400" b="1" noProof="0" dirty="0"/>
              <a:t>30 de enero de 2025 combinó condiciones críticas: </a:t>
            </a:r>
            <a:r>
              <a:rPr lang="es-AR" sz="2400" noProof="0" dirty="0"/>
              <a:t>temperatura alta (31.75°C), humedad muy baja (11.56%) y FWI extremo (54.08).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AR" sz="2400" noProof="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AR" sz="2400" b="1" noProof="0" dirty="0"/>
              <a:t>Febrero 2025</a:t>
            </a:r>
            <a:r>
              <a:rPr lang="es-AR" sz="2400" noProof="0" dirty="0"/>
              <a:t> presentó los días con </a:t>
            </a:r>
            <a:r>
              <a:rPr lang="es-AR" sz="2400" b="1" noProof="0" dirty="0"/>
              <a:t>mayor acumulado de precipitación. </a:t>
            </a:r>
            <a:r>
              <a:rPr lang="es-AR" sz="2400" noProof="0" dirty="0"/>
              <a:t>Destacando la lluvia del 22 de Febrero que se encargo de apagar los focos y dar fin a la situación.</a:t>
            </a:r>
          </a:p>
          <a:p>
            <a:pPr algn="just"/>
            <a:endParaRPr lang="es-AR" sz="2400" noProof="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AR" sz="2400" b="1" noProof="0" dirty="0"/>
              <a:t>Los días más cálidos y secos coinciden con mayor actividad de incendios, </a:t>
            </a:r>
            <a:r>
              <a:rPr lang="es-AR" sz="2400" noProof="0" dirty="0"/>
              <a:t>destacando los periodos de fines de diciembre, fines de enero y 9 de febrero.</a:t>
            </a:r>
          </a:p>
        </p:txBody>
      </p:sp>
    </p:spTree>
    <p:extLst>
      <p:ext uri="{BB962C8B-B14F-4D97-AF65-F5344CB8AC3E}">
        <p14:creationId xmlns:p14="http://schemas.microsoft.com/office/powerpoint/2010/main" val="25364708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DBEFF-19CB-7BBC-8AE6-E3E43BE85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anchor="t">
            <a:normAutofit/>
          </a:bodyPr>
          <a:lstStyle/>
          <a:p>
            <a:r>
              <a:rPr lang="es-AR" noProof="0" dirty="0"/>
              <a:t>Aprendizaje automático</a:t>
            </a:r>
          </a:p>
        </p:txBody>
      </p:sp>
      <p:pic>
        <p:nvPicPr>
          <p:cNvPr id="11" name="Picture 10" descr="A forest fire with trees and smoke&#10;&#10;AI-generated content may be incorrect.">
            <a:extLst>
              <a:ext uri="{FF2B5EF4-FFF2-40B4-BE49-F238E27FC236}">
                <a16:creationId xmlns:a16="http://schemas.microsoft.com/office/drawing/2014/main" id="{55988DD8-72F5-619D-0D71-230C6D8C11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16" r="1712" b="-1"/>
          <a:stretch>
            <a:fillRect/>
          </a:stretch>
        </p:blipFill>
        <p:spPr>
          <a:xfrm>
            <a:off x="20" y="10"/>
            <a:ext cx="7548431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7935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landscape with smoke coming out of the mountains&#10;&#10;AI-generated content may be incorrect.">
            <a:extLst>
              <a:ext uri="{FF2B5EF4-FFF2-40B4-BE49-F238E27FC236}">
                <a16:creationId xmlns:a16="http://schemas.microsoft.com/office/drawing/2014/main" id="{1BA7665B-8760-C522-5809-273BC0056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noFill/>
        </p:spPr>
      </p:pic>
    </p:spTree>
    <p:extLst>
      <p:ext uri="{BB962C8B-B14F-4D97-AF65-F5344CB8AC3E}">
        <p14:creationId xmlns:p14="http://schemas.microsoft.com/office/powerpoint/2010/main" val="5048659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99DE-78A0-E7BE-2B62-838D7ECD9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164BC112-90C4-FE2E-8C56-C040A9C5A701}"/>
              </a:ext>
            </a:extLst>
          </p:cNvPr>
          <p:cNvSpPr txBox="1">
            <a:spLocks/>
          </p:cNvSpPr>
          <p:nvPr/>
        </p:nvSpPr>
        <p:spPr>
          <a:xfrm>
            <a:off x="658368" y="2103120"/>
            <a:ext cx="3666744" cy="262432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s-AR" sz="4800" b="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Próximos pasos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FE1DC0A-B11C-1818-C7D9-7E5486E21104}"/>
              </a:ext>
            </a:extLst>
          </p:cNvPr>
          <p:cNvSpPr txBox="1"/>
          <p:nvPr/>
        </p:nvSpPr>
        <p:spPr>
          <a:xfrm>
            <a:off x="5684363" y="1923235"/>
            <a:ext cx="5349221" cy="30115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Desarrollo de base de datos para almacenamiento.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Desarrollo de interfaces: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topográficos.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específicos de vegetación.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de impacto de rayos.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de proximidad a sendas de acceso publico.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Actualización automática de registros en BBDD vía </a:t>
            </a:r>
            <a:r>
              <a:rPr lang="es-AR" sz="1600" noProof="0" dirty="0" err="1"/>
              <a:t>APIs</a:t>
            </a:r>
            <a:r>
              <a:rPr lang="es-AR" sz="1600" noProof="0" dirty="0"/>
              <a:t>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Consolidación de datos vía </a:t>
            </a:r>
            <a:r>
              <a:rPr lang="es-AR" sz="1600" noProof="0" dirty="0" err="1"/>
              <a:t>queries</a:t>
            </a:r>
            <a:r>
              <a:rPr lang="es-AR" sz="1600" noProof="0" dirty="0"/>
              <a:t> a BBDD.</a:t>
            </a:r>
          </a:p>
        </p:txBody>
      </p:sp>
    </p:spTree>
    <p:extLst>
      <p:ext uri="{BB962C8B-B14F-4D97-AF65-F5344CB8AC3E}">
        <p14:creationId xmlns:p14="http://schemas.microsoft.com/office/powerpoint/2010/main" val="16917335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09E12D-2BC4-D403-EB86-DC6F62EA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anchor="b">
            <a:normAutofit/>
          </a:bodyPr>
          <a:lstStyle/>
          <a:p>
            <a:r>
              <a:rPr lang="es-AR" noProof="0" dirty="0"/>
              <a:t>Muchas gracias.</a:t>
            </a:r>
          </a:p>
        </p:txBody>
      </p:sp>
    </p:spTree>
    <p:extLst>
      <p:ext uri="{BB962C8B-B14F-4D97-AF65-F5344CB8AC3E}">
        <p14:creationId xmlns:p14="http://schemas.microsoft.com/office/powerpoint/2010/main" val="2211116850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2962</TotalTime>
  <Words>1511</Words>
  <Application>Microsoft Office PowerPoint</Application>
  <PresentationFormat>Widescreen</PresentationFormat>
  <Paragraphs>273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Light</vt:lpstr>
      <vt:lpstr>Aptos Narrow</vt:lpstr>
      <vt:lpstr>Arial</vt:lpstr>
      <vt:lpstr>Chroma</vt:lpstr>
      <vt:lpstr>Incendios forestales de la Patagonia Andina</vt:lpstr>
      <vt:lpstr>Índice</vt:lpstr>
      <vt:lpstr>Motivación</vt:lpstr>
      <vt:lpstr>Motivación</vt:lpstr>
      <vt:lpstr>PowerPoint Presentation</vt:lpstr>
      <vt:lpstr>PowerPoint Presentation</vt:lpstr>
      <vt:lpstr>Objetivos</vt:lpstr>
      <vt:lpstr>Datos</vt:lpstr>
      <vt:lpstr>Adquisición</vt:lpstr>
      <vt:lpstr>ERA5-Land</vt:lpstr>
      <vt:lpstr>Visible Infrared Imaging Radiometer Suite (VIIRS)</vt:lpstr>
      <vt:lpstr>Tratamiento</vt:lpstr>
      <vt:lpstr>Meteorológicos</vt:lpstr>
      <vt:lpstr>Focos de calor</vt:lpstr>
      <vt:lpstr>Unificación</vt:lpstr>
      <vt:lpstr>Unificación</vt:lpstr>
      <vt:lpstr>Resultado</vt:lpstr>
      <vt:lpstr>Análisis exploratorio de conjunto consolidado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Aprendizaje automático</vt:lpstr>
      <vt:lpstr>PowerPoint Presentation</vt:lpstr>
      <vt:lpstr>PowerPoint Presentation</vt:lpstr>
      <vt:lpstr>Muchas gracias.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Ezequiel Villagra Turco</dc:creator>
  <cp:lastModifiedBy>Ezequiel Villagra Turco</cp:lastModifiedBy>
  <cp:revision>27</cp:revision>
  <dcterms:created xsi:type="dcterms:W3CDTF">2025-10-28T15:55:22Z</dcterms:created>
  <dcterms:modified xsi:type="dcterms:W3CDTF">2025-11-22T18:46:01Z</dcterms:modified>
</cp:coreProperties>
</file>